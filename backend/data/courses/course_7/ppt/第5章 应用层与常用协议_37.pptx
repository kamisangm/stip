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首先我们来对比两种主流的应用层架构模型。C/S模型像是一个服务中心，所有客户端向中心服务器发起请求；而P2P模型中每个节点都可以提供和获取资源。请大家思考：当你使用百度网盘下载文件时，更接近哪种模型？当你用迅雷下载热门电影时呢？这些模型的选择直接影响应用的性能和成本。</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S是互联网的“电话簿”。当你输入网址时，计算机首先会询问DNS服务器这个域名对应的IP地址在哪里。DNS采用像树一样的层级结构，从根开始向下查找，同时利用本地缓存加快速度。一个常见的现象是，更换DNS服务器可以改善上网体验，这背后的原理就是更快的解析和更合理的缓存策略。</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TP协议是我们每天浏览网页时默默工作的规则。它就像客户和服务器之间的对话语言，规定了“问”的格式和“答”的规范。注意HTTP是无状态的，这意味着服务器默认不认识你——但Cookie和Session可以帮忙“记住”你是谁。另外，随着网络发展，HTTP从1.0逐步演进到3.0，解决了效率和安全问题。</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TP用于在客户端和服务器之间可靠地传输文件，它使用两个独立的连接：一个用于发送命令，另一个用于传输数据，因此效率较高。电子邮件系统则复杂一些，SMTP负责把邮件从你的电脑送到邮箱服务器，而POP3或IMAP负责从服务器收取邮件。IMAP比POP3更灵活，可以只下载邮件头、在服务器上管理文件夹等。MIME扩展了邮件的表达能力，使我们能发送带附件的邮件。</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我们进入实践环节。Nginx是当今最流行的Web服务器软件之一，很多大型网站都在使用。它的配置文件非常直观，主要由events和http块组成。通过简单的配置，我们可以快速搭建一个Web站点，甚至实现反向代理和负载均衡。在后续的实验中，大家将亲手完成Nginx的安装和部署，体验从零搭建一个网站的过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天我们系统学习了应用层的核心模型和常用协议。从DNS解析开始，到HTTP请求响应，再到可能用到的FTP或电子邮件协议，这些协议共同构成了互联网应用的基础。最后留下一个思考题：当你访问B站首页时，请尝试梳理出整个过程中涉及的应用层协议以及它们之间的协作顺序。这将帮助大家把零散的知识点串成一条完整的链路。</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0F3B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
            <a:ext cx="12191695" cy="228600"/>
          </a:xfrm>
          <a:prstGeom prst="rect">
            <a:avLst/>
          </a:prstGeom>
          <a:solidFill>
            <a:srgbClr val="0F3B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7200"/>
            <a:ext cx="12191695" cy="228600"/>
          </a:xfrm>
          <a:prstGeom prst="rect">
            <a:avLst/>
          </a:prstGeom>
          <a:solidFill>
            <a:srgbClr val="0F3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5800"/>
            <a:ext cx="12191695" cy="228600"/>
          </a:xfrm>
          <a:prstGeom prst="rect">
            <a:avLst/>
          </a:prstGeom>
          <a:solidFill>
            <a:srgbClr val="1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228600"/>
          </a:xfrm>
          <a:prstGeom prst="rect">
            <a:avLst/>
          </a:prstGeom>
          <a:solidFill>
            <a:srgbClr val="103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143000"/>
            <a:ext cx="12191695" cy="228600"/>
          </a:xfrm>
          <a:prstGeom prst="rect">
            <a:avLst/>
          </a:prstGeom>
          <a:solidFill>
            <a:srgbClr val="103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1371600"/>
            <a:ext cx="12191695" cy="228600"/>
          </a:xfrm>
          <a:prstGeom prst="rect">
            <a:avLst/>
          </a:prstGeom>
          <a:solidFill>
            <a:srgbClr val="11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600200"/>
            <a:ext cx="12191695" cy="228600"/>
          </a:xfrm>
          <a:prstGeom prst="rect">
            <a:avLst/>
          </a:prstGeom>
          <a:solidFill>
            <a:srgbClr val="1141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828800"/>
            <a:ext cx="12191695" cy="228600"/>
          </a:xfrm>
          <a:prstGeom prst="rect">
            <a:avLst/>
          </a:prstGeom>
          <a:solidFill>
            <a:srgbClr val="1242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2057400"/>
            <a:ext cx="12191695" cy="228600"/>
          </a:xfrm>
          <a:prstGeom prst="rect">
            <a:avLst/>
          </a:prstGeom>
          <a:solidFill>
            <a:srgbClr val="1243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2286000"/>
            <a:ext cx="12191695" cy="228600"/>
          </a:xfrm>
          <a:prstGeom prst="rect">
            <a:avLst/>
          </a:prstGeom>
          <a:solidFill>
            <a:srgbClr val="124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2514600"/>
            <a:ext cx="12191695" cy="228600"/>
          </a:xfrm>
          <a:prstGeom prst="rect">
            <a:avLst/>
          </a:prstGeom>
          <a:solidFill>
            <a:srgbClr val="13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2743200"/>
            <a:ext cx="12191695" cy="228600"/>
          </a:xfrm>
          <a:prstGeom prst="rect">
            <a:avLst/>
          </a:prstGeom>
          <a:solidFill>
            <a:srgbClr val="1346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2971800"/>
            <a:ext cx="12191695" cy="228600"/>
          </a:xfrm>
          <a:prstGeom prst="rect">
            <a:avLst/>
          </a:prstGeom>
          <a:solidFill>
            <a:srgbClr val="1347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3200400"/>
            <a:ext cx="12191695" cy="228600"/>
          </a:xfrm>
          <a:prstGeom prst="rect">
            <a:avLst/>
          </a:prstGeom>
          <a:solidFill>
            <a:srgbClr val="144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429000"/>
            <a:ext cx="12191695" cy="228600"/>
          </a:xfrm>
          <a:prstGeom prst="rect">
            <a:avLst/>
          </a:prstGeom>
          <a:solidFill>
            <a:srgbClr val="144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3657600"/>
            <a:ext cx="12191695" cy="228600"/>
          </a:xfrm>
          <a:prstGeom prst="rect">
            <a:avLst/>
          </a:prstGeom>
          <a:solidFill>
            <a:srgbClr val="1549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3886200"/>
            <a:ext cx="12191695" cy="228600"/>
          </a:xfrm>
          <a:prstGeom prst="rect">
            <a:avLst/>
          </a:prstGeom>
          <a:solidFill>
            <a:srgbClr val="154A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4114800"/>
            <a:ext cx="12191695" cy="228600"/>
          </a:xfrm>
          <a:prstGeom prst="rect">
            <a:avLst/>
          </a:prstGeom>
          <a:solidFill>
            <a:srgbClr val="154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4343400"/>
            <a:ext cx="12191695" cy="228600"/>
          </a:xfrm>
          <a:prstGeom prst="rect">
            <a:avLst/>
          </a:prstGeom>
          <a:solidFill>
            <a:srgbClr val="164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4572000"/>
            <a:ext cx="12191695" cy="228600"/>
          </a:xfrm>
          <a:prstGeom prst="rect">
            <a:avLst/>
          </a:prstGeom>
          <a:solidFill>
            <a:srgbClr val="16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4800600"/>
            <a:ext cx="12191695" cy="228600"/>
          </a:xfrm>
          <a:prstGeom prst="rect">
            <a:avLst/>
          </a:prstGeom>
          <a:solidFill>
            <a:srgbClr val="16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5029200"/>
            <a:ext cx="12191695" cy="228600"/>
          </a:xfrm>
          <a:prstGeom prst="rect">
            <a:avLst/>
          </a:prstGeom>
          <a:solidFill>
            <a:srgbClr val="174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5257800"/>
            <a:ext cx="12191695" cy="228600"/>
          </a:xfrm>
          <a:prstGeom prst="rect">
            <a:avLst/>
          </a:prstGeom>
          <a:solidFill>
            <a:srgbClr val="17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5486400"/>
            <a:ext cx="12191695" cy="228600"/>
          </a:xfrm>
          <a:prstGeom prst="rect">
            <a:avLst/>
          </a:prstGeom>
          <a:solidFill>
            <a:srgbClr val="1851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5715000"/>
            <a:ext cx="12191695" cy="228600"/>
          </a:xfrm>
          <a:prstGeom prst="rect">
            <a:avLst/>
          </a:prstGeom>
          <a:solidFill>
            <a:srgbClr val="1852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5943600"/>
            <a:ext cx="12191695" cy="228600"/>
          </a:xfrm>
          <a:prstGeom prst="rect">
            <a:avLst/>
          </a:prstGeom>
          <a:solidFill>
            <a:srgbClr val="1853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172200"/>
            <a:ext cx="12191695" cy="228600"/>
          </a:xfrm>
          <a:prstGeom prst="rect">
            <a:avLst/>
          </a:prstGeom>
          <a:solidFill>
            <a:srgbClr val="195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400800"/>
            <a:ext cx="12191695" cy="228600"/>
          </a:xfrm>
          <a:prstGeom prst="rect">
            <a:avLst/>
          </a:prstGeom>
          <a:solidFill>
            <a:srgbClr val="195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629400"/>
            <a:ext cx="12191695" cy="22860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686800" y="-1371600"/>
            <a:ext cx="3657600" cy="3657600"/>
          </a:xfrm>
          <a:prstGeom prst="ellipse">
            <a:avLst/>
          </a:prstGeom>
          <a:solidFill>
            <a:srgbClr val="2566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371600" y="5029200"/>
            <a:ext cx="2743200" cy="2743200"/>
          </a:xfrm>
          <a:prstGeom prst="ellipse">
            <a:avLst/>
          </a:prstGeom>
          <a:solidFill>
            <a:srgbClr val="2566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71600" y="2011680"/>
            <a:ext cx="9418320" cy="1645920"/>
          </a:xfrm>
          <a:prstGeom prst="rect">
            <a:avLst/>
          </a:prstGeom>
          <a:noFill/>
        </p:spPr>
        <p:txBody>
          <a:bodyPr wrap="square">
            <a:spAutoFit/>
          </a:bodyPr>
          <a:lstStyle/>
          <a:p>
            <a:pPr algn="ctr"/>
            <a:r>
              <a:rPr sz="4000" b="1">
                <a:solidFill>
                  <a:srgbClr val="FFFFFF"/>
                </a:solidFill>
                <a:latin typeface="Microsoft YaHei"/>
                <a:ea typeface="Microsoft YaHei"/>
              </a:rPr>
              <a:t>本章概述：应用层的作用</a:t>
            </a:r>
          </a:p>
        </p:txBody>
      </p:sp>
      <p:sp>
        <p:nvSpPr>
          <p:cNvPr id="35" name="TextBox 34"/>
          <p:cNvSpPr txBox="1"/>
          <p:nvPr/>
        </p:nvSpPr>
        <p:spPr>
          <a:xfrm>
            <a:off x="1371600" y="3840480"/>
            <a:ext cx="9418320" cy="1097280"/>
          </a:xfrm>
          <a:prstGeom prst="rect">
            <a:avLst/>
          </a:prstGeom>
          <a:noFill/>
        </p:spPr>
        <p:txBody>
          <a:bodyPr wrap="square">
            <a:spAutoFit/>
          </a:bodyPr>
          <a:lstStyle/>
          <a:p>
            <a:pPr algn="ctr"/>
            <a:r>
              <a:rPr sz="2200" b="0">
                <a:solidFill>
                  <a:srgbClr val="A8C8FA"/>
                </a:solidFill>
                <a:latin typeface="Microsoft YaHei"/>
                <a:ea typeface="Microsoft YaHei"/>
              </a:rPr>
              <a:t>第5章 应用层与常用协议</a:t>
            </a:r>
          </a:p>
        </p:txBody>
      </p:sp>
      <p:sp>
        <p:nvSpPr>
          <p:cNvPr id="36" name="Rectangle 35"/>
          <p:cNvSpPr/>
          <p:nvPr/>
        </p:nvSpPr>
        <p:spPr>
          <a:xfrm>
            <a:off x="1371600" y="5852160"/>
            <a:ext cx="9418320" cy="13716"/>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71600" y="5943600"/>
            <a:ext cx="9418320" cy="457200"/>
          </a:xfrm>
          <a:prstGeom prst="rect">
            <a:avLst/>
          </a:prstGeom>
          <a:noFill/>
        </p:spPr>
        <p:txBody>
          <a:bodyPr wrap="none">
            <a:spAutoFit/>
          </a:bodyPr>
          <a:lstStyle/>
          <a:p>
            <a:pPr algn="ctr"/>
            <a:r>
              <a:rPr sz="1200" b="0">
                <a:solidFill>
                  <a:srgbClr val="A8C8FA"/>
                </a:solidFill>
                <a:latin typeface="Microsoft YaHei"/>
                <a:ea typeface="Microsoft YaHei"/>
              </a:rPr>
              <a:t>第5章 应用层与常用协议</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9601200" cy="777240"/>
          </a:xfrm>
          <a:prstGeom prst="rect">
            <a:avLst/>
          </a:prstGeom>
          <a:noFill/>
        </p:spPr>
        <p:txBody>
          <a:bodyPr wrap="square">
            <a:spAutoFit/>
          </a:bodyPr>
          <a:lstStyle/>
          <a:p>
            <a:pPr algn="l"/>
            <a:r>
              <a:rPr sz="3000" b="1">
                <a:solidFill>
                  <a:srgbClr val="FFFFFF"/>
                </a:solidFill>
                <a:latin typeface="Microsoft YaHei"/>
                <a:ea typeface="Microsoft YaHei"/>
              </a:rPr>
              <a:t>应用层模型：C/S 与 P2P</a:t>
            </a:r>
          </a:p>
        </p:txBody>
      </p:sp>
      <p:sp>
        <p:nvSpPr>
          <p:cNvPr id="4" name="Rectangle 3"/>
          <p:cNvSpPr/>
          <p:nvPr/>
        </p:nvSpPr>
        <p:spPr>
          <a:xfrm>
            <a:off x="0" y="1051560"/>
            <a:ext cx="109728" cy="5349240"/>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36576"/>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1554480"/>
            <a:ext cx="9875520" cy="3429000"/>
          </a:xfrm>
          <a:prstGeom prst="roundRect">
            <a:avLst/>
          </a:prstGeom>
          <a:solidFill>
            <a:srgbClr val="FFFFFF"/>
          </a:solidFill>
          <a:ln w="12700">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828800"/>
            <a:ext cx="8961120" cy="3840480"/>
          </a:xfrm>
          <a:prstGeom prst="rect">
            <a:avLst/>
          </a:prstGeom>
          <a:noFill/>
        </p:spPr>
        <p:txBody>
          <a:bodyPr wrap="square">
            <a:spAutoFit/>
          </a:bodyPr>
          <a:lstStyle/>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C/S（客户/服务器）模型：服务器集中提供服务，客户机请求服务</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优点：管理集中、数据一致性好；缺点：服务器容易成为瓶颈</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P2P（对等网络）模型：每个节点既可作为客户机也可作为服务器</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优点：可扩展性好、资源利用率高；缺点：管理分散、安全风险高</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典型应用：C/S（Web、Email）；P2P（BT下载、即时通讯）</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5F6B7A"/>
                </a:solidFill>
                <a:latin typeface="Microsoft YaHei"/>
                <a:ea typeface="Microsoft YaHei"/>
              </a:rPr>
              <a:t>第5章 应用层与常用协议</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5F6B7A"/>
                </a:solidFill>
                <a:latin typeface="Microsoft YaHei"/>
                <a:ea typeface="Microsoft YaHei"/>
              </a:rP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9601200" cy="777240"/>
          </a:xfrm>
          <a:prstGeom prst="rect">
            <a:avLst/>
          </a:prstGeom>
          <a:noFill/>
        </p:spPr>
        <p:txBody>
          <a:bodyPr wrap="square">
            <a:spAutoFit/>
          </a:bodyPr>
          <a:lstStyle/>
          <a:p>
            <a:pPr algn="l"/>
            <a:r>
              <a:rPr sz="3000" b="1">
                <a:solidFill>
                  <a:srgbClr val="FFFFFF"/>
                </a:solidFill>
                <a:latin typeface="Microsoft YaHei"/>
                <a:ea typeface="Microsoft YaHei"/>
              </a:rPr>
              <a:t>DNS：域名系统</a:t>
            </a:r>
          </a:p>
        </p:txBody>
      </p:sp>
      <p:sp>
        <p:nvSpPr>
          <p:cNvPr id="4" name="Rectangle 3"/>
          <p:cNvSpPr/>
          <p:nvPr/>
        </p:nvSpPr>
        <p:spPr>
          <a:xfrm>
            <a:off x="0" y="1051560"/>
            <a:ext cx="109728" cy="5349240"/>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36576"/>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1554480"/>
            <a:ext cx="9875520" cy="3429000"/>
          </a:xfrm>
          <a:prstGeom prst="roundRect">
            <a:avLst/>
          </a:prstGeom>
          <a:solidFill>
            <a:srgbClr val="FFFFFF"/>
          </a:solidFill>
          <a:ln w="12700">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828800"/>
            <a:ext cx="8961120" cy="3840480"/>
          </a:xfrm>
          <a:prstGeom prst="rect">
            <a:avLst/>
          </a:prstGeom>
          <a:noFill/>
        </p:spPr>
        <p:txBody>
          <a:bodyPr wrap="square">
            <a:spAutoFit/>
          </a:bodyPr>
          <a:lstStyle/>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DNS作用：将人类易记的域名（如 www.example.com）转换为IP地址</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采用层次化命名空间，分布式数据库结构</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根域名 → 顶级域名（.com、.org）→ 权威域名服务器</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DNS查询过程：递归查询与迭代查询</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缓存机制：提高解析效率，减少网络负载</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5F6B7A"/>
                </a:solidFill>
                <a:latin typeface="Microsoft YaHei"/>
                <a:ea typeface="Microsoft YaHei"/>
              </a:rPr>
              <a:t>第5章 应用层与常用协议</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5F6B7A"/>
                </a:solidFill>
                <a:latin typeface="Microsoft YaHei"/>
                <a:ea typeface="Microsoft YaHei"/>
              </a:rP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9601200" cy="777240"/>
          </a:xfrm>
          <a:prstGeom prst="rect">
            <a:avLst/>
          </a:prstGeom>
          <a:noFill/>
        </p:spPr>
        <p:txBody>
          <a:bodyPr wrap="square">
            <a:spAutoFit/>
          </a:bodyPr>
          <a:lstStyle/>
          <a:p>
            <a:pPr algn="l"/>
            <a:r>
              <a:rPr sz="3000" b="1">
                <a:solidFill>
                  <a:srgbClr val="FFFFFF"/>
                </a:solidFill>
                <a:latin typeface="Microsoft YaHei"/>
                <a:ea typeface="Microsoft YaHei"/>
              </a:rPr>
              <a:t>HTTP 协议：万维网的基石</a:t>
            </a:r>
          </a:p>
        </p:txBody>
      </p:sp>
      <p:sp>
        <p:nvSpPr>
          <p:cNvPr id="4" name="Rectangle 3"/>
          <p:cNvSpPr/>
          <p:nvPr/>
        </p:nvSpPr>
        <p:spPr>
          <a:xfrm>
            <a:off x="0" y="1051560"/>
            <a:ext cx="109728" cy="5349240"/>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36576"/>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1554480"/>
            <a:ext cx="9875520" cy="3429000"/>
          </a:xfrm>
          <a:prstGeom prst="roundRect">
            <a:avLst/>
          </a:prstGeom>
          <a:solidFill>
            <a:srgbClr val="FFFFFF"/>
          </a:solidFill>
          <a:ln w="12700">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828800"/>
            <a:ext cx="8961120" cy="3840480"/>
          </a:xfrm>
          <a:prstGeom prst="rect">
            <a:avLst/>
          </a:prstGeom>
          <a:noFill/>
        </p:spPr>
        <p:txBody>
          <a:bodyPr wrap="square">
            <a:spAutoFit/>
          </a:bodyPr>
          <a:lstStyle/>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HTTP（超文本传输协议）：Web浏览器与服务器通信的规则</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无状态协议：每个请求独立，不记忆之前请求（可通过Cookie改进）</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请求方法：GET（获取资源）、POST（提交数据）、PUT（更新）、DELETE（删除）</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状态码：1xx信息、2xx成功、3xx重定向、4xx客户端错误、5xx服务器错误</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HTTP/1.1 vs HTTP/2.0 vs HTTP/3.0：从持久连接到多路复用再到QUIC</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5F6B7A"/>
                </a:solidFill>
                <a:latin typeface="Microsoft YaHei"/>
                <a:ea typeface="Microsoft YaHei"/>
              </a:rPr>
              <a:t>第5章 应用层与常用协议</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5F6B7A"/>
                </a:solidFill>
                <a:latin typeface="Microsoft YaHei"/>
                <a:ea typeface="Microsoft YaHei"/>
              </a:rP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9601200" cy="777240"/>
          </a:xfrm>
          <a:prstGeom prst="rect">
            <a:avLst/>
          </a:prstGeom>
          <a:noFill/>
        </p:spPr>
        <p:txBody>
          <a:bodyPr wrap="square">
            <a:spAutoFit/>
          </a:bodyPr>
          <a:lstStyle/>
          <a:p>
            <a:pPr algn="l"/>
            <a:r>
              <a:rPr sz="3000" b="1">
                <a:solidFill>
                  <a:srgbClr val="FFFFFF"/>
                </a:solidFill>
                <a:latin typeface="Microsoft YaHei"/>
                <a:ea typeface="Microsoft YaHei"/>
              </a:rPr>
              <a:t>FTP 与电子邮件协议</a:t>
            </a:r>
          </a:p>
        </p:txBody>
      </p:sp>
      <p:sp>
        <p:nvSpPr>
          <p:cNvPr id="4" name="Rectangle 3"/>
          <p:cNvSpPr/>
          <p:nvPr/>
        </p:nvSpPr>
        <p:spPr>
          <a:xfrm>
            <a:off x="0" y="1051560"/>
            <a:ext cx="109728" cy="5349240"/>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36576"/>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1554480"/>
            <a:ext cx="9875520" cy="3429000"/>
          </a:xfrm>
          <a:prstGeom prst="roundRect">
            <a:avLst/>
          </a:prstGeom>
          <a:solidFill>
            <a:srgbClr val="FFFFFF"/>
          </a:solidFill>
          <a:ln w="12700">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828800"/>
            <a:ext cx="8961120" cy="3840480"/>
          </a:xfrm>
          <a:prstGeom prst="rect">
            <a:avLst/>
          </a:prstGeom>
          <a:noFill/>
        </p:spPr>
        <p:txBody>
          <a:bodyPr wrap="square">
            <a:spAutoFit/>
          </a:bodyPr>
          <a:lstStyle/>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FTP（文件传输协议）：基于C/S模式，采用双连接（控制连接+数据连接）</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FTP工作方式：主动模式（PORT）与被动模式（PASV）</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电子邮件协议：发送→SMTP（简单邮件传输协议）</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接收→POP3（邮局协议）或 IMAP（互联网消息访问协议）</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MIME：支持邮件中发送非ASCII编码的附件（图片、视频等）</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5F6B7A"/>
                </a:solidFill>
                <a:latin typeface="Microsoft YaHei"/>
                <a:ea typeface="Microsoft YaHei"/>
              </a:rPr>
              <a:t>第5章 应用层与常用协议</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5F6B7A"/>
                </a:solidFill>
                <a:latin typeface="Microsoft YaHei"/>
                <a:ea typeface="Microsoft YaHei"/>
              </a:rP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9601200" cy="777240"/>
          </a:xfrm>
          <a:prstGeom prst="rect">
            <a:avLst/>
          </a:prstGeom>
          <a:noFill/>
        </p:spPr>
        <p:txBody>
          <a:bodyPr wrap="square">
            <a:spAutoFit/>
          </a:bodyPr>
          <a:lstStyle/>
          <a:p>
            <a:pPr algn="l"/>
            <a:r>
              <a:rPr sz="3000" b="1">
                <a:solidFill>
                  <a:srgbClr val="FFFFFF"/>
                </a:solidFill>
                <a:latin typeface="Microsoft YaHei"/>
                <a:ea typeface="Microsoft YaHei"/>
              </a:rPr>
              <a:t>Web服务器配置实践：Nginx</a:t>
            </a:r>
          </a:p>
        </p:txBody>
      </p:sp>
      <p:sp>
        <p:nvSpPr>
          <p:cNvPr id="4" name="Rectangle 3"/>
          <p:cNvSpPr/>
          <p:nvPr/>
        </p:nvSpPr>
        <p:spPr>
          <a:xfrm>
            <a:off x="0" y="1051560"/>
            <a:ext cx="109728" cy="5349240"/>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36576"/>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1554480"/>
            <a:ext cx="9875520" cy="3429000"/>
          </a:xfrm>
          <a:prstGeom prst="roundRect">
            <a:avLst/>
          </a:prstGeom>
          <a:solidFill>
            <a:srgbClr val="FFFFFF"/>
          </a:solidFill>
          <a:ln w="12700">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828800"/>
            <a:ext cx="8961120" cy="3840480"/>
          </a:xfrm>
          <a:prstGeom prst="rect">
            <a:avLst/>
          </a:prstGeom>
          <a:noFill/>
        </p:spPr>
        <p:txBody>
          <a:bodyPr wrap="square">
            <a:spAutoFit/>
          </a:bodyPr>
          <a:lstStyle/>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Nginx：高性能HTTP服务器、反向代理、负载均衡器</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特点：高并发、低内存占用、配置灵活</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基本配置：server块、location块、反向代理设置</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虚拟主机：一台服务器托管多个网站（基于域名或端口）</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实践步骤：安装→配置站点→启动服务→访问验证</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5F6B7A"/>
                </a:solidFill>
                <a:latin typeface="Microsoft YaHei"/>
                <a:ea typeface="Microsoft YaHei"/>
              </a:rPr>
              <a:t>第5章 应用层与常用协议</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5F6B7A"/>
                </a:solidFill>
                <a:latin typeface="Microsoft YaHei"/>
                <a:ea typeface="Microsoft YaHei"/>
              </a:rP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A5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
            <a:ext cx="9601200" cy="777240"/>
          </a:xfrm>
          <a:prstGeom prst="rect">
            <a:avLst/>
          </a:prstGeom>
          <a:noFill/>
        </p:spPr>
        <p:txBody>
          <a:bodyPr wrap="square">
            <a:spAutoFit/>
          </a:bodyPr>
          <a:lstStyle/>
          <a:p>
            <a:pPr algn="l"/>
            <a:r>
              <a:rPr sz="3000" b="1">
                <a:solidFill>
                  <a:srgbClr val="FFFFFF"/>
                </a:solidFill>
                <a:latin typeface="Microsoft YaHei"/>
                <a:ea typeface="Microsoft YaHei"/>
              </a:rPr>
              <a:t>本章小结与应用思考</a:t>
            </a:r>
          </a:p>
        </p:txBody>
      </p:sp>
      <p:sp>
        <p:nvSpPr>
          <p:cNvPr id="4" name="Rectangle 3"/>
          <p:cNvSpPr/>
          <p:nvPr/>
        </p:nvSpPr>
        <p:spPr>
          <a:xfrm>
            <a:off x="0" y="1051560"/>
            <a:ext cx="109728" cy="5349240"/>
          </a:xfrm>
          <a:prstGeom prst="rect">
            <a:avLst/>
          </a:prstGeom>
          <a:solidFill>
            <a:srgbClr val="A8C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36576"/>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1554480"/>
            <a:ext cx="9875520" cy="3429000"/>
          </a:xfrm>
          <a:prstGeom prst="roundRect">
            <a:avLst/>
          </a:prstGeom>
          <a:solidFill>
            <a:srgbClr val="FFFFFF"/>
          </a:solidFill>
          <a:ln w="12700">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828800"/>
            <a:ext cx="8961120" cy="3840480"/>
          </a:xfrm>
          <a:prstGeom prst="rect">
            <a:avLst/>
          </a:prstGeom>
          <a:noFill/>
        </p:spPr>
        <p:txBody>
          <a:bodyPr wrap="square">
            <a:spAutoFit/>
          </a:bodyPr>
          <a:lstStyle/>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应用层：定义了网络服务的交互规则</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核心协议：DNS、HTTP、FTP、SMTP/POP3/IMAP</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两种架构模型：C/S稳定可控，P2P分散高效</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未来趋势：QUIC协议（HTTP/3）、边缘计算、WebRTC实时通信</a:t>
            </a:r>
          </a:p>
          <a:p>
            <a:pPr>
              <a:spcBef>
                <a:spcPts val="1200"/>
              </a:spcBef>
              <a:spcAft>
                <a:spcPts val="600"/>
              </a:spcAft>
            </a:pPr>
            <a:r>
              <a:rPr sz="1400" b="0">
                <a:solidFill>
                  <a:srgbClr val="1A56A8"/>
                </a:solidFill>
                <a:latin typeface="Microsoft YaHei"/>
                <a:ea typeface="Microsoft YaHei"/>
              </a:rPr>
              <a:t>● </a:t>
            </a:r>
            <a:r>
              <a:rPr sz="2000" b="0">
                <a:solidFill>
                  <a:srgbClr val="2D3747"/>
                </a:solidFill>
                <a:latin typeface="Microsoft YaHei"/>
                <a:ea typeface="Microsoft YaHei"/>
              </a:rPr>
              <a:t>思考题：当你打开浏览器输入网址（例如 www.bilibili.com），背后发生了哪些应用层协议的交互？</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5F6B7A"/>
                </a:solidFill>
                <a:latin typeface="Microsoft YaHei"/>
                <a:ea typeface="Microsoft YaHei"/>
              </a:rPr>
              <a:t>第5章 应用层与常用协议</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5F6B7A"/>
                </a:solidFill>
                <a:latin typeface="Microsoft YaHei"/>
                <a:ea typeface="Microsoft YaHei"/>
              </a:rP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