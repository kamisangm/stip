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平均时间复杂度(ms模拟)</c:v>
                </c:pt>
              </c:strCache>
            </c:strRef>
          </c:tx>
          <c:spPr>
            <a:solidFill>
              <a:srgbClr val="FF8C42"/>
            </a:solidFill>
          </c:spPr>
          <c:cat>
            <c:strRef>
              <c:f>Sheet1!$A$2:$A$10</c:f>
              <c:strCache>
                <c:ptCount val="9"/>
                <c:pt idx="0">
                  <c:v>冒泡</c:v>
                </c:pt>
                <c:pt idx="1">
                  <c:v>插入</c:v>
                </c:pt>
                <c:pt idx="2">
                  <c:v>选择</c:v>
                </c:pt>
                <c:pt idx="3">
                  <c:v>希尔</c:v>
                </c:pt>
                <c:pt idx="4">
                  <c:v>归并</c:v>
                </c:pt>
                <c:pt idx="5">
                  <c:v>快排(平均)</c:v>
                </c:pt>
                <c:pt idx="6">
                  <c:v>堆排</c:v>
                </c:pt>
                <c:pt idx="7">
                  <c:v>计数</c:v>
                </c:pt>
                <c:pt idx="8">
                  <c:v>基数</c:v>
                </c:pt>
              </c:strCache>
            </c:strRef>
          </c:cat>
          <c:val>
            <c:numRef>
              <c:f>Sheet1!$B$2:$B$10</c:f>
              <c:numCache>
                <c:formatCode>General</c:formatCode>
                <c:ptCount val="9"/>
                <c:pt idx="0">
                  <c:v>1200</c:v>
                </c:pt>
                <c:pt idx="1">
                  <c:v>800</c:v>
                </c:pt>
                <c:pt idx="2">
                  <c:v>1100</c:v>
                </c:pt>
                <c:pt idx="3">
                  <c:v>15</c:v>
                </c:pt>
                <c:pt idx="4">
                  <c:v>5</c:v>
                </c:pt>
                <c:pt idx="5">
                  <c:v>4</c:v>
                </c:pt>
                <c:pt idx="6">
                  <c:v>6</c:v>
                </c:pt>
                <c:pt idx="7">
                  <c:v>1</c:v>
                </c:pt>
                <c:pt idx="8">
                  <c:v>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我们来讨论排序算法的稳定性。大家想一想，如果有一个学生名单已经按学号排好序，现在需要按成绩从高到低重新排序，我们希望成绩相同的学生仍然保持学号顺序，这就依赖于排序算法的稳定性。所谓稳定排序，就是当两个元素相等时，它们在排序前后的相对位置不变。比如冒泡排序，因为只有相邻逆序才交换，相等的元素不会交换，所以是稳定的。插入排序也是稳定的，因为后插不会越过相等元素。归并排序在合并时，当两个子序列的元素相等，我们优先取左子序列，因此也是稳定的。而不稳定的算法呢？快速排序在分区时选择枢轴，可能导致相等元素调换位置；堆排序在构建和调整堆时，相等元素可能跨越移动；选择排序每次选最小放到前面，相等的元素的相对顺序可能被破坏。希尔排序按间隔分组，间隔内排序可能打乱全局顺序。基数排序和计数排序因为按位或按桶分配，能保持相同键值的输入顺序。理解了稳定性，我们就知道在需要多关键字排序时，尽量选择稳定算法或采取额外措施。</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幻灯片直观地列出了稳定排序和不稳定排序的代表算法以及它们为什么稳定或不稳定的关键原因。比如归并排序，我们在合并两个有序序列时，如果左序列和右序列的首元素相等，我们肯定先拷贝左序列的元素，这样相等元素的相对顺序就和原序列一致。计数排序为什么稳定？因为它先统计每个值出现的次数，然后计算前缀和，再反向遍历原数组，将元素放到对应位置，这样后出现的元素会放在靠后的位置，从而保持稳定。而不稳定的排序中，快速排序举个例子：假设数组[ (a，1), (b，1) ]，第一个元素为枢轴，分区后可能变成[(b，1), (a，1)]，顺序改变了。堆排序的调整过程也是“大跨度”移动，无法保持相对顺序。所以在实际应用时，如果稳定性是硬性要求，我们就要避开那些不稳定的算法，或者对它们进行改写（比如用额外空间记录原索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在我们来看看这张图表，它用柱状图直观地展示了不同排序算法在处理一百万条数据时的平均时间模拟值。虽然实际数值因实现和硬件而异，但相对关系非常清晰。冒泡、插入、选择排序的时间代价呈指数级增长，而希尔排序由于突破了O(n²)的瓶颈，表现好很多。归并、快排、堆排三者虽然都是O(n log n)级别，但快排的常数因子最小，通常是最快的基于比较的排序。堆排虽然稍慢，但最坏情况也有保障。计数排序（这里假设数据范围不大）和基数排序（按位处理）更是达到了线性时间，令人惊叹。但线性时间排序并非万能——比如计数排序要求数据是整数且范围不能太大；基数排序要对每个位进行稳定排序，额外空间较多。此外，空间复杂度也是重要指标：原地排序（比如快排、堆排）在内存受限的嵌入式系统中更有优势；而归并排序需要O(n)辅助空间，但能保证稳定和最坏情况下的高效。看完这张图，大家对各种算法的时间空间表现应该有更立体的认识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了解了理论对比之后，我们来看看工业界和编程语言的排序策略是怎么选择的。大家可能经常使用Java的Arrays.sort()，但有没有注意到它对int[]和Integer[]的处理不同？对于基本类型，Java使用双轴快速排序，它是不稳定的，但速度极快；对于对象类型，使用TimSort，这是2002年由Tim Peters为Python发明的，是一种稳定的、自适应的归并+插入的混合算法，特别擅长处理部分有序的数据。Python的sorted()也采用TimSort，所以Python的排序是稳定的。C++的std::sort则使用introsort，它结合了快速排序、堆排序和插入排序——开始用快排，当递归深度过大时切到堆排避免最坏情况，当子数组很小时用插入排序提高效率。数据库管理系统（如MySQL、PostgreSQL）在ORDER BY中通常使用归并排序或外部排序，因为要保证稳定性，并且数据量可能远超内存。在大数据框架如Hadoop的MapReduce中，排序是Shuffle阶段的核心：先用快速排序对每个分区排序，再在Reduce端进行多路归并。这些现实中的算法选择告诉我们，没有绝对最好的排序算法，只有最适合当前数据特征和约束条件的算法。</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面对这么多排序算法，我们到底该怎么选？这里给大家一个五步决策流程。第一步，看数据量。如果只有几百或几千条，即使是O(n²)的插入排序，在实际运行中也可能比复杂算法更快，因为常数因子低且实现简单。第二步，看稳定性。如果业务要求保持相等元素的原始顺序（比如金融交易记录按时间排序后再按金额排序），那就必须选稳定排序。第三步，看数据范围。比如要对0到10万分之间的年龄排序，计数排序只需一个10万+1大小的计数器，一次遍历即可完成，效率极高。第四步，看空间。在嵌入式设备或操作系统内核中，可能只有几个KB的栈空间，这时堆排序或快速排序的原地特性就至关重要。第五步，看最坏情况的容忍度。例如在股票交易中间件中，排序操作必须保证严格的上限时间，不能出现O(n²)的意外，此时应选择堆排序或归并排序。通过这五个步骤，大家就能像工程师一样科学地选择排序算法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了，我们来总结一下本章的核心内容。通过稳定性的对比，我们知道了哪些算法能保留顺序、哪些不能。时间和空间对比让我们看到了不同算法的性能差异，并理解了为什么工业界不直接用理论最优的算法，而是设计混合算法。实际应用中的排序策略展示了Java、Python、C++以及数据库和大数据框架中的巧妙选择。最后，我们给出了一个实用的五步决策流程，帮助大家在遇到排序需求时，能够有理有据地做出选择。课后希望大家思考一个问题：如果你要设计一个支持中英文字符串排序的算法，应该考虑哪些因素？提示：字符串比较的稳定性、多字节编码、本地化规则……都可以结合今天学到的知识。感谢大家的认真聆听，下一章我们将进入更高级的数据结构——树与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772400" y="-914400"/>
            <a:ext cx="4572000" cy="4572000"/>
          </a:xfrm>
          <a:prstGeom prst="ellipse">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4400" y="4114800"/>
            <a:ext cx="3200400" cy="320040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00800" y="2743200"/>
            <a:ext cx="1828800" cy="1828800"/>
          </a:xfrm>
          <a:prstGeom prst="ellipse">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14400" y="1645920"/>
            <a:ext cx="10332720" cy="22860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8720" y="1920240"/>
            <a:ext cx="9784080" cy="1737360"/>
          </a:xfrm>
          <a:prstGeom prst="rect">
            <a:avLst/>
          </a:prstGeom>
          <a:noFill/>
        </p:spPr>
        <p:txBody>
          <a:bodyPr wrap="square">
            <a:spAutoFit/>
          </a:bodyPr>
          <a:lstStyle/>
          <a:p>
            <a:pPr algn="ctr"/>
            <a:r>
              <a:rPr sz="3800" b="1">
                <a:solidFill>
                  <a:srgbClr val="FFFFFF"/>
                </a:solidFill>
                <a:latin typeface="Microsoft YaHei"/>
                <a:ea typeface="Microsoft YaHei"/>
              </a:rPr>
              <a:t>排序算法收官：从原理到决策</a:t>
            </a:r>
          </a:p>
        </p:txBody>
      </p:sp>
      <p:sp>
        <p:nvSpPr>
          <p:cNvPr id="48" name="TextBox 47"/>
          <p:cNvSpPr txBox="1"/>
          <p:nvPr/>
        </p:nvSpPr>
        <p:spPr>
          <a:xfrm>
            <a:off x="914400" y="4389120"/>
            <a:ext cx="10332720" cy="731520"/>
          </a:xfrm>
          <a:prstGeom prst="rect">
            <a:avLst/>
          </a:prstGeom>
          <a:noFill/>
        </p:spPr>
        <p:txBody>
          <a:bodyPr wrap="square">
            <a:spAutoFit/>
          </a:bodyPr>
          <a:lstStyle/>
          <a:p>
            <a:pPr algn="ctr"/>
            <a:r>
              <a:rPr sz="2000" b="0">
                <a:solidFill>
                  <a:srgbClr val="2A9D8F"/>
                </a:solidFill>
                <a:latin typeface="Microsoft YaHei"/>
                <a:ea typeface="Microsoft YaHei"/>
              </a:rPr>
              <a:t>第5章 排序算法总结与选型</a:t>
            </a:r>
          </a:p>
        </p:txBody>
      </p:sp>
      <p:sp>
        <p:nvSpPr>
          <p:cNvPr id="49" name="Rounded Rectangle 48"/>
          <p:cNvSpPr/>
          <p:nvPr/>
        </p:nvSpPr>
        <p:spPr>
          <a:xfrm>
            <a:off x="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57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14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371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828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286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743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200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657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114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72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029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486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943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400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858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315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772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229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686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9144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601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0058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0515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10972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11430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1887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371600" y="5852160"/>
            <a:ext cx="9418320" cy="13716"/>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71600" y="5943600"/>
            <a:ext cx="9418320" cy="457200"/>
          </a:xfrm>
          <a:prstGeom prst="rect">
            <a:avLst/>
          </a:prstGeom>
          <a:noFill/>
        </p:spPr>
        <p:txBody>
          <a:bodyPr wrap="none">
            <a:spAutoFit/>
          </a:bodyPr>
          <a:lstStyle/>
          <a:p>
            <a:pPr algn="ctr"/>
            <a:r>
              <a:rPr sz="1200" b="0">
                <a:solidFill>
                  <a:srgbClr val="FFE66D"/>
                </a:solidFill>
                <a:latin typeface="Microsoft YaHei"/>
                <a:ea typeface="Microsoft YaHei"/>
              </a:rPr>
              <a:t>第5章 排序算法总结与选型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为什么关注稳定性？</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稳定性指排序后相等元素的相对顺序保持不变，这在多关键字排序中至关重要。</a:t>
            </a:r>
          </a:p>
          <a:p>
            <a:pPr>
              <a:spcBef>
                <a:spcPts val="1000"/>
              </a:spcBef>
              <a:spcAft>
                <a:spcPts val="500"/>
              </a:spcAft>
            </a:pPr>
            <a:r>
              <a:rPr sz="1800" b="0">
                <a:solidFill>
                  <a:srgbClr val="3D2C2C"/>
                </a:solidFill>
                <a:latin typeface="Microsoft YaHei"/>
                <a:ea typeface="Microsoft YaHei"/>
              </a:rPr>
              <a:t>例如，先按姓名排序，再按分数排序时，稳定排序能保留姓名排序的结果。</a:t>
            </a:r>
          </a:p>
          <a:p>
            <a:pPr>
              <a:spcBef>
                <a:spcPts val="1000"/>
              </a:spcBef>
              <a:spcAft>
                <a:spcPts val="500"/>
              </a:spcAft>
            </a:pPr>
            <a:r>
              <a:rPr sz="1800" b="0">
                <a:solidFill>
                  <a:srgbClr val="3D2C2C"/>
                </a:solidFill>
                <a:latin typeface="Microsoft YaHei"/>
                <a:ea typeface="Microsoft YaHei"/>
              </a:rPr>
              <a:t>冒泡排序、插入排序、归并排序是稳定的；快速排序、堆排序、选择排序是不稳定的。</a:t>
            </a:r>
          </a:p>
          <a:p>
            <a:pPr>
              <a:spcBef>
                <a:spcPts val="1000"/>
              </a:spcBef>
              <a:spcAft>
                <a:spcPts val="500"/>
              </a:spcAft>
            </a:pPr>
            <a:r>
              <a:rPr sz="1800" b="0">
                <a:solidFill>
                  <a:srgbClr val="3D2C2C"/>
                </a:solidFill>
                <a:latin typeface="Microsoft YaHei"/>
                <a:ea typeface="Microsoft YaHei"/>
              </a:rPr>
              <a:t>希尔排序的稳定性取决于间隔序列，通常被视为不稳定；计数排序、基数排序是稳定的。</a:t>
            </a:r>
          </a:p>
          <a:p>
            <a:pPr>
              <a:spcBef>
                <a:spcPts val="1000"/>
              </a:spcBef>
              <a:spcAft>
                <a:spcPts val="500"/>
              </a:spcAft>
            </a:pPr>
            <a:r>
              <a:rPr sz="1800" b="0">
                <a:solidFill>
                  <a:srgbClr val="3D2C2C"/>
                </a:solidFill>
                <a:latin typeface="Microsoft YaHei"/>
                <a:ea typeface="Microsoft YaHei"/>
              </a:rPr>
              <a:t>在需要保留原始顺序信息的场景（如数据库排序、电子表格多列排序），稳定性是重要选型因素。</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第5章 排序算法总结与选型</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稳定与不稳定算法全面对比</a:t>
            </a:r>
          </a:p>
        </p:txBody>
      </p:sp>
      <p:sp>
        <p:nvSpPr>
          <p:cNvPr id="4" name="Rounded Rectangle 3"/>
          <p:cNvSpPr/>
          <p:nvPr/>
        </p:nvSpPr>
        <p:spPr>
          <a:xfrm>
            <a:off x="365760" y="1188720"/>
            <a:ext cx="5486400" cy="4754880"/>
          </a:xfrm>
          <a:prstGeom prst="roundRect">
            <a:avLst/>
          </a:prstGeom>
          <a:solidFill>
            <a:srgbClr val="FFF5EB"/>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09360" y="1188720"/>
            <a:ext cx="5486400" cy="4754880"/>
          </a:xfrm>
          <a:prstGeom prst="roundRect">
            <a:avLst/>
          </a:prstGeom>
          <a:solidFill>
            <a:srgbClr val="E8F9F3"/>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486400" cy="5486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稳定排序</a:t>
            </a:r>
          </a:p>
        </p:txBody>
      </p:sp>
      <p:sp>
        <p:nvSpPr>
          <p:cNvPr id="8" name="Rectangle 7"/>
          <p:cNvSpPr/>
          <p:nvPr/>
        </p:nvSpPr>
        <p:spPr>
          <a:xfrm>
            <a:off x="6309360" y="1188720"/>
            <a:ext cx="5486400" cy="5486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不稳定排序</a:t>
            </a:r>
          </a:p>
        </p:txBody>
      </p:sp>
      <p:sp>
        <p:nvSpPr>
          <p:cNvPr id="10" name="TextBox 9"/>
          <p:cNvSpPr txBox="1"/>
          <p:nvPr/>
        </p:nvSpPr>
        <p:spPr>
          <a:xfrm>
            <a:off x="640080" y="1920240"/>
            <a:ext cx="4937760" cy="3657600"/>
          </a:xfrm>
          <a:prstGeom prst="rect">
            <a:avLst/>
          </a:prstGeom>
          <a:noFill/>
        </p:spPr>
        <p:txBody>
          <a:bodyPr wrap="square">
            <a:spAutoFit/>
          </a:bodyPr>
          <a:lstStyle/>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冒泡排序：相邻比较交换，相等不换，最坏O(n²)。</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插入排序：逐个插入有序区，相等时插入后方，最坏O(n²)。</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归并排序：分治合并，左优先取等值，O(n log n)。</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计数排序：基于计数累加，保证相同值按原序输出。</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基数排序：按位稳定排序，每一位使用稳定排序方法。</a:t>
            </a:r>
          </a:p>
        </p:txBody>
      </p:sp>
      <p:sp>
        <p:nvSpPr>
          <p:cNvPr id="11" name="TextBox 10"/>
          <p:cNvSpPr txBox="1"/>
          <p:nvPr/>
        </p:nvSpPr>
        <p:spPr>
          <a:xfrm>
            <a:off x="6492240" y="1920240"/>
            <a:ext cx="4937760" cy="3657600"/>
          </a:xfrm>
          <a:prstGeom prst="rect">
            <a:avLst/>
          </a:prstGeom>
          <a:noFill/>
        </p:spPr>
        <p:txBody>
          <a:bodyPr wrap="square">
            <a:spAutoFit/>
          </a:bodyPr>
          <a:lstStyle/>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选择排序：每次选最小交换，可能跳过相等元素。</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快速排序：分区时枢轴交换，可能打乱相等顺序。</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堆排序：堆调整中元素上下浮动，无法保持稳定。</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希尔排序：子序列内排序，整体顺序不确定。</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桶排序内排序若用不稳定算法则整体不稳。</a:t>
            </a:r>
          </a:p>
        </p:txBody>
      </p:sp>
      <p:sp>
        <p:nvSpPr>
          <p:cNvPr id="12" name="Rectangle 11"/>
          <p:cNvSpPr/>
          <p:nvPr/>
        </p:nvSpPr>
        <p:spPr>
          <a:xfrm>
            <a:off x="6080760" y="1188720"/>
            <a:ext cx="73152" cy="475488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第5章 排序算法总结与选型</a:t>
            </a:r>
          </a:p>
        </p:txBody>
      </p:sp>
      <p:sp>
        <p:nvSpPr>
          <p:cNvPr id="14" name="TextBox 1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时间复杂度与空间复杂度全景</a:t>
            </a:r>
          </a:p>
        </p:txBody>
      </p:sp>
      <p:graphicFrame>
        <p:nvGraphicFramePr>
          <p:cNvPr id="4" name="Chart 3"/>
          <p:cNvGraphicFramePr>
            <a:graphicFrameLocks noGrp="1"/>
          </p:cNvGraphicFramePr>
          <p:nvPr/>
        </p:nvGraphicFramePr>
        <p:xfrm>
          <a:off x="365760" y="1188720"/>
          <a:ext cx="594360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6583680" y="1188720"/>
            <a:ext cx="5303520" cy="4754880"/>
          </a:xfrm>
          <a:prstGeom prst="roundRect">
            <a:avLst/>
          </a:prstGeom>
          <a:solidFill>
            <a:srgbClr val="FFFFFF"/>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1463040"/>
            <a:ext cx="4572000" cy="4114800"/>
          </a:xfrm>
          <a:prstGeom prst="rect">
            <a:avLst/>
          </a:prstGeom>
          <a:noFill/>
        </p:spPr>
        <p:txBody>
          <a:bodyPr wrap="square">
            <a:spAutoFit/>
          </a:bodyPr>
          <a:lstStyle/>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冒泡、插入、选择排序时间复杂度均为O(n²)，适合小规模数据（n&lt;1000）。</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希尔排序平均O(n^1.3~1.5)，中等规模下比简单排序快得多。</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归并、快排、堆排均为O(n log n)，但常数因子不同：快排最快，堆排最稳定。</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计数、基数排序可达到O(n+k)的线性时间，但受限于数据范围和类型。</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空间复杂度：原地排序（O(1)）有冒泡、选择、快排、堆排；归并需O(n)；计数/基数依数据范围而定。</a:t>
            </a:r>
          </a:p>
        </p:txBody>
      </p:sp>
      <p:sp>
        <p:nvSpPr>
          <p:cNvPr id="7" name="TextBox 6"/>
          <p:cNvSpPr txBox="1"/>
          <p:nvPr/>
        </p:nvSpPr>
        <p:spPr>
          <a:xfrm>
            <a:off x="6766560" y="1234440"/>
            <a:ext cx="4937760" cy="457200"/>
          </a:xfrm>
          <a:prstGeom prst="rect">
            <a:avLst/>
          </a:prstGeom>
          <a:noFill/>
        </p:spPr>
        <p:txBody>
          <a:bodyPr wrap="none">
            <a:spAutoFit/>
          </a:bodyPr>
          <a:lstStyle/>
          <a:p>
            <a:pPr algn="l"/>
            <a:r>
              <a:rPr sz="1800" b="1">
                <a:solidFill>
                  <a:srgbClr val="FF8C42"/>
                </a:solidFill>
                <a:latin typeface="Microsoft YaHei"/>
                <a:ea typeface="Microsoft YaHei"/>
              </a:rPr>
              <a:t>📊 数据分析</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第5章 排序算法总结与选型</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实际应用中的排序策略</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Java的Arrays.sort()：对基本类型用双轴快速排序（不稳定），对对象用TimSort（稳定归并+插入混合）。</a:t>
            </a:r>
          </a:p>
          <a:p>
            <a:pPr>
              <a:spcBef>
                <a:spcPts val="1000"/>
              </a:spcBef>
              <a:spcAft>
                <a:spcPts val="500"/>
              </a:spcAft>
            </a:pPr>
            <a:r>
              <a:rPr sz="1800" b="0">
                <a:solidFill>
                  <a:srgbClr val="3D2C2C"/>
                </a:solidFill>
                <a:latin typeface="Microsoft YaHei"/>
                <a:ea typeface="Microsoft YaHei"/>
              </a:rPr>
              <a:t>Python的sorted()：采用TimSort，一种自适应的稳定排序，针对部分有序数据优化。</a:t>
            </a:r>
          </a:p>
          <a:p>
            <a:pPr>
              <a:spcBef>
                <a:spcPts val="1000"/>
              </a:spcBef>
              <a:spcAft>
                <a:spcPts val="500"/>
              </a:spcAft>
            </a:pPr>
            <a:r>
              <a:rPr sz="1800" b="0">
                <a:solidFill>
                  <a:srgbClr val="3D2C2C"/>
                </a:solidFill>
                <a:latin typeface="Microsoft YaHei"/>
                <a:ea typeface="Microsoft YaHei"/>
              </a:rPr>
              <a:t>C++的std::sort：introsort（快速+堆+插入混合），平均最快且避免最坏情况。</a:t>
            </a:r>
          </a:p>
          <a:p>
            <a:pPr>
              <a:spcBef>
                <a:spcPts val="1000"/>
              </a:spcBef>
              <a:spcAft>
                <a:spcPts val="500"/>
              </a:spcAft>
            </a:pPr>
            <a:r>
              <a:rPr sz="1800" b="0">
                <a:solidFill>
                  <a:srgbClr val="3D2C2C"/>
                </a:solidFill>
                <a:latin typeface="Microsoft YaHei"/>
                <a:ea typeface="Microsoft YaHei"/>
              </a:rPr>
              <a:t>数据库ORDER BY：通常使用归并排序或外部排序，因为需要稳定性和处理大规模磁盘数据。</a:t>
            </a:r>
          </a:p>
          <a:p>
            <a:pPr>
              <a:spcBef>
                <a:spcPts val="1000"/>
              </a:spcBef>
              <a:spcAft>
                <a:spcPts val="500"/>
              </a:spcAft>
            </a:pPr>
            <a:r>
              <a:rPr sz="1800" b="0">
                <a:solidFill>
                  <a:srgbClr val="3D2C2C"/>
                </a:solidFill>
                <a:latin typeface="Microsoft YaHei"/>
                <a:ea typeface="Microsoft YaHei"/>
              </a:rPr>
              <a:t>大数据场景：使用分布式排序（MapReduce中的归并思想）或基数排序对键进行分桶。</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第5章 排序算法总结与选型</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排序算法选型决策流程</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第一步：判断数据量——n&lt;1000可选用O(n²)简单排序，实现简单且常数小。</a:t>
            </a:r>
          </a:p>
          <a:p>
            <a:pPr>
              <a:spcBef>
                <a:spcPts val="1000"/>
              </a:spcBef>
              <a:spcAft>
                <a:spcPts val="500"/>
              </a:spcAft>
            </a:pPr>
            <a:r>
              <a:rPr sz="1800" b="0">
                <a:solidFill>
                  <a:srgbClr val="3D2C2C"/>
                </a:solidFill>
                <a:latin typeface="Microsoft YaHei"/>
                <a:ea typeface="Microsoft YaHei"/>
              </a:rPr>
              <a:t>第二步：检查稳定性需求——若需要稳定排序，优先考虑归并、插入、TimSort或计数/基数。</a:t>
            </a:r>
          </a:p>
          <a:p>
            <a:pPr>
              <a:spcBef>
                <a:spcPts val="1000"/>
              </a:spcBef>
              <a:spcAft>
                <a:spcPts val="500"/>
              </a:spcAft>
            </a:pPr>
            <a:r>
              <a:rPr sz="1800" b="0">
                <a:solidFill>
                  <a:srgbClr val="3D2C2C"/>
                </a:solidFill>
                <a:latin typeface="Microsoft YaHei"/>
                <a:ea typeface="Microsoft YaHei"/>
              </a:rPr>
              <a:t>第三步：评估数据范围——整数且范围有限时，计数排序或基数排序可达到线性时间。</a:t>
            </a:r>
          </a:p>
          <a:p>
            <a:pPr>
              <a:spcBef>
                <a:spcPts val="1000"/>
              </a:spcBef>
              <a:spcAft>
                <a:spcPts val="500"/>
              </a:spcAft>
            </a:pPr>
            <a:r>
              <a:rPr sz="1800" b="0">
                <a:solidFill>
                  <a:srgbClr val="3D2C2C"/>
                </a:solidFill>
                <a:latin typeface="Microsoft YaHei"/>
                <a:ea typeface="Microsoft YaHei"/>
              </a:rPr>
              <a:t>第四步：考虑空间约束——内存紧张时选用原地排序（快排、堆排），否则可用归并。</a:t>
            </a:r>
          </a:p>
          <a:p>
            <a:pPr>
              <a:spcBef>
                <a:spcPts val="1000"/>
              </a:spcBef>
              <a:spcAft>
                <a:spcPts val="500"/>
              </a:spcAft>
            </a:pPr>
            <a:r>
              <a:rPr sz="1800" b="0">
                <a:solidFill>
                  <a:srgbClr val="3D2C2C"/>
                </a:solidFill>
                <a:latin typeface="Microsoft YaHei"/>
                <a:ea typeface="Microsoft YaHei"/>
              </a:rPr>
              <a:t>第五步：检验最坏情况——对实时系统或安全场景，避免快排退化，用堆排或归并保证O(n log n)。</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第5章 排序算法总结与选型</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3" name="Rectangle 42"/>
          <p:cNvSpPr/>
          <p:nvPr/>
        </p:nvSpPr>
        <p:spPr>
          <a:xfrm>
            <a:off x="0" y="0"/>
            <a:ext cx="12191695" cy="6858000"/>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286000" y="365760"/>
            <a:ext cx="7589520" cy="9144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0" y="411480"/>
            <a:ext cx="7589520" cy="822960"/>
          </a:xfrm>
          <a:prstGeom prst="rect">
            <a:avLst/>
          </a:prstGeom>
          <a:noFill/>
        </p:spPr>
        <p:txBody>
          <a:bodyPr wrap="none">
            <a:spAutoFit/>
          </a:bodyPr>
          <a:lstStyle/>
          <a:p>
            <a:pPr algn="ctr"/>
            <a:r>
              <a:rPr sz="3000" b="1">
                <a:solidFill>
                  <a:srgbClr val="FFFFFF"/>
                </a:solidFill>
                <a:latin typeface="Microsoft YaHei"/>
                <a:ea typeface="Microsoft YaHei"/>
              </a:rPr>
              <a:t>本章总结：排序算法选型要点</a:t>
            </a:r>
          </a:p>
        </p:txBody>
      </p:sp>
      <p:sp>
        <p:nvSpPr>
          <p:cNvPr id="46" name="Rounded Rectangle 45"/>
          <p:cNvSpPr/>
          <p:nvPr/>
        </p:nvSpPr>
        <p:spPr>
          <a:xfrm>
            <a:off x="1828800" y="146304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97280" y="150876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7007" y="1618488"/>
            <a:ext cx="329184" cy="329184"/>
          </a:xfrm>
          <a:prstGeom prst="rect">
            <a:avLst/>
          </a:prstGeom>
          <a:noFill/>
        </p:spPr>
        <p:txBody>
          <a:bodyPr wrap="square">
            <a:spAutoFit/>
          </a:bodyPr>
          <a:lstStyle/>
          <a:p>
            <a:pPr algn="ctr"/>
            <a:r>
              <a:rPr sz="2400" b="1">
                <a:solidFill>
                  <a:srgbClr val="FFFFFF"/>
                </a:solidFill>
              </a:rPr>
              <a:t>💡</a:t>
            </a:r>
          </a:p>
        </p:txBody>
      </p:sp>
      <p:sp>
        <p:nvSpPr>
          <p:cNvPr id="49" name="TextBox 48"/>
          <p:cNvSpPr txBox="1"/>
          <p:nvPr/>
        </p:nvSpPr>
        <p:spPr>
          <a:xfrm>
            <a:off x="2103120" y="1554480"/>
            <a:ext cx="8046720" cy="640080"/>
          </a:xfrm>
          <a:prstGeom prst="rect">
            <a:avLst/>
          </a:prstGeom>
          <a:noFill/>
        </p:spPr>
        <p:txBody>
          <a:bodyPr wrap="square">
            <a:spAutoFit/>
          </a:bodyPr>
          <a:lstStyle/>
          <a:p>
            <a:pPr algn="l"/>
            <a:r>
              <a:rPr sz="1800" b="0">
                <a:solidFill>
                  <a:srgbClr val="3D2C2C"/>
                </a:solidFill>
                <a:latin typeface="Microsoft YaHei"/>
                <a:ea typeface="Microsoft YaHei"/>
              </a:rPr>
              <a:t>稳定性：稳定算法保留相等元素的原始顺序，适用于多关键字排序场景。</a:t>
            </a:r>
          </a:p>
        </p:txBody>
      </p:sp>
      <p:sp>
        <p:nvSpPr>
          <p:cNvPr id="50" name="Rounded Rectangle 49"/>
          <p:cNvSpPr/>
          <p:nvPr/>
        </p:nvSpPr>
        <p:spPr>
          <a:xfrm>
            <a:off x="1828800" y="242316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97280" y="246888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7007" y="2578608"/>
            <a:ext cx="329184" cy="329184"/>
          </a:xfrm>
          <a:prstGeom prst="rect">
            <a:avLst/>
          </a:prstGeom>
          <a:noFill/>
        </p:spPr>
        <p:txBody>
          <a:bodyPr wrap="square">
            <a:spAutoFit/>
          </a:bodyPr>
          <a:lstStyle/>
          <a:p>
            <a:pPr algn="ctr"/>
            <a:r>
              <a:rPr sz="2400" b="1">
                <a:solidFill>
                  <a:srgbClr val="FFFFFF"/>
                </a:solidFill>
              </a:rPr>
              <a:t>✓</a:t>
            </a:r>
          </a:p>
        </p:txBody>
      </p:sp>
      <p:sp>
        <p:nvSpPr>
          <p:cNvPr id="53" name="TextBox 52"/>
          <p:cNvSpPr txBox="1"/>
          <p:nvPr/>
        </p:nvSpPr>
        <p:spPr>
          <a:xfrm>
            <a:off x="2103120" y="2514600"/>
            <a:ext cx="8046720" cy="640080"/>
          </a:xfrm>
          <a:prstGeom prst="rect">
            <a:avLst/>
          </a:prstGeom>
          <a:noFill/>
        </p:spPr>
        <p:txBody>
          <a:bodyPr wrap="square">
            <a:spAutoFit/>
          </a:bodyPr>
          <a:lstStyle/>
          <a:p>
            <a:pPr algn="l"/>
            <a:r>
              <a:rPr sz="1800" b="0">
                <a:solidFill>
                  <a:srgbClr val="3D2C2C"/>
                </a:solidFill>
                <a:latin typeface="Microsoft YaHei"/>
                <a:ea typeface="Microsoft YaHei"/>
              </a:rPr>
              <a:t>时间复杂度：O(n²)适合小数据，O(n log n)通用，线性时间排序需满足数据范围要求。</a:t>
            </a:r>
          </a:p>
        </p:txBody>
      </p:sp>
      <p:sp>
        <p:nvSpPr>
          <p:cNvPr id="54" name="Rounded Rectangle 53"/>
          <p:cNvSpPr/>
          <p:nvPr/>
        </p:nvSpPr>
        <p:spPr>
          <a:xfrm>
            <a:off x="1828800" y="3383280"/>
            <a:ext cx="8503920" cy="822960"/>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7280" y="342900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07007" y="3538728"/>
            <a:ext cx="329184" cy="329184"/>
          </a:xfrm>
          <a:prstGeom prst="rect">
            <a:avLst/>
          </a:prstGeom>
          <a:noFill/>
        </p:spPr>
        <p:txBody>
          <a:bodyPr wrap="square">
            <a:spAutoFit/>
          </a:bodyPr>
          <a:lstStyle/>
          <a:p>
            <a:pPr algn="ctr"/>
            <a:r>
              <a:rPr sz="2400" b="1">
                <a:solidFill>
                  <a:srgbClr val="FFFFFF"/>
                </a:solidFill>
              </a:rPr>
              <a:t>★</a:t>
            </a:r>
          </a:p>
        </p:txBody>
      </p:sp>
      <p:sp>
        <p:nvSpPr>
          <p:cNvPr id="57" name="TextBox 56"/>
          <p:cNvSpPr txBox="1"/>
          <p:nvPr/>
        </p:nvSpPr>
        <p:spPr>
          <a:xfrm>
            <a:off x="2103120" y="3474720"/>
            <a:ext cx="8046720" cy="640080"/>
          </a:xfrm>
          <a:prstGeom prst="rect">
            <a:avLst/>
          </a:prstGeom>
          <a:noFill/>
        </p:spPr>
        <p:txBody>
          <a:bodyPr wrap="square">
            <a:spAutoFit/>
          </a:bodyPr>
          <a:lstStyle/>
          <a:p>
            <a:pPr algn="l"/>
            <a:r>
              <a:rPr sz="1800" b="0">
                <a:solidFill>
                  <a:srgbClr val="3D2C2C"/>
                </a:solidFill>
                <a:latin typeface="Microsoft YaHei"/>
                <a:ea typeface="Microsoft YaHei"/>
              </a:rPr>
              <a:t>空间复杂度：原地排序节省内存，非原地排序可能占用额外空间但更稳定或高效。</a:t>
            </a:r>
          </a:p>
        </p:txBody>
      </p:sp>
      <p:sp>
        <p:nvSpPr>
          <p:cNvPr id="58" name="Rounded Rectangle 57"/>
          <p:cNvSpPr/>
          <p:nvPr/>
        </p:nvSpPr>
        <p:spPr>
          <a:xfrm>
            <a:off x="1828800" y="434340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97280" y="438912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07007" y="4498848"/>
            <a:ext cx="329184" cy="329184"/>
          </a:xfrm>
          <a:prstGeom prst="rect">
            <a:avLst/>
          </a:prstGeom>
          <a:noFill/>
        </p:spPr>
        <p:txBody>
          <a:bodyPr wrap="square">
            <a:spAutoFit/>
          </a:bodyPr>
          <a:lstStyle/>
          <a:p>
            <a:pPr algn="ctr"/>
            <a:r>
              <a:rPr sz="2400" b="1">
                <a:solidFill>
                  <a:srgbClr val="FFFFFF"/>
                </a:solidFill>
              </a:rPr>
              <a:t>⚙</a:t>
            </a:r>
          </a:p>
        </p:txBody>
      </p:sp>
      <p:sp>
        <p:nvSpPr>
          <p:cNvPr id="61" name="TextBox 60"/>
          <p:cNvSpPr txBox="1"/>
          <p:nvPr/>
        </p:nvSpPr>
        <p:spPr>
          <a:xfrm>
            <a:off x="2103120" y="4434840"/>
            <a:ext cx="8046720" cy="640080"/>
          </a:xfrm>
          <a:prstGeom prst="rect">
            <a:avLst/>
          </a:prstGeom>
          <a:noFill/>
        </p:spPr>
        <p:txBody>
          <a:bodyPr wrap="square">
            <a:spAutoFit/>
          </a:bodyPr>
          <a:lstStyle/>
          <a:p>
            <a:pPr algn="l"/>
            <a:r>
              <a:rPr sz="1800" b="0">
                <a:solidFill>
                  <a:srgbClr val="3D2C2C"/>
                </a:solidFill>
                <a:latin typeface="Microsoft YaHei"/>
                <a:ea typeface="Microsoft YaHei"/>
              </a:rPr>
              <a:t>实际工程常采用混合策略（如TimSort、introsort）来兼顾速度与稳定性。</a:t>
            </a:r>
          </a:p>
        </p:txBody>
      </p:sp>
      <p:sp>
        <p:nvSpPr>
          <p:cNvPr id="62" name="Rounded Rectangle 61"/>
          <p:cNvSpPr/>
          <p:nvPr/>
        </p:nvSpPr>
        <p:spPr>
          <a:xfrm>
            <a:off x="1828800" y="530352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97280" y="534924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07007" y="5458968"/>
            <a:ext cx="329184" cy="329184"/>
          </a:xfrm>
          <a:prstGeom prst="rect">
            <a:avLst/>
          </a:prstGeom>
          <a:noFill/>
        </p:spPr>
        <p:txBody>
          <a:bodyPr wrap="square">
            <a:spAutoFit/>
          </a:bodyPr>
          <a:lstStyle/>
          <a:p>
            <a:pPr algn="ctr"/>
            <a:r>
              <a:rPr sz="2400" b="1">
                <a:solidFill>
                  <a:srgbClr val="FFFFFF"/>
                </a:solidFill>
              </a:rPr>
              <a:t>♥</a:t>
            </a:r>
          </a:p>
        </p:txBody>
      </p:sp>
      <p:sp>
        <p:nvSpPr>
          <p:cNvPr id="65" name="TextBox 64"/>
          <p:cNvSpPr txBox="1"/>
          <p:nvPr/>
        </p:nvSpPr>
        <p:spPr>
          <a:xfrm>
            <a:off x="2103120" y="5394960"/>
            <a:ext cx="8046720" cy="640080"/>
          </a:xfrm>
          <a:prstGeom prst="rect">
            <a:avLst/>
          </a:prstGeom>
          <a:noFill/>
        </p:spPr>
        <p:txBody>
          <a:bodyPr wrap="square">
            <a:spAutoFit/>
          </a:bodyPr>
          <a:lstStyle/>
          <a:p>
            <a:pPr algn="l"/>
            <a:r>
              <a:rPr sz="1800" b="0">
                <a:solidFill>
                  <a:srgbClr val="3D2C2C"/>
                </a:solidFill>
                <a:latin typeface="Microsoft YaHei"/>
                <a:ea typeface="Microsoft YaHei"/>
              </a:rPr>
              <a:t>选型决策：根据数据量、稳定性、数据范围、空间和最坏情况五个维度综合判断。</a:t>
            </a:r>
          </a:p>
        </p:txBody>
      </p:sp>
      <p:sp>
        <p:nvSpPr>
          <p:cNvPr id="66" name="Rounded Rectangle 65"/>
          <p:cNvSpPr/>
          <p:nvPr/>
        </p:nvSpPr>
        <p:spPr>
          <a:xfrm>
            <a:off x="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57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14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371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828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2286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2743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200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3657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114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572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029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486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5943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400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858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315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7772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8229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686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9144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9601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10058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10515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10972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11430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11887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第5章 排序算法总结与选型</a:t>
            </a:r>
          </a:p>
        </p:txBody>
      </p:sp>
      <p:sp>
        <p:nvSpPr>
          <p:cNvPr id="94" name="TextBox 9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