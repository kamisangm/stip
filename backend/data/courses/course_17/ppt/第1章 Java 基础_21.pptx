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我们先来看第一个知识点：变量与数据类型。Java是一门强类型语言，这意味着每一个变量在声明时必须指定它的数据类型，而且一旦确定就不能随意更改。Java提供了8种基本数据类型，分为四组：整型、浮点型、字符型和布尔型。整型有byte、short、int、long，其中int最常用，范围大约是-21亿到21亿，足够表示多数整数。浮点型有float和double，double精度更高，一般推荐使用double。char用来表示单个字符，用单引号包裹。boolean只有true和false两个值。变量名要遵循标识符规则，比如不能以数字开头，建议使用驼峰命名法。请看屏幕上的示例：int age = 25; 这就是在为变量赋初值。大家可以在自己的IDE里尝试声明几个变量。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了解了基本类型后，我们来对比一下基本类型和引用类型。基本类型是Java中最简单的数据类型，它们直接存储数值，比如存一个整数int 100，内存里就直接放100。而引用类型存储的是一个指向堆内存对象的引用，类似于一个地址。比如String name = 'Java'，变量name里存的是那个字符串对象的地址。基本类型的比较用==会直接比较数值，而引用类型的==比较的是地址，通常我们需要用equals()来比较内容。大家以后会经常用到String，它虽然是引用类型，但有些特殊用法，我们后面会详细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接下来我们学习运算符与表达式。运算符是程序中对数据进行操作的基本符号。算术运算符有加减乘除和取余，取余%非常有用，比如判断一个数是不是偶数：num % 2 == 0。关系运算符用于比较两个值，结果是一个布尔值。逻辑运算符&amp;&amp;和||有短路特性，比如a &amp;&amp; b，如果a为false，就不再计算b，这可以避免一些潜在错误。赋值运算符除了基本的=，还有+=这样的复合赋值，写起来更简洁。最后一个是三元运算符，它像一个紧凑的if-else，比如求两个数的最大值，一行代码就能搞定。大家要注意运算符的优先级，比如乘除高于加减，可以用括号改变顺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控制流程语句让程序能够根据不同的情况执行不同的代码分支。最常用的是if-else。比如判断成绩是否及格，如果大于等于60分输出及格，否则输出不及格。当有多个分支时可以用else if。对于固定几个值的判断，switch-case更清晰，比如根据星期几做不同操作。使用switch时一定要注意在每个case末尾加上break，否则会执行到下一个case，这叫‘穿透’。Java 7之后switch支持String，非常方便。大家动手写一个根据用户输入月份输出天数的程序，体会一下条件分支的用法。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循环是重复执行一段代码的利器。for循环是最常用的，它把初始化、条件判断和步进写在一行，语法紧凑。比如计算1加到100，用for循环非常直观。while循环适合那种我们不知道具体要执行多少次的情况，比如一直输入直到用户输入quit。do-while保证至少执行一次，比如菜单显示至少显示一次。break和continue两个关键字也很重要：break直接跳出循环，continue是跳过当前次循环剩下的代码，进入下一次。注意不要滥用break，否则程序逻辑难以理解。大家可以尝试用for循环打印九九乘法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最后一个知识点是数组。数组是一种用来存储多个同类型数据的容器。比如存储一个班级学生的成绩，就可以用int[] scores。声明数组有两种方式：一种是new指定长度，另一种是直接初始化。注意索引从0开始，如果访问索引超出范围，程序会报错。数组有一个length属性，代表长度。遍历数组最常用的是for循环，或者使用增强for循环，语法更简洁。多维数组其实就是数组的数组，比如二维数组可以表示矩阵。数组一旦创建长度就不能改变，如果我们需要动态调整大小，后面会学到集合ArrayList。现在请大家写一段代码，创建一个整型数组，用循环计算所有元素的和并打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好了，我们本章的内容就到这里。我们学习了变量与数据类型，知道了基本类型和引用类型的区别。掌握了各种运算符的用法，特别是取余、短路逻辑和三元运算符。控制流程方面，条件分支和循环结构是程序逻辑的核心。最后数组让我们能处理一组数据。课后思考题是综合运用这些知识：输入10个整数，找出最大值和最小值，并计算平均值。大家可以尝试用多种方法实现，比如使用数组存储并用for循环遍历。下一章我们将深入学习面向对象编程，敬请期待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sp>
        <p:nvSpPr>
          <p:cNvPr id="42" name="Rectangle 41"/>
          <p:cNvSpPr/>
          <p:nvPr/>
        </p:nvSpPr>
        <p:spPr>
          <a:xfrm>
            <a:off x="0" y="0"/>
            <a:ext cx="12191695" cy="1828800"/>
          </a:xfrm>
          <a:prstGeom prst="rect">
            <a:avLst/>
          </a:prstGeom>
          <a:solidFill>
            <a:srgbClr val="FFB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Pr/>
      <p:sp>
        <p:nvSpPr>
          <p:cNvPr id="2" name="Rectangle 1"/>
          <p:cNvSpPr/>
          <p:nvPr/>
        </p:nvSpPr>
        <p:spPr>
          <a:xfrm>
            <a:off x="0" y="0"/>
            <a:ext cx="12191695" cy="180594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56773880000"/>
            <a:ext cx="12191695" cy="180594"/>
          </a:xfrm>
          <a:prstGeom prst="rect">
            <a:avLst/>
          </a:prstGeom>
          <a:solidFill>
            <a:srgbClr val="FF8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13547760000"/>
            <a:ext cx="12191695" cy="180594"/>
          </a:xfrm>
          <a:prstGeom prst="rect">
            <a:avLst/>
          </a:prstGeom>
          <a:solidFill>
            <a:srgbClr val="FF9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470321640000"/>
            <a:ext cx="12191695" cy="180594"/>
          </a:xfrm>
          <a:prstGeom prst="rect">
            <a:avLst/>
          </a:prstGeom>
          <a:solidFill>
            <a:srgbClr val="FF92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27095520000"/>
            <a:ext cx="12191695" cy="180594"/>
          </a:xfrm>
          <a:prstGeom prst="rect">
            <a:avLst/>
          </a:prstGeom>
          <a:solidFill>
            <a:srgbClr val="FF95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783869400000"/>
            <a:ext cx="12191695" cy="180594"/>
          </a:xfrm>
          <a:prstGeom prst="rect">
            <a:avLst/>
          </a:prstGeom>
          <a:solidFill>
            <a:srgbClr val="FF9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940643280000"/>
            <a:ext cx="12191695" cy="180594"/>
          </a:xfrm>
          <a:prstGeom prst="rect">
            <a:avLst/>
          </a:prstGeom>
          <a:solidFill>
            <a:srgbClr val="FF99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1097417160000"/>
            <a:ext cx="12191695" cy="180594"/>
          </a:xfrm>
          <a:prstGeom prst="rect">
            <a:avLst/>
          </a:prstGeom>
          <a:solidFill>
            <a:srgbClr val="FF9C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1254191040000"/>
            <a:ext cx="12191695" cy="180594"/>
          </a:xfrm>
          <a:prstGeom prst="rect">
            <a:avLst/>
          </a:prstGeom>
          <a:solidFill>
            <a:srgbClr val="FF9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1410964920000"/>
            <a:ext cx="12191695" cy="180594"/>
          </a:xfrm>
          <a:prstGeom prst="rect">
            <a:avLst/>
          </a:prstGeom>
          <a:solidFill>
            <a:srgbClr val="FFA0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1567738800000"/>
            <a:ext cx="12191695" cy="180594"/>
          </a:xfrm>
          <a:prstGeom prst="rect">
            <a:avLst/>
          </a:prstGeom>
          <a:solidFill>
            <a:srgbClr val="FFA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1724512680000"/>
            <a:ext cx="12191695" cy="180594"/>
          </a:xfrm>
          <a:prstGeom prst="rect">
            <a:avLst/>
          </a:prstGeom>
          <a:solidFill>
            <a:srgbClr val="FFA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1881286560000"/>
            <a:ext cx="12191695" cy="180594"/>
          </a:xfrm>
          <a:prstGeom prst="rect">
            <a:avLst/>
          </a:prstGeom>
          <a:solidFill>
            <a:srgbClr val="FFA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2038060440000"/>
            <a:ext cx="12191695" cy="180594"/>
          </a:xfrm>
          <a:prstGeom prst="rect">
            <a:avLst/>
          </a:prstGeom>
          <a:solidFill>
            <a:srgbClr val="FFA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2194834320000"/>
            <a:ext cx="12191695" cy="180594"/>
          </a:xfrm>
          <a:prstGeom prst="rect">
            <a:avLst/>
          </a:prstGeom>
          <a:solidFill>
            <a:srgbClr val="FFAC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2351608200000"/>
            <a:ext cx="12191695" cy="180594"/>
          </a:xfrm>
          <a:prstGeom prst="rect">
            <a:avLst/>
          </a:prstGeom>
          <a:solidFill>
            <a:srgbClr val="FFA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2508382080000"/>
            <a:ext cx="12191695" cy="180594"/>
          </a:xfrm>
          <a:prstGeom prst="rect">
            <a:avLst/>
          </a:prstGeom>
          <a:solidFill>
            <a:srgbClr val="FFB0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2665155960000"/>
            <a:ext cx="12191695" cy="180594"/>
          </a:xfrm>
          <a:prstGeom prst="rect">
            <a:avLst/>
          </a:prstGeom>
          <a:solidFill>
            <a:srgbClr val="FFB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2821929840000"/>
            <a:ext cx="12191695" cy="180594"/>
          </a:xfrm>
          <a:prstGeom prst="rect">
            <a:avLst/>
          </a:prstGeom>
          <a:solidFill>
            <a:srgbClr val="FFB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2978703720000"/>
            <a:ext cx="12191695" cy="180594"/>
          </a:xfrm>
          <a:prstGeom prst="rect">
            <a:avLst/>
          </a:prstGeom>
          <a:solidFill>
            <a:srgbClr val="FFB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3135477600000"/>
            <a:ext cx="12191695" cy="180594"/>
          </a:xfrm>
          <a:prstGeom prst="rect">
            <a:avLst/>
          </a:prstGeom>
          <a:solidFill>
            <a:srgbClr val="FFB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3292251480000"/>
            <a:ext cx="12191695" cy="180594"/>
          </a:xfrm>
          <a:prstGeom prst="rect">
            <a:avLst/>
          </a:prstGeom>
          <a:solidFill>
            <a:srgbClr val="FFB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3449025360000"/>
            <a:ext cx="12191695" cy="180594"/>
          </a:xfrm>
          <a:prstGeom prst="rect">
            <a:avLst/>
          </a:prstGeom>
          <a:solidFill>
            <a:srgbClr val="FFB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3605799240000"/>
            <a:ext cx="12191695" cy="180594"/>
          </a:xfrm>
          <a:prstGeom prst="rect">
            <a:avLst/>
          </a:prstGeom>
          <a:solidFill>
            <a:srgbClr val="FFC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0" y="3762573120000"/>
            <a:ext cx="12191695" cy="180594"/>
          </a:xfrm>
          <a:prstGeom prst="rect">
            <a:avLst/>
          </a:prstGeom>
          <a:solidFill>
            <a:srgbClr val="FFC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3919347000000"/>
            <a:ext cx="12191695" cy="180594"/>
          </a:xfrm>
          <a:prstGeom prst="rect">
            <a:avLst/>
          </a:prstGeom>
          <a:solidFill>
            <a:srgbClr val="FFC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4076120880000"/>
            <a:ext cx="12191695" cy="180594"/>
          </a:xfrm>
          <a:prstGeom prst="rect">
            <a:avLst/>
          </a:prstGeom>
          <a:solidFill>
            <a:srgbClr val="FFC8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0" y="4232894760000"/>
            <a:ext cx="12191695" cy="180594"/>
          </a:xfrm>
          <a:prstGeom prst="rect">
            <a:avLst/>
          </a:prstGeom>
          <a:solidFill>
            <a:srgbClr val="FFC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0" y="4389668640000"/>
            <a:ext cx="12191695" cy="180594"/>
          </a:xfrm>
          <a:prstGeom prst="rect">
            <a:avLst/>
          </a:prstGeom>
          <a:solidFill>
            <a:srgbClr val="FFC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0" y="4546442520000"/>
            <a:ext cx="12191695" cy="180594"/>
          </a:xfrm>
          <a:prstGeom prst="rect">
            <a:avLst/>
          </a:prstGeom>
          <a:solidFill>
            <a:srgbClr val="FFCE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0" y="4703216400000"/>
            <a:ext cx="12191695" cy="180594"/>
          </a:xfrm>
          <a:prstGeom prst="rect">
            <a:avLst/>
          </a:prstGeom>
          <a:solidFill>
            <a:srgbClr val="FFD1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0" y="4859990280000"/>
            <a:ext cx="12191695" cy="180594"/>
          </a:xfrm>
          <a:prstGeom prst="rect">
            <a:avLst/>
          </a:prstGeom>
          <a:solidFill>
            <a:srgbClr val="FFD3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0" y="5016764160000"/>
            <a:ext cx="12191695" cy="180594"/>
          </a:xfrm>
          <a:prstGeom prst="rect">
            <a:avLst/>
          </a:prstGeom>
          <a:solidFill>
            <a:srgbClr val="FFD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0" y="5173538040000"/>
            <a:ext cx="12191695" cy="180594"/>
          </a:xfrm>
          <a:prstGeom prst="rect">
            <a:avLst/>
          </a:prstGeom>
          <a:solidFill>
            <a:srgbClr val="FFD8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5330311920000"/>
            <a:ext cx="12191695" cy="180594"/>
          </a:xfrm>
          <a:prstGeom prst="rect">
            <a:avLst/>
          </a:prstGeom>
          <a:solidFill>
            <a:srgbClr val="FFDA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5487085800000"/>
            <a:ext cx="12191695" cy="180594"/>
          </a:xfrm>
          <a:prstGeom prst="rect">
            <a:avLst/>
          </a:prstGeom>
          <a:solidFill>
            <a:srgbClr val="FFDC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0" y="5643859680000"/>
            <a:ext cx="12191695" cy="180594"/>
          </a:xfrm>
          <a:prstGeom prst="rect">
            <a:avLst/>
          </a:prstGeom>
          <a:solidFill>
            <a:srgbClr val="FFDF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0" y="5800633560000"/>
            <a:ext cx="12191695" cy="180594"/>
          </a:xfrm>
          <a:prstGeom prst="rect">
            <a:avLst/>
          </a:prstGeom>
          <a:solidFill>
            <a:srgbClr val="FFE1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0" y="5957407440000"/>
            <a:ext cx="12191695" cy="180594"/>
          </a:xfrm>
          <a:prstGeom prst="rect">
            <a:avLst/>
          </a:prstGeom>
          <a:solidFill>
            <a:srgbClr val="FFE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0" y="6114181320000"/>
            <a:ext cx="12191695" cy="180594"/>
          </a:xfrm>
          <a:prstGeom prst="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7772400" y="-914400"/>
            <a:ext cx="4572000" cy="4572000"/>
          </a:xfrm>
          <a:prstGeom prst="ellipse">
            <a:avLst/>
          </a:prstGeom>
          <a:solidFill>
            <a:srgbClr val="FFB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-914400" y="4114800"/>
            <a:ext cx="3200400" cy="3200400"/>
          </a:xfrm>
          <a:prstGeom prst="ellipse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6400800" y="2743200"/>
            <a:ext cx="1828800" cy="1828800"/>
          </a:xfrm>
          <a:prstGeom prst="ellipse">
            <a:avLst/>
          </a:prstGeom>
          <a:solidFill>
            <a:srgbClr val="7EF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914400" y="1645920"/>
            <a:ext cx="10332720" cy="2286000"/>
          </a:xfrm>
          <a:prstGeom prst="round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188720" y="1920240"/>
            <a:ext cx="97840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FFFFFF"/>
                </a:solidFill>
                <a:latin typeface="Microsoft YaHei"/>
                <a:ea typeface="Microsoft YaHei"/>
              </a:rPr>
              <a:t>Java编程基础：从变量到数组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14400" y="438912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2A9D8F"/>
                </a:solidFill>
                <a:latin typeface="Microsoft YaHei"/>
                <a:ea typeface="Microsoft YaHei"/>
              </a:rPr>
              <a:t>第1章 Java 基础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0" y="606247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457200" y="603504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914400" y="606247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1371600" y="603504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1828800" y="606247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2286000" y="603504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2743200" y="606247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3200400" y="603504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3657600" y="606247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4114800" y="603504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4572000" y="606247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5029200" y="603504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5486400" y="606247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5943600" y="603504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6400800" y="606247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6858000" y="603504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7315200" y="606247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7772400" y="603504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8229600" y="606247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8686800" y="603504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9144000" y="606247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ounded Rectangle 69"/>
          <p:cNvSpPr/>
          <p:nvPr/>
        </p:nvSpPr>
        <p:spPr>
          <a:xfrm>
            <a:off x="9601200" y="603504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10058400" y="606247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10515600" y="603504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ounded Rectangle 72"/>
          <p:cNvSpPr/>
          <p:nvPr/>
        </p:nvSpPr>
        <p:spPr>
          <a:xfrm>
            <a:off x="10972800" y="606247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11430000" y="603504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11887200" y="606247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1371600" y="5852160"/>
            <a:ext cx="9418320" cy="13716"/>
          </a:xfrm>
          <a:prstGeom prst="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371600" y="5943600"/>
            <a:ext cx="9418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FFE66D"/>
                </a:solidFill>
                <a:latin typeface="Microsoft YaHei"/>
                <a:ea typeface="Microsoft YaHei"/>
              </a:rPr>
              <a:t>第1章 Java 基础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  <a:ea typeface="Microsoft YaHei"/>
              </a:rPr>
              <a:t>1.1 变量与数据类型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371600"/>
            <a:ext cx="54864" cy="22860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691640"/>
            <a:ext cx="54864" cy="228600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011680"/>
            <a:ext cx="54864" cy="228600"/>
          </a:xfrm>
          <a:prstGeom prst="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2331720"/>
            <a:ext cx="54864" cy="2286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430000" y="1371600"/>
            <a:ext cx="137160" cy="137160"/>
          </a:xfrm>
          <a:prstGeom prst="ellipse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430000" y="1737360"/>
            <a:ext cx="137160" cy="137160"/>
          </a:xfrm>
          <a:prstGeom prst="ellipse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430000" y="2103120"/>
            <a:ext cx="137160" cy="13716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88720" y="1508760"/>
            <a:ext cx="996696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EF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28800" y="1828800"/>
            <a:ext cx="89611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500"/>
              </a:spcAft>
            </a:pPr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Java是一种强类型语言，每个变量必须声明其数据类型，且类型在编译时确定。</a:t>
            </a:r>
          </a:p>
          <a:p>
            <a:pPr>
              <a:spcBef>
                <a:spcPts val="1000"/>
              </a:spcBef>
              <a:spcAft>
                <a:spcPts val="500"/>
              </a:spcAft>
            </a:pPr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基本数据类型共8种：整型（byte、short、int、long）、浮点型（float、double）、字符型（char）和布尔型（boolean）。</a:t>
            </a:r>
          </a:p>
          <a:p>
            <a:pPr>
              <a:spcBef>
                <a:spcPts val="1000"/>
              </a:spcBef>
              <a:spcAft>
                <a:spcPts val="500"/>
              </a:spcAft>
            </a:pPr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int是最常用的整数类型，占用4个字节，范围约-21亿到21亿；double是双精度浮点数，精度更高。</a:t>
            </a:r>
          </a:p>
          <a:p>
            <a:pPr>
              <a:spcBef>
                <a:spcPts val="1000"/>
              </a:spcBef>
              <a:spcAft>
                <a:spcPts val="500"/>
              </a:spcAft>
            </a:pPr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变量的命名需遵循标识符规则：字母、数字、下划线、美元符号组成，不能以数字开头，且区分大小写。</a:t>
            </a:r>
          </a:p>
          <a:p>
            <a:pPr>
              <a:spcBef>
                <a:spcPts val="1000"/>
              </a:spcBef>
              <a:spcAft>
                <a:spcPts val="500"/>
              </a:spcAft>
            </a:pPr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声明并初始化变量：int age = 25;  double salary = 12000.50;  char grade = 'A';  boolean isPass = true;</a:t>
            </a:r>
          </a:p>
        </p:txBody>
      </p:sp>
      <p:sp>
        <p:nvSpPr>
          <p:cNvPr id="13" name="Oval 12"/>
          <p:cNvSpPr/>
          <p:nvPr/>
        </p:nvSpPr>
        <p:spPr>
          <a:xfrm>
            <a:off x="1371600" y="1828800"/>
            <a:ext cx="411480" cy="41148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17320" y="1874519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5" name="Oval 14"/>
          <p:cNvSpPr/>
          <p:nvPr/>
        </p:nvSpPr>
        <p:spPr>
          <a:xfrm>
            <a:off x="1371600" y="2423160"/>
            <a:ext cx="411480" cy="41148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17320" y="2468879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Oval 16"/>
          <p:cNvSpPr/>
          <p:nvPr/>
        </p:nvSpPr>
        <p:spPr>
          <a:xfrm>
            <a:off x="1371600" y="3017520"/>
            <a:ext cx="411480" cy="41148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17320" y="3063239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Oval 18"/>
          <p:cNvSpPr/>
          <p:nvPr/>
        </p:nvSpPr>
        <p:spPr>
          <a:xfrm>
            <a:off x="1371600" y="3611880"/>
            <a:ext cx="411480" cy="41148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17320" y="3657600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1" name="Oval 20"/>
          <p:cNvSpPr/>
          <p:nvPr/>
        </p:nvSpPr>
        <p:spPr>
          <a:xfrm>
            <a:off x="1371600" y="4206240"/>
            <a:ext cx="411480" cy="41148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417320" y="4251959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3" name="Oval 22"/>
          <p:cNvSpPr/>
          <p:nvPr/>
        </p:nvSpPr>
        <p:spPr>
          <a:xfrm>
            <a:off x="10515600" y="5669280"/>
            <a:ext cx="731520" cy="73152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661904" y="5815584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8B7E7E"/>
                </a:solidFill>
                <a:latin typeface="Microsoft YaHei"/>
                <a:ea typeface="Microsoft YaHei"/>
              </a:rPr>
              <a:t>第1章 Java 基础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B7E7E"/>
                </a:solidFill>
                <a:latin typeface="Microsoft YaHei"/>
                <a:ea typeface="Microsoft YaHei"/>
              </a:rPr>
              <a:t>2 /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9601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YaHei"/>
                <a:ea typeface="Microsoft YaHei"/>
              </a:rPr>
              <a:t>数据类型对比：基本类型 vs 引用类型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188720"/>
            <a:ext cx="5486400" cy="4754880"/>
          </a:xfrm>
          <a:prstGeom prst="roundRect">
            <a:avLst/>
          </a:prstGeom>
          <a:solidFill>
            <a:srgbClr val="FFF5EB"/>
          </a:solidFill>
          <a:ln w="12700">
            <a:solidFill>
              <a:srgbClr val="FFBF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309360" y="1188720"/>
            <a:ext cx="5486400" cy="4754880"/>
          </a:xfrm>
          <a:prstGeom prst="roundRect">
            <a:avLst/>
          </a:prstGeom>
          <a:solidFill>
            <a:srgbClr val="E8F9F3"/>
          </a:solidFill>
          <a:ln w="12700">
            <a:solidFill>
              <a:srgbClr val="7EF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5486400" cy="54864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5120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</a:rPr>
              <a:t>基本类型（Primitive）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1188720"/>
            <a:ext cx="5486400" cy="548640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234440"/>
            <a:ext cx="5120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</a:rPr>
              <a:t>引用类型（Reference）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920240"/>
            <a:ext cx="49377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200" b="0">
                <a:solidFill>
                  <a:srgbClr val="FF8C42"/>
                </a:solidFill>
                <a:latin typeface="Microsoft YaHei"/>
                <a:ea typeface="Microsoft YaHei"/>
              </a:rPr>
              <a:t>● </a:t>
            </a:r>
            <a:r>
              <a:rPr sz="1600" b="0">
                <a:solidFill>
                  <a:srgbClr val="3D2C2C"/>
                </a:solidFill>
                <a:latin typeface="Microsoft YaHei"/>
                <a:ea typeface="Microsoft YaHei"/>
              </a:rPr>
              <a:t>存储的是数据的实际值，直接保存在栈内存中。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200" b="0">
                <a:solidFill>
                  <a:srgbClr val="FF8C42"/>
                </a:solidFill>
                <a:latin typeface="Microsoft YaHei"/>
                <a:ea typeface="Microsoft YaHei"/>
              </a:rPr>
              <a:t>● </a:t>
            </a:r>
            <a:r>
              <a:rPr sz="1600" b="0">
                <a:solidFill>
                  <a:srgbClr val="3D2C2C"/>
                </a:solidFill>
                <a:latin typeface="Microsoft YaHei"/>
                <a:ea typeface="Microsoft YaHei"/>
              </a:rPr>
              <a:t>包括byte、short、int、long、float、double、char、boolean。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200" b="0">
                <a:solidFill>
                  <a:srgbClr val="FF8C42"/>
                </a:solidFill>
                <a:latin typeface="Microsoft YaHei"/>
                <a:ea typeface="Microsoft YaHei"/>
              </a:rPr>
              <a:t>● </a:t>
            </a:r>
            <a:r>
              <a:rPr sz="1600" b="0">
                <a:solidFill>
                  <a:srgbClr val="3D2C2C"/>
                </a:solidFill>
                <a:latin typeface="Microsoft YaHei"/>
                <a:ea typeface="Microsoft YaHei"/>
              </a:rPr>
              <a:t>大小固定：int 4字节，double 8字节，boolean JVM依赖实现但通常1字节。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200" b="0">
                <a:solidFill>
                  <a:srgbClr val="FF8C42"/>
                </a:solidFill>
                <a:latin typeface="Microsoft YaHei"/>
                <a:ea typeface="Microsoft YaHei"/>
              </a:rPr>
              <a:t>● </a:t>
            </a:r>
            <a:r>
              <a:rPr sz="1600" b="0">
                <a:solidFill>
                  <a:srgbClr val="3D2C2C"/>
                </a:solidFill>
                <a:latin typeface="Microsoft YaHei"/>
                <a:ea typeface="Microsoft YaHei"/>
              </a:rPr>
              <a:t>比较时使用==直接比较值。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920240"/>
            <a:ext cx="49377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200" b="0">
                <a:solidFill>
                  <a:srgbClr val="4ECDC4"/>
                </a:solidFill>
                <a:latin typeface="Microsoft YaHei"/>
                <a:ea typeface="Microsoft YaHei"/>
              </a:rPr>
              <a:t>● </a:t>
            </a:r>
            <a:r>
              <a:rPr sz="1600" b="0">
                <a:solidFill>
                  <a:srgbClr val="3D2C2C"/>
                </a:solidFill>
                <a:latin typeface="Microsoft YaHei"/>
                <a:ea typeface="Microsoft YaHei"/>
              </a:rPr>
              <a:t>存储的是对象的内存地址（引用），对象本身在堆内存中。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200" b="0">
                <a:solidFill>
                  <a:srgbClr val="4ECDC4"/>
                </a:solidFill>
                <a:latin typeface="Microsoft YaHei"/>
                <a:ea typeface="Microsoft YaHei"/>
              </a:rPr>
              <a:t>● </a:t>
            </a:r>
            <a:r>
              <a:rPr sz="1600" b="0">
                <a:solidFill>
                  <a:srgbClr val="3D2C2C"/>
                </a:solidFill>
                <a:latin typeface="Microsoft YaHei"/>
                <a:ea typeface="Microsoft YaHei"/>
              </a:rPr>
              <a:t>包括类、接口、数组、枚举等，如String、ArrayList。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200" b="0">
                <a:solidFill>
                  <a:srgbClr val="4ECDC4"/>
                </a:solidFill>
                <a:latin typeface="Microsoft YaHei"/>
                <a:ea typeface="Microsoft YaHei"/>
              </a:rPr>
              <a:t>● </a:t>
            </a:r>
            <a:r>
              <a:rPr sz="1600" b="0">
                <a:solidFill>
                  <a:srgbClr val="3D2C2C"/>
                </a:solidFill>
                <a:latin typeface="Microsoft YaHei"/>
                <a:ea typeface="Microsoft YaHei"/>
              </a:rPr>
              <a:t>大小固定（引用地址），但指向的对象大小可变。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200" b="0">
                <a:solidFill>
                  <a:srgbClr val="4ECDC4"/>
                </a:solidFill>
                <a:latin typeface="Microsoft YaHei"/>
                <a:ea typeface="Microsoft YaHei"/>
              </a:rPr>
              <a:t>● </a:t>
            </a:r>
            <a:r>
              <a:rPr sz="1600" b="0">
                <a:solidFill>
                  <a:srgbClr val="3D2C2C"/>
                </a:solidFill>
                <a:latin typeface="Microsoft YaHei"/>
                <a:ea typeface="Microsoft YaHei"/>
              </a:rPr>
              <a:t>比较时使用equals()比较内容，==比较地址。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80760" y="1188720"/>
            <a:ext cx="73152" cy="4754880"/>
          </a:xfrm>
          <a:prstGeom prst="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8B7E7E"/>
                </a:solidFill>
                <a:latin typeface="Microsoft YaHei"/>
                <a:ea typeface="Microsoft YaHei"/>
              </a:rPr>
              <a:t>第1章 Java 基础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B7E7E"/>
                </a:solidFill>
                <a:latin typeface="Microsoft YaHei"/>
                <a:ea typeface="Microsoft YaHei"/>
              </a:rPr>
              <a:t>3 /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  <a:ea typeface="Microsoft YaHei"/>
              </a:rPr>
              <a:t>1.2 运算符与表达式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371600"/>
            <a:ext cx="54864" cy="22860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691640"/>
            <a:ext cx="54864" cy="228600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011680"/>
            <a:ext cx="54864" cy="228600"/>
          </a:xfrm>
          <a:prstGeom prst="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2331720"/>
            <a:ext cx="54864" cy="2286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430000" y="1371600"/>
            <a:ext cx="137160" cy="137160"/>
          </a:xfrm>
          <a:prstGeom prst="ellipse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430000" y="1737360"/>
            <a:ext cx="137160" cy="137160"/>
          </a:xfrm>
          <a:prstGeom prst="ellipse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430000" y="2103120"/>
            <a:ext cx="137160" cy="13716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88720" y="1508760"/>
            <a:ext cx="996696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EF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28800" y="1828800"/>
            <a:ext cx="89611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500"/>
              </a:spcAft>
            </a:pPr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算术运算符：+、-、*、/、%，其中%取余常用于判断奇偶或周期计算。</a:t>
            </a:r>
          </a:p>
          <a:p>
            <a:pPr>
              <a:spcBef>
                <a:spcPts val="1000"/>
              </a:spcBef>
              <a:spcAft>
                <a:spcPts val="500"/>
              </a:spcAft>
            </a:pPr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关系运算符：==、!=、&gt;、&lt;、&gt;=、&lt;=，返回布尔值true或false。</a:t>
            </a:r>
          </a:p>
          <a:p>
            <a:pPr>
              <a:spcBef>
                <a:spcPts val="1000"/>
              </a:spcBef>
              <a:spcAft>
                <a:spcPts val="500"/>
              </a:spcAft>
            </a:pPr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逻辑运算符：&amp;&amp;（短路与）、||（短路或）、!（非），用于组合多个条件。</a:t>
            </a:r>
          </a:p>
          <a:p>
            <a:pPr>
              <a:spcBef>
                <a:spcPts val="1000"/>
              </a:spcBef>
              <a:spcAft>
                <a:spcPts val="500"/>
              </a:spcAft>
            </a:pPr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赋值运算符：=以及复合赋值如+=、-=、*=等，如a += 5等价于a = a + 5。</a:t>
            </a:r>
          </a:p>
          <a:p>
            <a:pPr>
              <a:spcBef>
                <a:spcPts val="1000"/>
              </a:spcBef>
              <a:spcAft>
                <a:spcPts val="500"/>
              </a:spcAft>
            </a:pPr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三元运算符：条件 ? 表达式1 : 表达式2，可简化if-else，例如int max = a &gt; b ? a : b;</a:t>
            </a:r>
          </a:p>
        </p:txBody>
      </p:sp>
      <p:sp>
        <p:nvSpPr>
          <p:cNvPr id="13" name="Oval 12"/>
          <p:cNvSpPr/>
          <p:nvPr/>
        </p:nvSpPr>
        <p:spPr>
          <a:xfrm>
            <a:off x="1371600" y="1828800"/>
            <a:ext cx="411480" cy="41148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17320" y="1874519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5" name="Oval 14"/>
          <p:cNvSpPr/>
          <p:nvPr/>
        </p:nvSpPr>
        <p:spPr>
          <a:xfrm>
            <a:off x="1371600" y="2423160"/>
            <a:ext cx="411480" cy="41148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17320" y="2468879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Oval 16"/>
          <p:cNvSpPr/>
          <p:nvPr/>
        </p:nvSpPr>
        <p:spPr>
          <a:xfrm>
            <a:off x="1371600" y="3017520"/>
            <a:ext cx="411480" cy="41148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17320" y="3063239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Oval 18"/>
          <p:cNvSpPr/>
          <p:nvPr/>
        </p:nvSpPr>
        <p:spPr>
          <a:xfrm>
            <a:off x="1371600" y="3611880"/>
            <a:ext cx="411480" cy="41148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17320" y="3657600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1" name="Oval 20"/>
          <p:cNvSpPr/>
          <p:nvPr/>
        </p:nvSpPr>
        <p:spPr>
          <a:xfrm>
            <a:off x="1371600" y="4206240"/>
            <a:ext cx="411480" cy="41148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417320" y="4251959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3" name="Oval 22"/>
          <p:cNvSpPr/>
          <p:nvPr/>
        </p:nvSpPr>
        <p:spPr>
          <a:xfrm>
            <a:off x="10515600" y="5669280"/>
            <a:ext cx="731520" cy="73152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661904" y="5815584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8B7E7E"/>
                </a:solidFill>
                <a:latin typeface="Microsoft YaHei"/>
                <a:ea typeface="Microsoft YaHei"/>
              </a:rPr>
              <a:t>第1章 Java 基础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B7E7E"/>
                </a:solidFill>
                <a:latin typeface="Microsoft YaHei"/>
                <a:ea typeface="Microsoft YaHei"/>
              </a:rPr>
              <a:t>4 /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  <a:ea typeface="Microsoft YaHei"/>
              </a:rPr>
              <a:t>1.3 控制流程语句（条件与分支）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371600"/>
            <a:ext cx="54864" cy="22860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691640"/>
            <a:ext cx="54864" cy="228600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011680"/>
            <a:ext cx="54864" cy="228600"/>
          </a:xfrm>
          <a:prstGeom prst="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2331720"/>
            <a:ext cx="54864" cy="2286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430000" y="1371600"/>
            <a:ext cx="137160" cy="137160"/>
          </a:xfrm>
          <a:prstGeom prst="ellipse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430000" y="1737360"/>
            <a:ext cx="137160" cy="137160"/>
          </a:xfrm>
          <a:prstGeom prst="ellipse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430000" y="2103120"/>
            <a:ext cx="137160" cy="13716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88720" y="1508760"/>
            <a:ext cx="9966960" cy="2834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EF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28800" y="1828800"/>
            <a:ext cx="89611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500"/>
              </a:spcAft>
            </a:pPr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if-else结构：根据布尔条件执行不同代码块，如if(score &gt;= 60) System.out.println('及格'); else System.out.println('不及格');</a:t>
            </a:r>
          </a:p>
          <a:p>
            <a:pPr>
              <a:spcBef>
                <a:spcPts val="1000"/>
              </a:spcBef>
              <a:spcAft>
                <a:spcPts val="500"/>
              </a:spcAft>
            </a:pPr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switch-case语句：适合对有限个离散值进行多路分支，从Java 7起支持String类型。</a:t>
            </a:r>
          </a:p>
          <a:p>
            <a:pPr>
              <a:spcBef>
                <a:spcPts val="1000"/>
              </a:spcBef>
              <a:spcAft>
                <a:spcPts val="500"/>
              </a:spcAft>
            </a:pPr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条件嵌套时注意缩进和逻辑清晰，避免‘悬挂else’问题。</a:t>
            </a:r>
          </a:p>
          <a:p>
            <a:pPr>
              <a:spcBef>
                <a:spcPts val="1000"/>
              </a:spcBef>
              <a:spcAft>
                <a:spcPts val="500"/>
              </a:spcAft>
            </a:pPr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每个case后建议加break，否则会发生‘穿透’执行后续case代码。</a:t>
            </a:r>
          </a:p>
        </p:txBody>
      </p:sp>
      <p:sp>
        <p:nvSpPr>
          <p:cNvPr id="13" name="Oval 12"/>
          <p:cNvSpPr/>
          <p:nvPr/>
        </p:nvSpPr>
        <p:spPr>
          <a:xfrm>
            <a:off x="1371600" y="1828800"/>
            <a:ext cx="411480" cy="41148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17320" y="1874519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5" name="Oval 14"/>
          <p:cNvSpPr/>
          <p:nvPr/>
        </p:nvSpPr>
        <p:spPr>
          <a:xfrm>
            <a:off x="1371600" y="2423160"/>
            <a:ext cx="411480" cy="41148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17320" y="2468879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Oval 16"/>
          <p:cNvSpPr/>
          <p:nvPr/>
        </p:nvSpPr>
        <p:spPr>
          <a:xfrm>
            <a:off x="1371600" y="3017520"/>
            <a:ext cx="411480" cy="41148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17320" y="3063239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Oval 18"/>
          <p:cNvSpPr/>
          <p:nvPr/>
        </p:nvSpPr>
        <p:spPr>
          <a:xfrm>
            <a:off x="1371600" y="3611880"/>
            <a:ext cx="411480" cy="41148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17320" y="3657600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1" name="Oval 20"/>
          <p:cNvSpPr/>
          <p:nvPr/>
        </p:nvSpPr>
        <p:spPr>
          <a:xfrm>
            <a:off x="10515600" y="5669280"/>
            <a:ext cx="731520" cy="73152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1904" y="5815584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8B7E7E"/>
                </a:solidFill>
                <a:latin typeface="Microsoft YaHei"/>
                <a:ea typeface="Microsoft YaHei"/>
              </a:rPr>
              <a:t>第1章 Java 基础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B7E7E"/>
                </a:solidFill>
                <a:latin typeface="Microsoft YaHei"/>
                <a:ea typeface="Microsoft YaHei"/>
              </a:rPr>
              <a:t>5 /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  <a:ea typeface="Microsoft YaHei"/>
              </a:rPr>
              <a:t>1.3 控制流程语句（循环）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371600"/>
            <a:ext cx="54864" cy="22860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691640"/>
            <a:ext cx="54864" cy="228600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011680"/>
            <a:ext cx="54864" cy="228600"/>
          </a:xfrm>
          <a:prstGeom prst="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2331720"/>
            <a:ext cx="54864" cy="2286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430000" y="1371600"/>
            <a:ext cx="137160" cy="137160"/>
          </a:xfrm>
          <a:prstGeom prst="ellipse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430000" y="1737360"/>
            <a:ext cx="137160" cy="137160"/>
          </a:xfrm>
          <a:prstGeom prst="ellipse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430000" y="2103120"/>
            <a:ext cx="137160" cy="13716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88720" y="1508760"/>
            <a:ext cx="9966960" cy="2834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EF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28800" y="1828800"/>
            <a:ext cx="89611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500"/>
              </a:spcAft>
            </a:pPr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for循环：适合固定次数的迭代，结构为 for(初始化; 条件; 步进) { 循环体 }，例如求1到100的和。</a:t>
            </a:r>
          </a:p>
          <a:p>
            <a:pPr>
              <a:spcBef>
                <a:spcPts val="1000"/>
              </a:spcBef>
              <a:spcAft>
                <a:spcPts val="500"/>
              </a:spcAft>
            </a:pPr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while循环：条件在前，可能一次都不执行；do-while循环：先执行一次再判断条件，至少执行一次。</a:t>
            </a:r>
          </a:p>
          <a:p>
            <a:pPr>
              <a:spcBef>
                <a:spcPts val="1000"/>
              </a:spcBef>
              <a:spcAft>
                <a:spcPts val="500"/>
              </a:spcAft>
            </a:pPr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三种循环可以相互转换，但根据场景选择最直观的。for常用于遍历数组；while用于不确定次数。</a:t>
            </a:r>
          </a:p>
          <a:p>
            <a:pPr>
              <a:spcBef>
                <a:spcPts val="1000"/>
              </a:spcBef>
              <a:spcAft>
                <a:spcPts val="500"/>
              </a:spcAft>
            </a:pPr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循环控制break可以立即跳出整个循环，continue跳过本次循环剩余语句进入下一次迭代。</a:t>
            </a:r>
          </a:p>
        </p:txBody>
      </p:sp>
      <p:sp>
        <p:nvSpPr>
          <p:cNvPr id="13" name="Oval 12"/>
          <p:cNvSpPr/>
          <p:nvPr/>
        </p:nvSpPr>
        <p:spPr>
          <a:xfrm>
            <a:off x="1371600" y="1828800"/>
            <a:ext cx="411480" cy="41148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17320" y="1874519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5" name="Oval 14"/>
          <p:cNvSpPr/>
          <p:nvPr/>
        </p:nvSpPr>
        <p:spPr>
          <a:xfrm>
            <a:off x="1371600" y="2423160"/>
            <a:ext cx="411480" cy="41148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17320" y="2468879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Oval 16"/>
          <p:cNvSpPr/>
          <p:nvPr/>
        </p:nvSpPr>
        <p:spPr>
          <a:xfrm>
            <a:off x="1371600" y="3017520"/>
            <a:ext cx="411480" cy="41148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17320" y="3063239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Oval 18"/>
          <p:cNvSpPr/>
          <p:nvPr/>
        </p:nvSpPr>
        <p:spPr>
          <a:xfrm>
            <a:off x="1371600" y="3611880"/>
            <a:ext cx="411480" cy="41148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17320" y="3657600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1" name="Oval 20"/>
          <p:cNvSpPr/>
          <p:nvPr/>
        </p:nvSpPr>
        <p:spPr>
          <a:xfrm>
            <a:off x="10515600" y="5669280"/>
            <a:ext cx="731520" cy="73152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1904" y="5815584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8B7E7E"/>
                </a:solidFill>
                <a:latin typeface="Microsoft YaHei"/>
                <a:ea typeface="Microsoft YaHei"/>
              </a:rPr>
              <a:t>第1章 Java 基础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B7E7E"/>
                </a:solidFill>
                <a:latin typeface="Microsoft YaHei"/>
                <a:ea typeface="Microsoft YaHei"/>
              </a:rPr>
              <a:t>6 /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  <a:ea typeface="Microsoft YaHei"/>
              </a:rPr>
              <a:t>1.4 数组（Array）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371600"/>
            <a:ext cx="54864" cy="22860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691640"/>
            <a:ext cx="54864" cy="228600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011680"/>
            <a:ext cx="54864" cy="228600"/>
          </a:xfrm>
          <a:prstGeom prst="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2331720"/>
            <a:ext cx="54864" cy="2286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430000" y="1371600"/>
            <a:ext cx="137160" cy="137160"/>
          </a:xfrm>
          <a:prstGeom prst="ellipse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430000" y="1737360"/>
            <a:ext cx="137160" cy="137160"/>
          </a:xfrm>
          <a:prstGeom prst="ellipse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430000" y="2103120"/>
            <a:ext cx="137160" cy="13716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88720" y="1508760"/>
            <a:ext cx="9966960" cy="2834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EF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28800" y="1828800"/>
            <a:ext cx="89611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500"/>
              </a:spcAft>
            </a:pPr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数组是存储固定长度同类型元素的容器，声明方式：int[] arr = new int[5]; 或简写 int[] arr = {1,2,3,4,5};</a:t>
            </a:r>
          </a:p>
          <a:p>
            <a:pPr>
              <a:spcBef>
                <a:spcPts val="1000"/>
              </a:spcBef>
              <a:spcAft>
                <a:spcPts val="500"/>
              </a:spcAft>
            </a:pPr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数组索引从0开始，访问元素用arr[index]，索引范围0~length-1，越界会抛出ArrayIndexOutOfBoundsException。</a:t>
            </a:r>
          </a:p>
          <a:p>
            <a:pPr>
              <a:spcBef>
                <a:spcPts val="1000"/>
              </a:spcBef>
              <a:spcAft>
                <a:spcPts val="500"/>
              </a:spcAft>
            </a:pPr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数组长度不可变，通过arr.length属性获取；遍历常用for循环或增强for循环（for-each）。</a:t>
            </a:r>
          </a:p>
          <a:p>
            <a:pPr>
              <a:spcBef>
                <a:spcPts val="1000"/>
              </a:spcBef>
              <a:spcAft>
                <a:spcPts val="500"/>
              </a:spcAft>
            </a:pPr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多维数组如int[][] matrix = new int[3][4]; 表示3行4列的二维表格。</a:t>
            </a:r>
          </a:p>
        </p:txBody>
      </p:sp>
      <p:sp>
        <p:nvSpPr>
          <p:cNvPr id="13" name="Oval 12"/>
          <p:cNvSpPr/>
          <p:nvPr/>
        </p:nvSpPr>
        <p:spPr>
          <a:xfrm>
            <a:off x="1371600" y="1828800"/>
            <a:ext cx="411480" cy="41148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17320" y="1874519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5" name="Oval 14"/>
          <p:cNvSpPr/>
          <p:nvPr/>
        </p:nvSpPr>
        <p:spPr>
          <a:xfrm>
            <a:off x="1371600" y="2423160"/>
            <a:ext cx="411480" cy="41148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17320" y="2468879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Oval 16"/>
          <p:cNvSpPr/>
          <p:nvPr/>
        </p:nvSpPr>
        <p:spPr>
          <a:xfrm>
            <a:off x="1371600" y="3017520"/>
            <a:ext cx="411480" cy="41148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17320" y="3063239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Oval 18"/>
          <p:cNvSpPr/>
          <p:nvPr/>
        </p:nvSpPr>
        <p:spPr>
          <a:xfrm>
            <a:off x="1371600" y="3611880"/>
            <a:ext cx="411480" cy="41148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17320" y="3657600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1" name="Oval 20"/>
          <p:cNvSpPr/>
          <p:nvPr/>
        </p:nvSpPr>
        <p:spPr>
          <a:xfrm>
            <a:off x="10515600" y="5669280"/>
            <a:ext cx="731520" cy="73152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1904" y="5815584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8B7E7E"/>
                </a:solidFill>
                <a:latin typeface="Microsoft YaHei"/>
                <a:ea typeface="Microsoft YaHei"/>
              </a:rPr>
              <a:t>第1章 Java 基础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B7E7E"/>
                </a:solidFill>
                <a:latin typeface="Microsoft YaHei"/>
                <a:ea typeface="Microsoft YaHei"/>
              </a:rPr>
              <a:t>7 /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sp>
        <p:nvSpPr>
          <p:cNvPr id="43" name="Rectangle 4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0" y="0"/>
            <a:ext cx="12191695" cy="1828800"/>
          </a:xfrm>
          <a:prstGeom prst="rect">
            <a:avLst/>
          </a:prstGeom>
          <a:solidFill>
            <a:srgbClr val="FFB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Pr/>
      <p:sp>
        <p:nvSpPr>
          <p:cNvPr id="2" name="Rectangle 1"/>
          <p:cNvSpPr/>
          <p:nvPr/>
        </p:nvSpPr>
        <p:spPr>
          <a:xfrm>
            <a:off x="0" y="0"/>
            <a:ext cx="12191695" cy="180594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56773880000"/>
            <a:ext cx="12191695" cy="180594"/>
          </a:xfrm>
          <a:prstGeom prst="rect">
            <a:avLst/>
          </a:prstGeom>
          <a:solidFill>
            <a:srgbClr val="FF8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13547760000"/>
            <a:ext cx="12191695" cy="180594"/>
          </a:xfrm>
          <a:prstGeom prst="rect">
            <a:avLst/>
          </a:prstGeom>
          <a:solidFill>
            <a:srgbClr val="FF9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470321640000"/>
            <a:ext cx="12191695" cy="180594"/>
          </a:xfrm>
          <a:prstGeom prst="rect">
            <a:avLst/>
          </a:prstGeom>
          <a:solidFill>
            <a:srgbClr val="FF92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27095520000"/>
            <a:ext cx="12191695" cy="180594"/>
          </a:xfrm>
          <a:prstGeom prst="rect">
            <a:avLst/>
          </a:prstGeom>
          <a:solidFill>
            <a:srgbClr val="FF95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783869400000"/>
            <a:ext cx="12191695" cy="180594"/>
          </a:xfrm>
          <a:prstGeom prst="rect">
            <a:avLst/>
          </a:prstGeom>
          <a:solidFill>
            <a:srgbClr val="FF9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940643280000"/>
            <a:ext cx="12191695" cy="180594"/>
          </a:xfrm>
          <a:prstGeom prst="rect">
            <a:avLst/>
          </a:prstGeom>
          <a:solidFill>
            <a:srgbClr val="FF99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1097417160000"/>
            <a:ext cx="12191695" cy="180594"/>
          </a:xfrm>
          <a:prstGeom prst="rect">
            <a:avLst/>
          </a:prstGeom>
          <a:solidFill>
            <a:srgbClr val="FF9C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1254191040000"/>
            <a:ext cx="12191695" cy="180594"/>
          </a:xfrm>
          <a:prstGeom prst="rect">
            <a:avLst/>
          </a:prstGeom>
          <a:solidFill>
            <a:srgbClr val="FF9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1410964920000"/>
            <a:ext cx="12191695" cy="180594"/>
          </a:xfrm>
          <a:prstGeom prst="rect">
            <a:avLst/>
          </a:prstGeom>
          <a:solidFill>
            <a:srgbClr val="FFA0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1567738800000"/>
            <a:ext cx="12191695" cy="180594"/>
          </a:xfrm>
          <a:prstGeom prst="rect">
            <a:avLst/>
          </a:prstGeom>
          <a:solidFill>
            <a:srgbClr val="FFA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1724512680000"/>
            <a:ext cx="12191695" cy="180594"/>
          </a:xfrm>
          <a:prstGeom prst="rect">
            <a:avLst/>
          </a:prstGeom>
          <a:solidFill>
            <a:srgbClr val="FFA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1881286560000"/>
            <a:ext cx="12191695" cy="180594"/>
          </a:xfrm>
          <a:prstGeom prst="rect">
            <a:avLst/>
          </a:prstGeom>
          <a:solidFill>
            <a:srgbClr val="FFA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2038060440000"/>
            <a:ext cx="12191695" cy="180594"/>
          </a:xfrm>
          <a:prstGeom prst="rect">
            <a:avLst/>
          </a:prstGeom>
          <a:solidFill>
            <a:srgbClr val="FFA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2194834320000"/>
            <a:ext cx="12191695" cy="180594"/>
          </a:xfrm>
          <a:prstGeom prst="rect">
            <a:avLst/>
          </a:prstGeom>
          <a:solidFill>
            <a:srgbClr val="FFAC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2351608200000"/>
            <a:ext cx="12191695" cy="180594"/>
          </a:xfrm>
          <a:prstGeom prst="rect">
            <a:avLst/>
          </a:prstGeom>
          <a:solidFill>
            <a:srgbClr val="FFA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2508382080000"/>
            <a:ext cx="12191695" cy="180594"/>
          </a:xfrm>
          <a:prstGeom prst="rect">
            <a:avLst/>
          </a:prstGeom>
          <a:solidFill>
            <a:srgbClr val="FFB0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2665155960000"/>
            <a:ext cx="12191695" cy="180594"/>
          </a:xfrm>
          <a:prstGeom prst="rect">
            <a:avLst/>
          </a:prstGeom>
          <a:solidFill>
            <a:srgbClr val="FFB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2821929840000"/>
            <a:ext cx="12191695" cy="180594"/>
          </a:xfrm>
          <a:prstGeom prst="rect">
            <a:avLst/>
          </a:prstGeom>
          <a:solidFill>
            <a:srgbClr val="FFB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2978703720000"/>
            <a:ext cx="12191695" cy="180594"/>
          </a:xfrm>
          <a:prstGeom prst="rect">
            <a:avLst/>
          </a:prstGeom>
          <a:solidFill>
            <a:srgbClr val="FFB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3135477600000"/>
            <a:ext cx="12191695" cy="180594"/>
          </a:xfrm>
          <a:prstGeom prst="rect">
            <a:avLst/>
          </a:prstGeom>
          <a:solidFill>
            <a:srgbClr val="FFB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3292251480000"/>
            <a:ext cx="12191695" cy="180594"/>
          </a:xfrm>
          <a:prstGeom prst="rect">
            <a:avLst/>
          </a:prstGeom>
          <a:solidFill>
            <a:srgbClr val="FFB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3449025360000"/>
            <a:ext cx="12191695" cy="180594"/>
          </a:xfrm>
          <a:prstGeom prst="rect">
            <a:avLst/>
          </a:prstGeom>
          <a:solidFill>
            <a:srgbClr val="FFB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3605799240000"/>
            <a:ext cx="12191695" cy="180594"/>
          </a:xfrm>
          <a:prstGeom prst="rect">
            <a:avLst/>
          </a:prstGeom>
          <a:solidFill>
            <a:srgbClr val="FFC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0" y="3762573120000"/>
            <a:ext cx="12191695" cy="180594"/>
          </a:xfrm>
          <a:prstGeom prst="rect">
            <a:avLst/>
          </a:prstGeom>
          <a:solidFill>
            <a:srgbClr val="FFC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3919347000000"/>
            <a:ext cx="12191695" cy="180594"/>
          </a:xfrm>
          <a:prstGeom prst="rect">
            <a:avLst/>
          </a:prstGeom>
          <a:solidFill>
            <a:srgbClr val="FFC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4076120880000"/>
            <a:ext cx="12191695" cy="180594"/>
          </a:xfrm>
          <a:prstGeom prst="rect">
            <a:avLst/>
          </a:prstGeom>
          <a:solidFill>
            <a:srgbClr val="FFC8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0" y="4232894760000"/>
            <a:ext cx="12191695" cy="180594"/>
          </a:xfrm>
          <a:prstGeom prst="rect">
            <a:avLst/>
          </a:prstGeom>
          <a:solidFill>
            <a:srgbClr val="FFC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0" y="4389668640000"/>
            <a:ext cx="12191695" cy="180594"/>
          </a:xfrm>
          <a:prstGeom prst="rect">
            <a:avLst/>
          </a:prstGeom>
          <a:solidFill>
            <a:srgbClr val="FFC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0" y="4546442520000"/>
            <a:ext cx="12191695" cy="180594"/>
          </a:xfrm>
          <a:prstGeom prst="rect">
            <a:avLst/>
          </a:prstGeom>
          <a:solidFill>
            <a:srgbClr val="FFCE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0" y="4703216400000"/>
            <a:ext cx="12191695" cy="180594"/>
          </a:xfrm>
          <a:prstGeom prst="rect">
            <a:avLst/>
          </a:prstGeom>
          <a:solidFill>
            <a:srgbClr val="FFD1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0" y="4859990280000"/>
            <a:ext cx="12191695" cy="180594"/>
          </a:xfrm>
          <a:prstGeom prst="rect">
            <a:avLst/>
          </a:prstGeom>
          <a:solidFill>
            <a:srgbClr val="FFD3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0" y="5016764160000"/>
            <a:ext cx="12191695" cy="180594"/>
          </a:xfrm>
          <a:prstGeom prst="rect">
            <a:avLst/>
          </a:prstGeom>
          <a:solidFill>
            <a:srgbClr val="FFD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0" y="5173538040000"/>
            <a:ext cx="12191695" cy="180594"/>
          </a:xfrm>
          <a:prstGeom prst="rect">
            <a:avLst/>
          </a:prstGeom>
          <a:solidFill>
            <a:srgbClr val="FFD8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5330311920000"/>
            <a:ext cx="12191695" cy="180594"/>
          </a:xfrm>
          <a:prstGeom prst="rect">
            <a:avLst/>
          </a:prstGeom>
          <a:solidFill>
            <a:srgbClr val="FFDA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5487085800000"/>
            <a:ext cx="12191695" cy="180594"/>
          </a:xfrm>
          <a:prstGeom prst="rect">
            <a:avLst/>
          </a:prstGeom>
          <a:solidFill>
            <a:srgbClr val="FFDC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0" y="5643859680000"/>
            <a:ext cx="12191695" cy="180594"/>
          </a:xfrm>
          <a:prstGeom prst="rect">
            <a:avLst/>
          </a:prstGeom>
          <a:solidFill>
            <a:srgbClr val="FFDF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0" y="5800633560000"/>
            <a:ext cx="12191695" cy="180594"/>
          </a:xfrm>
          <a:prstGeom prst="rect">
            <a:avLst/>
          </a:prstGeom>
          <a:solidFill>
            <a:srgbClr val="FFE1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0" y="5957407440000"/>
            <a:ext cx="12191695" cy="180594"/>
          </a:xfrm>
          <a:prstGeom prst="rect">
            <a:avLst/>
          </a:prstGeom>
          <a:solidFill>
            <a:srgbClr val="FFE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0" y="6114181320000"/>
            <a:ext cx="12191695" cy="180594"/>
          </a:xfrm>
          <a:prstGeom prst="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2286000" y="365760"/>
            <a:ext cx="7589520" cy="914400"/>
          </a:xfrm>
          <a:prstGeom prst="round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286000" y="411480"/>
            <a:ext cx="75895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本章总结与思考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828800" y="1463040"/>
            <a:ext cx="8503920" cy="822960"/>
          </a:xfrm>
          <a:prstGeom prst="roundRect">
            <a:avLst/>
          </a:prstGeom>
          <a:solidFill>
            <a:srgbClr val="FFB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097280" y="1508760"/>
            <a:ext cx="548640" cy="54864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207007" y="1618488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💡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103120" y="155448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Java变量必须声明类型，8种基本类型与引用类型在内存存储方式不同。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828800" y="2423160"/>
            <a:ext cx="8503920" cy="822960"/>
          </a:xfrm>
          <a:prstGeom prst="roundRect">
            <a:avLst/>
          </a:prstGeom>
          <a:solidFill>
            <a:srgbClr val="7EF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1097280" y="2468880"/>
            <a:ext cx="548640" cy="54864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207007" y="2578608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103120" y="251460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运算符：算术、关系、逻辑、赋值、三元，注意优先级和短路特性。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828800" y="3383280"/>
            <a:ext cx="8503920" cy="822960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1097280" y="3429000"/>
            <a:ext cx="548640" cy="54864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207007" y="3538728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★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103120" y="347472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控制流程：if-else/switch实现分支，for/while/do-while实现循环，break/continue控制跳转。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1828800" y="4343400"/>
            <a:ext cx="8503920" cy="822960"/>
          </a:xfrm>
          <a:prstGeom prst="roundRect">
            <a:avLst/>
          </a:prstGeom>
          <a:solidFill>
            <a:srgbClr val="FFB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1097280" y="4389120"/>
            <a:ext cx="548640" cy="54864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207007" y="4498848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⚙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103120" y="443484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数组是固定长度的同类型元素集合，索引从0开始，遍历常用for循环。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1828800" y="5303520"/>
            <a:ext cx="8503920" cy="822960"/>
          </a:xfrm>
          <a:prstGeom prst="roundRect">
            <a:avLst/>
          </a:prstGeom>
          <a:solidFill>
            <a:srgbClr val="7EF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1097280" y="5349240"/>
            <a:ext cx="548640" cy="54864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207007" y="5458968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♥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103120" y="539496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思考题：编写一个程序，输入10个整数，找出最大值和最小值，并计算平均值。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0" y="615391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457200" y="612648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914400" y="615391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1371600" y="612648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ounded Rectangle 69"/>
          <p:cNvSpPr/>
          <p:nvPr/>
        </p:nvSpPr>
        <p:spPr>
          <a:xfrm>
            <a:off x="1828800" y="615391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2286000" y="612648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2743200" y="615391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ounded Rectangle 72"/>
          <p:cNvSpPr/>
          <p:nvPr/>
        </p:nvSpPr>
        <p:spPr>
          <a:xfrm>
            <a:off x="3200400" y="612648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3657600" y="615391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4114800" y="612648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ounded Rectangle 75"/>
          <p:cNvSpPr/>
          <p:nvPr/>
        </p:nvSpPr>
        <p:spPr>
          <a:xfrm>
            <a:off x="4572000" y="615391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5029200" y="612648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ounded Rectangle 77"/>
          <p:cNvSpPr/>
          <p:nvPr/>
        </p:nvSpPr>
        <p:spPr>
          <a:xfrm>
            <a:off x="5486400" y="615391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ounded Rectangle 78"/>
          <p:cNvSpPr/>
          <p:nvPr/>
        </p:nvSpPr>
        <p:spPr>
          <a:xfrm>
            <a:off x="5943600" y="612648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ounded Rectangle 79"/>
          <p:cNvSpPr/>
          <p:nvPr/>
        </p:nvSpPr>
        <p:spPr>
          <a:xfrm>
            <a:off x="6400800" y="615391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ounded Rectangle 80"/>
          <p:cNvSpPr/>
          <p:nvPr/>
        </p:nvSpPr>
        <p:spPr>
          <a:xfrm>
            <a:off x="6858000" y="612648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ounded Rectangle 81"/>
          <p:cNvSpPr/>
          <p:nvPr/>
        </p:nvSpPr>
        <p:spPr>
          <a:xfrm>
            <a:off x="7315200" y="615391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ounded Rectangle 82"/>
          <p:cNvSpPr/>
          <p:nvPr/>
        </p:nvSpPr>
        <p:spPr>
          <a:xfrm>
            <a:off x="7772400" y="612648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ounded Rectangle 83"/>
          <p:cNvSpPr/>
          <p:nvPr/>
        </p:nvSpPr>
        <p:spPr>
          <a:xfrm>
            <a:off x="8229600" y="615391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ounded Rectangle 84"/>
          <p:cNvSpPr/>
          <p:nvPr/>
        </p:nvSpPr>
        <p:spPr>
          <a:xfrm>
            <a:off x="8686800" y="612648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ounded Rectangle 85"/>
          <p:cNvSpPr/>
          <p:nvPr/>
        </p:nvSpPr>
        <p:spPr>
          <a:xfrm>
            <a:off x="9144000" y="615391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ounded Rectangle 86"/>
          <p:cNvSpPr/>
          <p:nvPr/>
        </p:nvSpPr>
        <p:spPr>
          <a:xfrm>
            <a:off x="9601200" y="612648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ounded Rectangle 87"/>
          <p:cNvSpPr/>
          <p:nvPr/>
        </p:nvSpPr>
        <p:spPr>
          <a:xfrm>
            <a:off x="10058400" y="615391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ounded Rectangle 88"/>
          <p:cNvSpPr/>
          <p:nvPr/>
        </p:nvSpPr>
        <p:spPr>
          <a:xfrm>
            <a:off x="10515600" y="612648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ounded Rectangle 89"/>
          <p:cNvSpPr/>
          <p:nvPr/>
        </p:nvSpPr>
        <p:spPr>
          <a:xfrm>
            <a:off x="10972800" y="615391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ounded Rectangle 90"/>
          <p:cNvSpPr/>
          <p:nvPr/>
        </p:nvSpPr>
        <p:spPr>
          <a:xfrm>
            <a:off x="11430000" y="612648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ounded Rectangle 91"/>
          <p:cNvSpPr/>
          <p:nvPr/>
        </p:nvSpPr>
        <p:spPr>
          <a:xfrm>
            <a:off x="11887200" y="615391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8B7E7E"/>
                </a:solidFill>
                <a:latin typeface="Microsoft YaHei"/>
                <a:ea typeface="Microsoft YaHei"/>
              </a:rPr>
              <a:t>第1章 Java 基础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B7E7E"/>
                </a:solidFill>
                <a:latin typeface="Microsoft YaHei"/>
                <a:ea typeface="Microsoft YaHei"/>
              </a:rPr>
              <a:t>8 /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