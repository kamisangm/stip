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我们开始编码之前，先来思考一个问题：为什么编程语言要提供多种数据结构？大家可以想象，如果我们要存储全班同学的名字，用列表就很方便，因为顺序很重要；如果要记录每个同学的成绩，就需要用字典把名字和分数关联起来；如果要去掉重复的喜好，集合就是最佳选择。Python的设计者为我们准备了这几种“积木”，让我们在编写程序时能灵活应对不同需求。接下来，我们就从最常用的列表开始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我们先来看列表。列表是Python中最灵活、最常用的数据结构。请大家看屏幕，创建一个列表非常简单：用方括号把元素括起来就行。比如 scores = [85, 92, 78, 90]。列表中的元素可以是任何类型——整数、字符串、甚至是另一个列表。注意，列表是有序的，所以我们可以通过索引访问特定位置的元素。例如 scores[0] 得到85，而 scores[-1] 得到90。最厉害的是，列表是可变的，我们可以直接修改元素，比如 scores[1] = 95。这为后续程序动态调整数据提供了极大便利。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掌握列表的基本概念之后，我们来看看如何操作它。Python为列表提供了非常丰富的方法。比如，如果我们要往学生名单中添加一个新同学，可以用 append() 方法。如果需要一次添加多个同学，就用 extend() 方法，它会把另一个列表中的所有元素逐个加入。插入到中间某位置可以使用 insert(index, value)。删除时，remove() 是按值删除，pop() 是按位置删除并可以获取被删除的元素。排序是日常高频操作，sort() 会直接修改原列表，而 sorted() 函数则返回一个新列表。这里提醒大家注意可变对象的方法调用往往没有返回值，会直接改变列表本身。好，接下来我们对比一下列表和它的“双胞胎兄弟”——元组。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同学们，列表和元组非常相似，但是有一个核心区别：列表可变，元组不可变。元组用圆括号创建，例如 point = (3, 5)。一旦创建，我们就不能修改它的内容。那为什么还需要元组呢？有几个重要原因：第一，元组可以作为字典的键，而列表不行，因为键要求不可变；第二，元组更安全，当数据不允许被修改时，使用元组可以避免意外错误；第三，元组通常比列表更节省内存。在实际开发中，如果一个函数需要返回多个值，通常返回元组，例如 return x, y 实际上是返回一个元组。希望大家通过这次对比，能更清楚地判断在什么场景下选择哪一个。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学习一个非常实用的数据结构——字典。如果说列表是通过位置索引，那么字典就是通过“名字”索引。比如，我们要存储一个学生的信息，用列表需要记住每个位置的含义，而用字典可以直接用有意义的键来存取。创建字典只要用花括号和冒号即可。注意，字典的键必须是不可变的，所以列表不能作为键，但元组可以。访问字典最简单的方式就是直接用方括号加键，但如果键不存在会引发 KeyError 错误，所以更安全的方式是用 get() 方法，它可以指定键不存在时返回的默认值。字典在程序里常用于配置参数、缓存数据、解析JSON等，非常强大。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学们，现在我们来认识一种特殊的“无值字典”——集合。集合和字典都使用花括号，但集合的元素没有冒号，只是孤立的元素。集合最大的特性就是每个元素只能出现一次，所以当我们有一个列表，想去除重复元素时，可以简单地把它转换为集合。注意，集合也是无序的，因此你不能指望元素的顺序与添加时一致。集合支持数学意义上的集合运算，比如两个集合的并集、交集、差集等，这在处理标签系统、权限管理、数据比对时非常有用。例如，找出两个班级都选修Python的同学，用集合的交集运算可以一行代码解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最后我们来看字符串操作。虽然字符串在第二章已经学过基础，但它的操作方法非常多，是文本处理的利器。字符串是不可变的，所以所有修改操作都会返回一个新字符串，原字符串不变。最常用的操作包括 split() 和 join()：比如把一句英文按空格拆成单词列表，或者把单词列表用逗号连接成CSV格式。另外，strip() 可以去除用户输入中多余的空格或换行，非常实用。在Python 3.6以后，f-string成为最推荐的格式化方式，简单直观。这些操作在数据分析、网页爬虫、文件处理等领域会频繁使用，请同学们多加练习。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了，同学们，我们来回顾一下今天学到的五种数据结构。列表和元组都是序列，区别在于可变性；字典提供了键值映射关系；集合专注于去重和集合运算；字符串作为文本容器也有一大堆方法。选择正确的数据结构，不仅能让代码更清晰，还能提高性能。最后给大家留一个思考题：如何统计一篇文章中每个单词的出现次数？你可以用字典来统计次数，用集合来去重，用列表来保存顺序。希望大家课后动手尝试。下一章我们将进入函数与模块的学习，再见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7772400" y="-914400"/>
            <a:ext cx="4572000" cy="4572000"/>
          </a:xfrm>
          <a:prstGeom prst="ellipse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-914400" y="4114800"/>
            <a:ext cx="3200400" cy="320040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400800" y="2743200"/>
            <a:ext cx="1828800" cy="1828800"/>
          </a:xfrm>
          <a:prstGeom prst="ellipse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914400" y="1645920"/>
            <a:ext cx="10332720" cy="22860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188720" y="1920240"/>
            <a:ext cx="97840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2A9D8F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457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371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828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2286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743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200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3657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14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572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029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5486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5943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6858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7315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77724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82296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86868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1440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6012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100584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105156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109728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11430000" y="603504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11887200" y="606247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1371600" y="5852160"/>
            <a:ext cx="9418320" cy="13716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371600" y="5943600"/>
            <a:ext cx="9418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FFE66D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为什么需要数据结构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现实世界的数据往往有复杂结构，比如学生名单、商品库存或地图信息，需要合适的容器来组织。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Python提供多种内置数据结构，每种都有独特的特性和适用场景，选择正确能大幅提升代码效率。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列表和元组用于有序序列，字典用于键值映射，集合用于去重和集合运算，字符串则提供文本处理能力。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本章将逐一学习它们的定义、常用操作、可变性区别以及典型应用案例。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列表——灵活的有序序列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列表用方括号 [ ] 表示，元素之间用逗号分隔，可以包含任意类型的对象，例如 [1, 'hello', 3.14, True]。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列表是有序的，每个元素都有一个从0开始的索引，支持正向和负向索引（如 -1 表示最后一个元素）。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列表是可变（mutable）的，可以随时添加、删除或修改元素，这是它与元组最重要的区别。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创建列表的方法：直接字面量、使用 list() 函数、列表推导式如 [x**2 for x in range(5)]。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列表的常用操作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添加元素：append() 在末尾添加单个元素，extend() 扩展另一个可迭代对象，insert() 在指定位置插入。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删除元素：remove() 删除第一个匹配项，pop() 移除并返回指定索引的元素（默认为最后一个），clear() 清空所有。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排序与反转：sort() 原地排序（可指定 reverse=True），reverse() 反转列表顺序。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其他实用方法：index() 返回元素第一次出现的索引，count() 统计元素出现次数，copy() 返回浅拷贝。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</a:rPr>
              <a:t>元组 vs 列表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486400" cy="4754880"/>
          </a:xfrm>
          <a:prstGeom prst="roundRect">
            <a:avLst/>
          </a:prstGeom>
          <a:solidFill>
            <a:srgbClr val="FFF5EB"/>
          </a:solidFill>
          <a:ln w="12700">
            <a:solidFill>
              <a:srgbClr val="FFBF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188720"/>
            <a:ext cx="5486400" cy="4754880"/>
          </a:xfrm>
          <a:prstGeom prst="roundRect">
            <a:avLst/>
          </a:prstGeom>
          <a:solidFill>
            <a:srgbClr val="E8F9F3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486400" cy="54864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列表（可变）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188720"/>
            <a:ext cx="5486400" cy="54864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344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元组（不可变）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使用方括号 [ ]，例如 fruits = ['apple', 'banana']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可变：可以增加、删除、修改元素，方法丰富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FF8C42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适合需要频繁增删改的动态数据集合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使用圆括号 ( )，例如 fruits = ('apple', 'banana')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不可变：创建后无法修改，也没有 append、remove 等方法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200" b="0">
                <a:solidFill>
                  <a:srgbClr val="4ECDC4"/>
                </a:solidFill>
                <a:latin typeface="Microsoft YaHei"/>
                <a:ea typeface="Microsoft YaHei"/>
              </a:rPr>
              <a:t>● </a:t>
            </a:r>
            <a:r>
              <a:rPr sz="1600" b="0">
                <a:solidFill>
                  <a:srgbClr val="3D2C2C"/>
                </a:solidFill>
                <a:latin typeface="Microsoft YaHei"/>
                <a:ea typeface="Microsoft YaHei"/>
              </a:rPr>
              <a:t>适合存储固定不变的数据，例如坐标、常量配置、函数返回多值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60" y="1188720"/>
            <a:ext cx="73152" cy="475488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字典——键值映射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字典用花括号 { } 表示，元素是键值对，例如 student = {'name':'Alice', 'age':20, 'grade':'A'}。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键必须是不可变类型（如字符串、数字、元组），值可以是任意类型；键唯一，重复赋值会覆盖。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访问与修改：通过键直接获取值（如 student['name']），新增或修改只需赋值 student['score']=95。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常用方法：keys() 返回所有键，values() 返回所有值，items() 返回键值对元组，get() 安全取值（可设默认值）。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集合——无序且唯一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集合也用花括号 { } 表示，但元素没有键，只是值，例如 tags = {'python', 'data', 'science'}。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集合元素具有唯一性，自动去除重复值，适合用来去重。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集合是无序的，不支持索引、切片等序列操作。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集合运算：并集 (| 或 union())，交集 (&amp; 或 intersection())，差集 (- 或 difference())，对称差集 (^ 或 symmetric_difference())。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9601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</a:rPr>
              <a:t>字符串操作——文本的百宝箱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54864" cy="2286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91640"/>
            <a:ext cx="54864" cy="228600"/>
          </a:xfrm>
          <a:prstGeom prst="rect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2011680"/>
            <a:ext cx="54864" cy="228600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2331720"/>
            <a:ext cx="54864" cy="228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30000" y="1371600"/>
            <a:ext cx="137160" cy="137160"/>
          </a:xfrm>
          <a:prstGeom prst="ellipse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430000" y="1737360"/>
            <a:ext cx="137160" cy="137160"/>
          </a:xfrm>
          <a:prstGeom prst="ellipse">
            <a:avLst/>
          </a:prstGeom>
          <a:solidFill>
            <a:srgbClr val="4ECD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430000" y="21031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88720" y="1508760"/>
            <a:ext cx="9966960" cy="2834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EF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28800"/>
            <a:ext cx="8961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字符串是不可变的序列，但提供了丰富的方法生成新字符串，例如 .upper() 转为大写，.lower() 转小写。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分割与合并：.split(分隔符) 将字符串拆成列表，.join(可迭代对象) 用分隔符连接字符串列表。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查找与替换：.find(子串) 返回索引或 -1，.replace(旧, 新) 替换所有匹配项，.strip() 去除两端空白。</a:t>
            </a:r>
          </a:p>
          <a:p>
            <a:pPr>
              <a:spcBef>
                <a:spcPts val="1000"/>
              </a:spcBef>
              <a:spcAft>
                <a:spcPts val="500"/>
              </a:spcAft>
            </a:pPr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格式化：f-string 如 f'姓名: {name}'，或 .format() 方法，以及旧式 % 格式化。</a:t>
            </a:r>
          </a:p>
        </p:txBody>
      </p:sp>
      <p:sp>
        <p:nvSpPr>
          <p:cNvPr id="13" name="Oval 12"/>
          <p:cNvSpPr/>
          <p:nvPr/>
        </p:nvSpPr>
        <p:spPr>
          <a:xfrm>
            <a:off x="1371600" y="182880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17320" y="187451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242316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17320" y="246887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Oval 16"/>
          <p:cNvSpPr/>
          <p:nvPr/>
        </p:nvSpPr>
        <p:spPr>
          <a:xfrm>
            <a:off x="1371600" y="301752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17320" y="3063239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Oval 18"/>
          <p:cNvSpPr/>
          <p:nvPr/>
        </p:nvSpPr>
        <p:spPr>
          <a:xfrm>
            <a:off x="1371600" y="3611880"/>
            <a:ext cx="411480" cy="41148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657600"/>
            <a:ext cx="3200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Oval 20"/>
          <p:cNvSpPr/>
          <p:nvPr/>
        </p:nvSpPr>
        <p:spPr>
          <a:xfrm>
            <a:off x="10515600" y="5669280"/>
            <a:ext cx="731520" cy="73152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61904" y="5815584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sp>
        <p:nvSpPr>
          <p:cNvPr id="43" name="Rectangle 4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Pr/>
      <p:sp>
        <p:nvSpPr>
          <p:cNvPr id="2" name="Rectangle 1"/>
          <p:cNvSpPr/>
          <p:nvPr/>
        </p:nvSpPr>
        <p:spPr>
          <a:xfrm>
            <a:off x="0" y="0"/>
            <a:ext cx="12191695" cy="18059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56773880000"/>
            <a:ext cx="12191695" cy="180594"/>
          </a:xfrm>
          <a:prstGeom prst="rect">
            <a:avLst/>
          </a:prstGeom>
          <a:solidFill>
            <a:srgbClr val="FF8E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13547760000"/>
            <a:ext cx="12191695" cy="180594"/>
          </a:xfrm>
          <a:prstGeom prst="rect">
            <a:avLst/>
          </a:prstGeom>
          <a:solidFill>
            <a:srgbClr val="FF9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70321640000"/>
            <a:ext cx="12191695" cy="180594"/>
          </a:xfrm>
          <a:prstGeom prst="rect">
            <a:avLst/>
          </a:prstGeom>
          <a:solidFill>
            <a:srgbClr val="FF92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27095520000"/>
            <a:ext cx="12191695" cy="180594"/>
          </a:xfrm>
          <a:prstGeom prst="rect">
            <a:avLst/>
          </a:prstGeom>
          <a:solidFill>
            <a:srgbClr val="FF95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783869400000"/>
            <a:ext cx="12191695" cy="180594"/>
          </a:xfrm>
          <a:prstGeom prst="rect">
            <a:avLst/>
          </a:prstGeom>
          <a:solidFill>
            <a:srgbClr val="FF97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940643280000"/>
            <a:ext cx="12191695" cy="180594"/>
          </a:xfrm>
          <a:prstGeom prst="rect">
            <a:avLst/>
          </a:prstGeom>
          <a:solidFill>
            <a:srgbClr val="FF99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417160000"/>
            <a:ext cx="12191695" cy="180594"/>
          </a:xfrm>
          <a:prstGeom prst="rect">
            <a:avLst/>
          </a:prstGeom>
          <a:solidFill>
            <a:srgbClr val="FF9C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1254191040000"/>
            <a:ext cx="12191695" cy="180594"/>
          </a:xfrm>
          <a:prstGeom prst="rect">
            <a:avLst/>
          </a:prstGeom>
          <a:solidFill>
            <a:srgbClr val="FF9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1410964920000"/>
            <a:ext cx="12191695" cy="180594"/>
          </a:xfrm>
          <a:prstGeom prst="rect">
            <a:avLst/>
          </a:prstGeom>
          <a:solidFill>
            <a:srgbClr val="FFA0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1567738800000"/>
            <a:ext cx="12191695" cy="180594"/>
          </a:xfrm>
          <a:prstGeom prst="rect">
            <a:avLst/>
          </a:prstGeom>
          <a:solidFill>
            <a:srgbClr val="FFA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0" y="1724512680000"/>
            <a:ext cx="12191695" cy="180594"/>
          </a:xfrm>
          <a:prstGeom prst="rect">
            <a:avLst/>
          </a:prstGeom>
          <a:solidFill>
            <a:srgbClr val="FFA5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1881286560000"/>
            <a:ext cx="12191695" cy="180594"/>
          </a:xfrm>
          <a:prstGeom prst="rect">
            <a:avLst/>
          </a:prstGeom>
          <a:solidFill>
            <a:srgbClr val="FF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2038060440000"/>
            <a:ext cx="12191695" cy="180594"/>
          </a:xfrm>
          <a:prstGeom prst="rect">
            <a:avLst/>
          </a:prstGeom>
          <a:solidFill>
            <a:srgbClr val="FFA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2194834320000"/>
            <a:ext cx="12191695" cy="180594"/>
          </a:xfrm>
          <a:prstGeom prst="rect">
            <a:avLst/>
          </a:prstGeom>
          <a:solidFill>
            <a:srgbClr val="FFAC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2351608200000"/>
            <a:ext cx="12191695" cy="180594"/>
          </a:xfrm>
          <a:prstGeom prst="rect">
            <a:avLst/>
          </a:prstGeom>
          <a:solidFill>
            <a:srgbClr val="FFAE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2508382080000"/>
            <a:ext cx="12191695" cy="180594"/>
          </a:xfrm>
          <a:prstGeom prst="rect">
            <a:avLst/>
          </a:prstGeom>
          <a:solidFill>
            <a:srgbClr val="FFB0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2665155960000"/>
            <a:ext cx="12191695" cy="180594"/>
          </a:xfrm>
          <a:prstGeom prst="rect">
            <a:avLst/>
          </a:prstGeom>
          <a:solidFill>
            <a:srgbClr val="FFB3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821929840000"/>
            <a:ext cx="12191695" cy="180594"/>
          </a:xfrm>
          <a:prstGeom prst="rect">
            <a:avLst/>
          </a:prstGeom>
          <a:solidFill>
            <a:srgbClr val="FFB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2978703720000"/>
            <a:ext cx="12191695" cy="180594"/>
          </a:xfrm>
          <a:prstGeom prst="rect">
            <a:avLst/>
          </a:prstGeom>
          <a:solidFill>
            <a:srgbClr val="FFB7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3135477600000"/>
            <a:ext cx="12191695" cy="180594"/>
          </a:xfrm>
          <a:prstGeom prst="rect">
            <a:avLst/>
          </a:prstGeom>
          <a:solidFill>
            <a:srgbClr val="FFB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3292251480000"/>
            <a:ext cx="12191695" cy="180594"/>
          </a:xfrm>
          <a:prstGeom prst="rect">
            <a:avLst/>
          </a:prstGeom>
          <a:solidFill>
            <a:srgbClr val="FFB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3449025360000"/>
            <a:ext cx="12191695" cy="180594"/>
          </a:xfrm>
          <a:prstGeom prst="rect">
            <a:avLst/>
          </a:prstGeom>
          <a:solidFill>
            <a:srgbClr val="FFB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3605799240000"/>
            <a:ext cx="12191695" cy="180594"/>
          </a:xfrm>
          <a:prstGeom prst="rect">
            <a:avLst/>
          </a:prstGeom>
          <a:solidFill>
            <a:srgbClr val="FFC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3762573120000"/>
            <a:ext cx="12191695" cy="180594"/>
          </a:xfrm>
          <a:prstGeom prst="rect">
            <a:avLst/>
          </a:prstGeom>
          <a:solidFill>
            <a:srgbClr val="FFC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0" y="3919347000000"/>
            <a:ext cx="12191695" cy="180594"/>
          </a:xfrm>
          <a:prstGeom prst="rect">
            <a:avLst/>
          </a:prstGeom>
          <a:solidFill>
            <a:srgbClr val="FFC5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0" y="4076120880000"/>
            <a:ext cx="12191695" cy="180594"/>
          </a:xfrm>
          <a:prstGeom prst="rect">
            <a:avLst/>
          </a:prstGeom>
          <a:solidFill>
            <a:srgbClr val="FFC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4232894760000"/>
            <a:ext cx="12191695" cy="180594"/>
          </a:xfrm>
          <a:prstGeom prst="rect">
            <a:avLst/>
          </a:prstGeom>
          <a:solidFill>
            <a:srgbClr val="FFC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4389668640000"/>
            <a:ext cx="12191695" cy="180594"/>
          </a:xfrm>
          <a:prstGeom prst="rect">
            <a:avLst/>
          </a:prstGeom>
          <a:solidFill>
            <a:srgbClr val="FFC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0" y="4546442520000"/>
            <a:ext cx="12191695" cy="180594"/>
          </a:xfrm>
          <a:prstGeom prst="rect">
            <a:avLst/>
          </a:prstGeom>
          <a:solidFill>
            <a:srgbClr val="FFCE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0" y="4703216400000"/>
            <a:ext cx="12191695" cy="180594"/>
          </a:xfrm>
          <a:prstGeom prst="rect">
            <a:avLst/>
          </a:prstGeom>
          <a:solidFill>
            <a:srgbClr val="FFD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0" y="4859990280000"/>
            <a:ext cx="12191695" cy="180594"/>
          </a:xfrm>
          <a:prstGeom prst="rect">
            <a:avLst/>
          </a:prstGeom>
          <a:solidFill>
            <a:srgbClr val="FF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0" y="5016764160000"/>
            <a:ext cx="12191695" cy="180594"/>
          </a:xfrm>
          <a:prstGeom prst="rect">
            <a:avLst/>
          </a:prstGeom>
          <a:solidFill>
            <a:srgbClr val="FFD5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5173538040000"/>
            <a:ext cx="12191695" cy="180594"/>
          </a:xfrm>
          <a:prstGeom prst="rect">
            <a:avLst/>
          </a:prstGeom>
          <a:solidFill>
            <a:srgbClr val="FFD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0" y="5330311920000"/>
            <a:ext cx="12191695" cy="180594"/>
          </a:xfrm>
          <a:prstGeom prst="rect">
            <a:avLst/>
          </a:prstGeom>
          <a:solidFill>
            <a:srgbClr val="FFDA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0" y="5487085800000"/>
            <a:ext cx="12191695" cy="180594"/>
          </a:xfrm>
          <a:prstGeom prst="rect">
            <a:avLst/>
          </a:prstGeom>
          <a:solidFill>
            <a:srgbClr val="FFDC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5643859680000"/>
            <a:ext cx="12191695" cy="180594"/>
          </a:xfrm>
          <a:prstGeom prst="rect">
            <a:avLst/>
          </a:prstGeom>
          <a:solidFill>
            <a:srgbClr val="FFDF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0" y="5800633560000"/>
            <a:ext cx="12191695" cy="180594"/>
          </a:xfrm>
          <a:prstGeom prst="rect">
            <a:avLst/>
          </a:prstGeom>
          <a:solidFill>
            <a:srgbClr val="FFE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0" y="5957407440000"/>
            <a:ext cx="12191695" cy="180594"/>
          </a:xfrm>
          <a:prstGeom prst="rect">
            <a:avLst/>
          </a:prstGeom>
          <a:solidFill>
            <a:srgbClr val="FFE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114181320000"/>
            <a:ext cx="12191695" cy="180594"/>
          </a:xfrm>
          <a:prstGeom prst="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2286000" y="365760"/>
            <a:ext cx="7589520" cy="914400"/>
          </a:xfrm>
          <a:prstGeom prst="round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0" y="411480"/>
            <a:ext cx="7589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本章总结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828800" y="146304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207007" y="161848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💡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155448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列表（可变有序序列）、元组（不可变有序序列）、字典（键值映射）、集合（无序唯一）、字符串（不可变文本序列）。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828800" y="2423160"/>
            <a:ext cx="8503920" cy="822960"/>
          </a:xfrm>
          <a:prstGeom prst="roundRect">
            <a:avLst/>
          </a:prstGeom>
          <a:solidFill>
            <a:srgbClr val="7EF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1097280" y="246888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07007" y="257860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251460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可变性：列表、字典、集合可变；元组、字符串不可变。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828800" y="3383280"/>
            <a:ext cx="8503920" cy="822960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97280" y="342900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07007" y="353872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★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103120" y="347472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适用场景：列表存储动态序列，元组保护固定数据，字典快速查找，集合去重与集合运算，字符串处理文本。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828800" y="4343400"/>
            <a:ext cx="8503920" cy="822960"/>
          </a:xfrm>
          <a:prstGeom prst="roundRect">
            <a:avLst/>
          </a:prstGeom>
          <a:solidFill>
            <a:srgbClr val="FFB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97280" y="4389120"/>
            <a:ext cx="548640" cy="548640"/>
          </a:xfrm>
          <a:prstGeom prst="ellipse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7007" y="4498848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</a:rPr>
              <a:t>⚙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03120" y="4434840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D2C2C"/>
                </a:solidFill>
                <a:latin typeface="Microsoft YaHei"/>
                <a:ea typeface="Microsoft YaHei"/>
              </a:rPr>
              <a:t>思考题：设计一个程序，统计一段英文中每个单词出现的次数，你会选择哪些数据结构来实现？如何高效地去重？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57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4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371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1828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2286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2743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200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3657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114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4572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5029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5486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943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400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6858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7315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77724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82296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86868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1440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6012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100584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5156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9728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1430000" y="6126480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1887200" y="6153912"/>
            <a:ext cx="457200" cy="73152"/>
          </a:xfrm>
          <a:prstGeom prst="roundRect">
            <a:avLst/>
          </a:prstGeom>
          <a:solidFill>
            <a:srgbClr val="FFE6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第3章 数据结构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144000" y="644652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B7E7E"/>
                </a:solidFill>
                <a:latin typeface="Microsoft YaHei"/>
                <a:ea typeface="Microsoft YaHei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