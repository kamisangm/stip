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最大值位置</c:v>
                </c:pt>
              </c:strCache>
            </c:strRef>
          </c:tx>
          <c:spPr>
            <a:solidFill>
              <a:srgbClr val="FF8C42"/>
            </a:solidFill>
          </c:spPr>
          <c:cat>
            <c:strRef>
              <c:f>Sheet1!$A$2:$A$6</c:f>
              <c:strCache>
                <c:ptCount val="5"/>
                <c:pt idx="0">
                  <c:v>初始</c:v>
                </c:pt>
                <c:pt idx="1">
                  <c:v>比较3,5→不动</c:v>
                </c:pt>
                <c:pt idx="2">
                  <c:v>比较5,8→不动</c:v>
                </c:pt>
                <c:pt idx="3">
                  <c:v>比较8,4→交换</c:v>
                </c:pt>
                <c:pt idx="4">
                  <c:v>比较8,2→交换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比较次数</c:v>
                </c:pt>
              </c:strCache>
            </c:strRef>
          </c:tx>
          <c:spPr>
            <a:solidFill>
              <a:srgbClr val="FF8C42"/>
            </a:solidFill>
          </c:spPr>
          <c:cat>
            <c:strRef>
              <c:f>Sheet1!$A$2:$A$4</c:f>
              <c:strCache>
                <c:ptCount val="3"/>
                <c:pt idx="0">
                  <c:v>冒泡排序</c:v>
                </c:pt>
                <c:pt idx="1">
                  <c:v>选择排序</c:v>
                </c:pt>
                <c:pt idx="2">
                  <c:v>插入排序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45</c:v>
                </c:pt>
                <c:pt idx="2">
                  <c:v>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，我们来明确排序问题的定义。简单说，排序就是把一堆乱七八糟的数据，按照一定的规则排好顺序。比如班里同学的身高，从矮到高排队。在计算机中，我们通常用数组存储数据，排序后数组元素满足从小到大的顺序。今天要学的三种排序，都是通过比较两个元素的大小，然后决定是否交换位置来实现的。它们的时间复杂度都是O(n²)，这意味着当数据量很大时，速度会比较慢。但正因为简单，我们才能更好地理解排序的核心思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先来看冒泡排序。它的名字很形象，就像水中的气泡一样，较大的元素会逐渐上升到水面。具体做法是：从头开始，比较相邻的两个元素，如果前一个比后一个大，就交换它们。这样，第一轮下来，最大的元素就会像气泡一样“浮”到最后的位置。接着，我们忽略最后一个元素，对前面的部分重复同样的操作。整个过程就像气泡在水中上升，所以叫冒泡排序。有一个小技巧：如果某一轮完全没有发生交换，说明序列已经有序，可以提前结束，这在最好情况下可以提速到O(n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通过柱状图来直观感受冒泡排序的第一趟过程。初始数组是[5,3,8,4,2]，每一列表示当前最大值所在的位置。可以看到，经过四次比较，8最终移到了最后一个位置。这里要特别说明，冒泡排序是稳定的排序算法，也就是说，如果两个元素相等，它们不会交换，相对顺序保持不变。这一点在实际应用中很重要。最坏情况下，比如数组完全逆序，需要大约n方的比较和交换；最好情况下，数组已经有序，只需要一轮比较就可以发现没有交换而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学习选择排序。它的思想更直接：每次从剩下的元素中挑出最小的那个，放到前面已经排好序的末尾。比如排队时，老师让最矮的同学站到第一个位置，然后从剩下的同学里再找最矮的站第二个，以此类推。这样，每一趟只需要一次交换，比冒泡排序的频繁交换要高效一些。不过，选择排序是不稳定的，因为当我们把最小元素交换到前面时，可能破坏相等元素的相对顺序。举个例子，数组[5, 5, 1]中，第一趟找到最小1，把它和第一个5交换，原本前面的5就跑到了后面，两个5的相对顺序就变了。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入排序就更好理解了，回忆一下你打扑克牌时，摸到一张新牌，你会把它插入到手牌中合适的位置，使得手牌始终是有序的。这就是插入排序的思想：我们把数组分成两部分，左边是已经排好序的，右边是未处理的。每次从右边拿第一个元素，从右向左扫描左边的有序部分，找到它应该插入的位置，然后把那个位置及后面的元素依次向右移动一位，再插入。插入排序在数据基本有序时效率极高，接近O(n)。而且它是稳定的排序算法，因为插入时相等元素不会交换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用柱状图对比一下这三种排序的性能。以10个元素的最坏情况为例，三种排序的比较次数都是45次，这一点是一致的。但不同点在于数据移动的次数：冒泡排序交换次数可能多达45次，而选择排序每趟只做一次交换，最多9次交换，但比较次数还是45次。插入排序的移动次数也比较多，约45次。然而在实际工程中，插入排序在数据接近有序时表现出色，因为移动次数很少。另外，三种排序都不需要额外存储空间，是原地排序。总结一下：对于少量数据或基本有序的数据，插入排序是最佳选择；如果对稳定性有要求，优先用冒泡或插入；选择排序虽然交换少，但不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需要记住每种排序的特性。稳定性方面，冒泡和插入不会破坏相等元素的相对顺序，是稳定的；选择排序则不稳定，因为交换可能打乱顺序。在实际选择时，如果数据量很少（比如小于50），插入排序往往最快。如果数据基本有序，插入排序更是首选。如果交换操作成本很高（比如存储卡写入寿命有限），选择排序的少数交换优势就体现出来了。但对于一般场景，我们会使用更高级的排序，比如快速排序或归并排序。最后给大家布置一个练习题：手动模拟三种排序，加深理解。好，下面我们进入本章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我们来回顾一下今天的内容。我们学习了三种基础排序算法：冒泡排序，像气泡一样把大数浮上去；选择排序，每次挑最小的放到前面；插入排序，像打牌一样插入。这三种算法的时间复杂度都是平方级，但各有特点：冒泡稳定但慢，选择交换少但不稳定，插入稳定且对有序数据友好。它们是我们理解排序世界的起点。下一章，我们将进入更高效的排序世界：希尔排序、归并排序和快速排序，它们能让排序速度快很多，敬请期待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排序算法：从无序到有序的基石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第2章 基础排序算法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第2章 基础排序算法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排序问题：我们将要解决什么？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排序问题定义：给定一个包含n个元素的序列，按照指定的比较规则（如从小到大）重新排列元素，使序列有序。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基础排序算法的输入通常是数组或链表，输出是原址排序（即直接在原数组上修改）后的有序序列。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我们重点关注三种简单排序：冒泡排序、选择排序、插入排序，它们都基于比较和交换操作，时间复杂度均为O(n²)。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虽然效率不高，但它们的逻辑清晰、代码简洁，适合作为算法学习的起点，也是理解更高效排序的基石。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第2章 基础排序算法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冒泡排序：像气泡一样上浮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冒泡排序的核心操作：从序列的一端开始，依次比较相邻两个元素，如果顺序错误就交换，每一趟遍历将当前最大（或最小）元素“浮”到末尾。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具体步骤：第一趟对前n个元素进行相邻比较交换，最大元素到达最后位置；第二趟对前n-1个元素重复，直到所有元素有序。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优化技巧：可以设置标志位，如果某一趟没有发生任何交换，说明序列已经有序，提前结束排序。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实际例子：对数组 [5, 3, 8, 4, 2] 进行升序冒泡，第一趟比较4次，交换3次，最终得到[3,5,4,2,8]；第二趟比较3次……直到有序。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第2章 基础排序算法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冒泡排序过程可视化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88720"/>
          <a:ext cx="5943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583680" y="11887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4630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400" b="0">
                <a:solidFill>
                  <a:srgbClr val="4ECDC4"/>
                </a:solidFill>
                <a:latin typeface="Microsoft YaHei"/>
                <a:ea typeface="Microsoft YaHei"/>
              </a:rPr>
              <a:t>→ </a:t>
            </a:r>
            <a:r>
              <a:rPr sz="1700" b="0">
                <a:solidFill>
                  <a:srgbClr val="3D2C2C"/>
                </a:solidFill>
                <a:latin typeface="Microsoft YaHei"/>
                <a:ea typeface="Microsoft YaHei"/>
              </a:rPr>
              <a:t>图中展示了第一趟排序中最大值8逐步移动到末尾的过程，每次比较交换后最大值的位置更新。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400" b="0">
                <a:solidFill>
                  <a:srgbClr val="4ECDC4"/>
                </a:solidFill>
                <a:latin typeface="Microsoft YaHei"/>
                <a:ea typeface="Microsoft YaHei"/>
              </a:rPr>
              <a:t>→ </a:t>
            </a:r>
            <a:r>
              <a:rPr sz="1700" b="0">
                <a:solidFill>
                  <a:srgbClr val="3D2C2C"/>
                </a:solidFill>
                <a:latin typeface="Microsoft YaHei"/>
                <a:ea typeface="Microsoft YaHei"/>
              </a:rPr>
              <a:t>冒泡排序是稳定的排序算法，因为相等元素的相对顺序在交换时不会改变。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400" b="0">
                <a:solidFill>
                  <a:srgbClr val="4ECDC4"/>
                </a:solidFill>
                <a:latin typeface="Microsoft YaHei"/>
                <a:ea typeface="Microsoft YaHei"/>
              </a:rPr>
              <a:t>→ </a:t>
            </a:r>
            <a:r>
              <a:rPr sz="1700" b="0">
                <a:solidFill>
                  <a:srgbClr val="3D2C2C"/>
                </a:solidFill>
                <a:latin typeface="Microsoft YaHei"/>
                <a:ea typeface="Microsoft YaHei"/>
              </a:rPr>
              <a:t>最坏情况下需要比较 n(n-1)/2 次，交换同样次数；最好情况下（已有序）只需比较 n-1 次，无需交换。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2344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8C42"/>
                </a:solidFill>
                <a:latin typeface="Microsoft YaHei"/>
                <a:ea typeface="Microsoft YaHei"/>
              </a:rPr>
              <a:t>📊 数据分析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第2章 基础排序算法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选择排序：每次选最小的放前面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选择排序的核心操作：每一趟从待排序部分中找出最小（或最大）的元素，将其与待排序部分的第一个元素交换位置。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具体步骤：第一趟从整个数组中找到最小元素，与第一个位置交换；第二趟从第二个位置开始向后找最小，与第二个位置交换，以此类推。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选择排序比冒泡排序的交换次数少很多，每趟最多交换1次，总共最多交换n-1次。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示例：对 [29, 10, 14, 37, 13] 进行升序选择排序，第一趟找到最小10，与29交换得[10,29,14,37,13]；第二趟找出13（位置5），与29交换得[10,13,14,37,29]……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第2章 基础排序算法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插入排序：像打牌时整理手牌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插入排序的核心操作：将待排序元素逐个插入到已经有序的子序列中，打牌时整理手牌的方式正是插入排序的直观体现。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具体步骤：从第二个元素开始，将当前元素作为待插入值，从后向前扫描已排序部分，找到合适的位置并插入（同时将大于它的元素依次后移）。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插入排序适用于小规模数据或基本有序的数据，在最好情况下（已有序）只需O(n)时间。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示例：对 [6, 5, 3, 1, 8] 进行插入排序，第一轮插入5：6后移，5插入前面得[5,6,3,1,8]；第二轮插入3：6后移、5后移，3插入得[3,5,6,1,8]……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第2章 基础排序算法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三种基础排序性能对比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88720"/>
          <a:ext cx="5943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583680" y="118872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4630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400" b="0">
                <a:solidFill>
                  <a:srgbClr val="4ECDC4"/>
                </a:solidFill>
                <a:latin typeface="Microsoft YaHei"/>
                <a:ea typeface="Microsoft YaHei"/>
              </a:rPr>
              <a:t>→ </a:t>
            </a:r>
            <a:r>
              <a:rPr sz="1700" b="0">
                <a:solidFill>
                  <a:srgbClr val="3D2C2C"/>
                </a:solidFill>
                <a:latin typeface="Microsoft YaHei"/>
                <a:ea typeface="Microsoft YaHei"/>
              </a:rPr>
              <a:t>三种排序最坏情况下比较次数相同：n(n-1)/2 ≈ 45次（n=10时），时间复杂度均为O(n²)。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400" b="0">
                <a:solidFill>
                  <a:srgbClr val="4ECDC4"/>
                </a:solidFill>
                <a:latin typeface="Microsoft YaHei"/>
                <a:ea typeface="Microsoft YaHei"/>
              </a:rPr>
              <a:t>→ </a:t>
            </a:r>
            <a:r>
              <a:rPr sz="1700" b="0">
                <a:solidFill>
                  <a:srgbClr val="3D2C2C"/>
                </a:solidFill>
                <a:latin typeface="Microsoft YaHei"/>
                <a:ea typeface="Microsoft YaHei"/>
              </a:rPr>
              <a:t>冒泡排序交换次数多（最坏45次），选择排序交换最少（最多9次），插入排序交换（即移动次数）约n(n-1)/2。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400" b="0">
                <a:solidFill>
                  <a:srgbClr val="4ECDC4"/>
                </a:solidFill>
                <a:latin typeface="Microsoft YaHei"/>
                <a:ea typeface="Microsoft YaHei"/>
              </a:rPr>
              <a:t>→ </a:t>
            </a:r>
            <a:r>
              <a:rPr sz="1700" b="0">
                <a:solidFill>
                  <a:srgbClr val="3D2C2C"/>
                </a:solidFill>
                <a:latin typeface="Microsoft YaHei"/>
                <a:ea typeface="Microsoft YaHei"/>
              </a:rPr>
              <a:t>最好情况下：冒泡和插入都可以优化为O(n)（提前退出或移动少），选择排序始终为O(n²)（每次都要找最小）。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400" b="0">
                <a:solidFill>
                  <a:srgbClr val="4ECDC4"/>
                </a:solidFill>
                <a:latin typeface="Microsoft YaHei"/>
                <a:ea typeface="Microsoft YaHei"/>
              </a:rPr>
              <a:t>→ </a:t>
            </a:r>
            <a:r>
              <a:rPr sz="1700" b="0">
                <a:solidFill>
                  <a:srgbClr val="3D2C2C"/>
                </a:solidFill>
                <a:latin typeface="Microsoft YaHei"/>
                <a:ea typeface="Microsoft YaHei"/>
              </a:rPr>
              <a:t>空间复杂度：三种算法均为O(1)原地排序，额外内存消耗极小。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2344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8C42"/>
                </a:solidFill>
                <a:latin typeface="Microsoft YaHei"/>
                <a:ea typeface="Microsoft YaHei"/>
              </a:rPr>
              <a:t>📊 数据分析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第2章 基础排序算法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基础排序的稳定性和适用场景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稳定性：冒泡排序和插入排序是稳定的，选择排序是不稳定的。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适用场景：冒泡排序适合教学演示，实际工程中较少使用；选择排序适用于数据量小但交换成本高的场景（如写入闪存）；插入排序适合数据量小或基本有序的场景。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适应性：插入排序和优化后的冒泡排序能自适应输入的有序性，而选择排序不具有适应性（总是执行全部比较）。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练习题：请对数组 [3, 1, 4, 1, 5, 9, 2, 6] 分别用三种排序手动模拟，并比较各排序的交换次数和稳定性表现。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第2章 基础排序算法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本章总结：基础排序算法核心要点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冒泡排序通过相邻比较交换，将最大元素逐步移到末尾，稳定但交换多，可优化提前退出。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选择排序每趟选择最小元素放到前面，交换少但不稳定，不具有适应性。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插入排序将元素逐个插入到已排序序列，稳定且适合小规模或基本有序的数据。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三种排序时间复杂度均为O(n²)，空间复杂度O(1)；插入排序在最好情况下可达O(n)。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28800" y="530352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97280" y="534924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07007" y="545896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03120" y="53949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下章预告：我们将学习更高效的排序算法——希尔排序、归并排序和快速排序，它们能达到O(n log n)的性能。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第2章 基础排序算法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