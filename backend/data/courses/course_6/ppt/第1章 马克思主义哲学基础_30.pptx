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首先，我们来看物质与意识的关系。马克思主义哲学认为，物质是不依赖于人的意识而存在的客观实在，意识则是人脑对客观世界的反映。简单来说，物质决定意识，但意识一旦形成，又能动地反作用于物质。举个例子，我们对外部世界的认识——比如对气候的感知——来源于客观天气，但我们主动研究天气规律来预报天气，这就是意识的能动反作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在哲学基本问题中，唯物主义和唯心主义是两大对立阵营。唯物主义相信世界本质是物质，比如古代朴素唯物主义把水、火等当作本原；唯心主义则把精神、理念当作本原，比如贝克莱的‘存在即被感知’。马克思主义的辩证唯物主义彻底坚持物质第一性，同时吸收了唯心主义的合理辩证法成分，避免了机械论的局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接下来，我们比较辩证法和形而上学。辩证法认为事物是普遍联系和永恒发展的，内部矛盾推动变化，比如春夏秋冬的交替就体现了对立统一和发展；而形而上学则把事物看作孤立的、静止的，比如‘刻舟求剑’的故事就犯了形而上学的错误。马克思主义辩证法继承黑格尔的合理内核，但将其建立在唯物主义基础上，是我们认识世界的锐利武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对立统一规律是辩证法的核心。简单讲，任何事物内部都包含着矛盾——比如学习中的‘已知’与‘未知’、社会中的‘生产力’与‘生产关系’。矛盾双方既相互排斥又相互依存，共同推动事物前进。同时要记住，内因是变化的根据，外因通过内因起作用，这就解释了为什么同样困难下有些人崛起、有些人沉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质量互变规律告诉我们，事物变化从量变开始，量变积累到一定程度就会发生质变。比如水从液态到气态需要加热到100摄氏度，这就是临界点。在日常生活中，‘千里之堤毁于蚁穴’和‘水滴石穿’都是量变引起质变的例证。我们在工作中也要注意积累，同时把握好度，避免走向极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后，我们来理解实践标准。马克思主义认为，认识是否正确，不能靠主观臆断，也不能靠权威说了算，而必须通过实践来检验。比如，哥白尼的日心说最初受质疑，但后来观测和实验证明了它。实践还具有社会历史性，所以真理是具体的、有条件的，不是一成不变的。这一观点把哲学从书斋里解放出来，成为改造世界的行动指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回顾本章，我们学习了马克思主义哲学基础的核心内容：物质与意识的关系奠定了世界观前提；唯物主义与唯心主义、辩证法与形而上学的比较帮我们划清哲学路线；对立统一和质量互变规律让我们掌握分析矛盾的方法；而实践标准将理论引向行动。课后请大家思考：在日常生活和学习中，如何运用这些原理解决实际问题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0F3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28600"/>
            <a:ext cx="12191695" cy="228600"/>
          </a:xfrm>
          <a:prstGeom prst="rect">
            <a:avLst/>
          </a:prstGeom>
          <a:solidFill>
            <a:srgbClr val="0F3B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57200"/>
            <a:ext cx="12191695" cy="228600"/>
          </a:xfrm>
          <a:prstGeom prst="rect">
            <a:avLst/>
          </a:prstGeom>
          <a:solidFill>
            <a:srgbClr val="0F3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85800"/>
            <a:ext cx="12191695" cy="228600"/>
          </a:xfrm>
          <a:prstGeom prst="rect">
            <a:avLst/>
          </a:prstGeom>
          <a:solidFill>
            <a:srgbClr val="103D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914400"/>
            <a:ext cx="12191695" cy="228600"/>
          </a:xfrm>
          <a:prstGeom prst="rect">
            <a:avLst/>
          </a:prstGeom>
          <a:solidFill>
            <a:srgbClr val="103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1143000"/>
            <a:ext cx="12191695" cy="228600"/>
          </a:xfrm>
          <a:prstGeom prst="rect">
            <a:avLst/>
          </a:prstGeom>
          <a:solidFill>
            <a:srgbClr val="103F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1371600"/>
            <a:ext cx="12191695" cy="228600"/>
          </a:xfrm>
          <a:prstGeom prst="rect">
            <a:avLst/>
          </a:prstGeom>
          <a:solidFill>
            <a:srgbClr val="1140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1600200"/>
            <a:ext cx="12191695" cy="228600"/>
          </a:xfrm>
          <a:prstGeom prst="rect">
            <a:avLst/>
          </a:prstGeom>
          <a:solidFill>
            <a:srgbClr val="1141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1828800"/>
            <a:ext cx="12191695" cy="228600"/>
          </a:xfrm>
          <a:prstGeom prst="rect">
            <a:avLst/>
          </a:prstGeom>
          <a:solidFill>
            <a:srgbClr val="1242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2057400"/>
            <a:ext cx="12191695" cy="228600"/>
          </a:xfrm>
          <a:prstGeom prst="rect">
            <a:avLst/>
          </a:prstGeom>
          <a:solidFill>
            <a:srgbClr val="1243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2286000"/>
            <a:ext cx="12191695" cy="228600"/>
          </a:xfrm>
          <a:prstGeom prst="rect">
            <a:avLst/>
          </a:prstGeom>
          <a:solidFill>
            <a:srgbClr val="124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2514600"/>
            <a:ext cx="12191695" cy="228600"/>
          </a:xfrm>
          <a:prstGeom prst="rect">
            <a:avLst/>
          </a:prstGeom>
          <a:solidFill>
            <a:srgbClr val="134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2743200"/>
            <a:ext cx="12191695" cy="228600"/>
          </a:xfrm>
          <a:prstGeom prst="rect">
            <a:avLst/>
          </a:prstGeom>
          <a:solidFill>
            <a:srgbClr val="1346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2971800"/>
            <a:ext cx="12191695" cy="228600"/>
          </a:xfrm>
          <a:prstGeom prst="rect">
            <a:avLst/>
          </a:prstGeom>
          <a:solidFill>
            <a:srgbClr val="1347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3200400"/>
            <a:ext cx="12191695" cy="228600"/>
          </a:xfrm>
          <a:prstGeom prst="rect">
            <a:avLst/>
          </a:prstGeom>
          <a:solidFill>
            <a:srgbClr val="1448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3429000"/>
            <a:ext cx="12191695" cy="228600"/>
          </a:xfrm>
          <a:prstGeom prst="rect">
            <a:avLst/>
          </a:prstGeom>
          <a:solidFill>
            <a:srgbClr val="1448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3657600"/>
            <a:ext cx="12191695" cy="228600"/>
          </a:xfrm>
          <a:prstGeom prst="rect">
            <a:avLst/>
          </a:prstGeom>
          <a:solidFill>
            <a:srgbClr val="1549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3886200"/>
            <a:ext cx="12191695" cy="228600"/>
          </a:xfrm>
          <a:prstGeom prst="rect">
            <a:avLst/>
          </a:prstGeom>
          <a:solidFill>
            <a:srgbClr val="154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4114800"/>
            <a:ext cx="12191695" cy="228600"/>
          </a:xfrm>
          <a:prstGeom prst="rect">
            <a:avLst/>
          </a:prstGeom>
          <a:solidFill>
            <a:srgbClr val="154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4343400"/>
            <a:ext cx="12191695" cy="228600"/>
          </a:xfrm>
          <a:prstGeom prst="rect">
            <a:avLst/>
          </a:prstGeom>
          <a:solidFill>
            <a:srgbClr val="164C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4572000"/>
            <a:ext cx="12191695" cy="228600"/>
          </a:xfrm>
          <a:prstGeom prst="rect">
            <a:avLst/>
          </a:prstGeom>
          <a:solidFill>
            <a:srgbClr val="164D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4800600"/>
            <a:ext cx="12191695" cy="228600"/>
          </a:xfrm>
          <a:prstGeom prst="rect">
            <a:avLst/>
          </a:prstGeom>
          <a:solidFill>
            <a:srgbClr val="164E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0" y="5029200"/>
            <a:ext cx="12191695" cy="228600"/>
          </a:xfrm>
          <a:prstGeom prst="rect">
            <a:avLst/>
          </a:prstGeom>
          <a:solidFill>
            <a:srgbClr val="174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0" y="5257800"/>
            <a:ext cx="12191695" cy="228600"/>
          </a:xfrm>
          <a:prstGeom prst="rect">
            <a:avLst/>
          </a:prstGeom>
          <a:solidFill>
            <a:srgbClr val="1750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0" y="5486400"/>
            <a:ext cx="12191695" cy="228600"/>
          </a:xfrm>
          <a:prstGeom prst="rect">
            <a:avLst/>
          </a:prstGeom>
          <a:solidFill>
            <a:srgbClr val="1851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0" y="5715000"/>
            <a:ext cx="12191695" cy="228600"/>
          </a:xfrm>
          <a:prstGeom prst="rect">
            <a:avLst/>
          </a:prstGeom>
          <a:solidFill>
            <a:srgbClr val="1852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5943600"/>
            <a:ext cx="12191695" cy="228600"/>
          </a:xfrm>
          <a:prstGeom prst="rect">
            <a:avLst/>
          </a:prstGeom>
          <a:solidFill>
            <a:srgbClr val="1853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0" y="6172200"/>
            <a:ext cx="12191695" cy="228600"/>
          </a:xfrm>
          <a:prstGeom prst="rect">
            <a:avLst/>
          </a:prstGeom>
          <a:solidFill>
            <a:srgbClr val="1954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0" y="6400800"/>
            <a:ext cx="12191695" cy="228600"/>
          </a:xfrm>
          <a:prstGeom prst="rect">
            <a:avLst/>
          </a:prstGeom>
          <a:solidFill>
            <a:srgbClr val="1955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686800" y="-1371600"/>
            <a:ext cx="3657600" cy="3657600"/>
          </a:xfrm>
          <a:prstGeom prst="ellipse">
            <a:avLst/>
          </a:prstGeom>
          <a:solidFill>
            <a:srgbClr val="2566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-1371600" y="5029200"/>
            <a:ext cx="2743200" cy="2743200"/>
          </a:xfrm>
          <a:prstGeom prst="ellipse">
            <a:avLst/>
          </a:prstGeom>
          <a:solidFill>
            <a:srgbClr val="2566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371600" y="2011680"/>
            <a:ext cx="9418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Microsoft YaHei"/>
                <a:ea typeface="Microsoft YaHei"/>
              </a:rPr>
              <a:t>第1章 马克思主义哲学基础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71600" y="3840480"/>
            <a:ext cx="9418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A8C8FA"/>
                </a:solidFill>
                <a:latin typeface="Microsoft YaHei"/>
                <a:ea typeface="Microsoft YaHei"/>
              </a:rPr>
              <a:t>第1章 马克思主义哲学基础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371600" y="5852160"/>
            <a:ext cx="9418320" cy="13716"/>
          </a:xfrm>
          <a:prstGeom prst="rect">
            <a:avLst/>
          </a:prstGeom>
          <a:solidFill>
            <a:srgbClr val="A8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371600" y="5943600"/>
            <a:ext cx="9418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A8C8FA"/>
                </a:solidFill>
                <a:latin typeface="Microsoft YaHei"/>
                <a:ea typeface="Microsoft YaHei"/>
              </a:rPr>
              <a:t>第1章 马克思主义哲学基础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物质与意识的关系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09728" cy="5349240"/>
          </a:xfrm>
          <a:prstGeom prst="rect">
            <a:avLst/>
          </a:prstGeom>
          <a:solidFill>
            <a:srgbClr val="A8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36576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1554480"/>
            <a:ext cx="987552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F0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1828800"/>
            <a:ext cx="8961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物质是第一性的，意识是第二性的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物质决定意识，意识反作用于物质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意识是物质世界长期发展的产物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第1章 马克思主义哲学基础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2 / 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唯物主义与唯心主义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09728" cy="5349240"/>
          </a:xfrm>
          <a:prstGeom prst="rect">
            <a:avLst/>
          </a:prstGeom>
          <a:solidFill>
            <a:srgbClr val="A8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36576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1554480"/>
            <a:ext cx="987552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F0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1828800"/>
            <a:ext cx="8961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唯物主义：物质是本原，意识是派生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唯心主义：意识是本原，物质是派生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马克思主义是彻底的唯物主义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第1章 马克思主义哲学基础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3 / 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辩证法与形而上学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09728" cy="5349240"/>
          </a:xfrm>
          <a:prstGeom prst="rect">
            <a:avLst/>
          </a:prstGeom>
          <a:solidFill>
            <a:srgbClr val="A8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36576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1554480"/>
            <a:ext cx="987552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F0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1828800"/>
            <a:ext cx="8961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辩证法：用联系、发展、矛盾的观点看世界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形而上学：用孤立、静止、片面的观点看世界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马克思主义辩证法是科学的辩证法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第1章 马克思主义哲学基础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4 / 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对立统一规律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09728" cy="5349240"/>
          </a:xfrm>
          <a:prstGeom prst="rect">
            <a:avLst/>
          </a:prstGeom>
          <a:solidFill>
            <a:srgbClr val="A8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36576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1554480"/>
            <a:ext cx="987552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F0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1828800"/>
            <a:ext cx="8961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矛盾是事物发展的根本动力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矛盾双方既对立又统一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内因是变化的根据，外因是变化的条件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第1章 马克思主义哲学基础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5 /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质量互变规律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09728" cy="5349240"/>
          </a:xfrm>
          <a:prstGeom prst="rect">
            <a:avLst/>
          </a:prstGeom>
          <a:solidFill>
            <a:srgbClr val="A8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36576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1554480"/>
            <a:ext cx="987552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F0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1828800"/>
            <a:ext cx="8961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量变是质变的必要准备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质变是量变的必然结果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坚持适度原则，防止‘过犹不及’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第1章 马克思主义哲学基础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6 / 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实践是检验真理的唯一标准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09728" cy="5349240"/>
          </a:xfrm>
          <a:prstGeom prst="rect">
            <a:avLst/>
          </a:prstGeom>
          <a:solidFill>
            <a:srgbClr val="A8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36576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1554480"/>
            <a:ext cx="987552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F0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1828800"/>
            <a:ext cx="8961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实践是认识的来源、动力和目的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实践是检验认识真理性的唯一标准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真理是具体的、有条件的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第1章 马克思主义哲学基础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7 / 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本章小结与思考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09728" cy="5349240"/>
          </a:xfrm>
          <a:prstGeom prst="rect">
            <a:avLst/>
          </a:prstGeom>
          <a:solidFill>
            <a:srgbClr val="A8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36576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1554480"/>
            <a:ext cx="987552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F0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1828800"/>
            <a:ext cx="8961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物质与意识、唯物与唯心、辩证与形而上学是基本框架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对立统一与质量互变提供了分析工具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实践标准赋予理论生命力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第1章 马克思主义哲学基础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8 /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