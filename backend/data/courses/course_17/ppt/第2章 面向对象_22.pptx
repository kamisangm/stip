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开始具体学习之前，我们先思考一个问题：为什么我们需要面向对象编程？大家知道，早期的编程语言如C语言采用面向过程的方式，把程序看作一系列函数的调用。当软件规模越来越大时，数据与操作的分离导致代码难以维护和扩展。面向对象则将数据和操作绑定在一起，通过类来创建对象，每个对象都有自己的状态和行为。比如我们要开发一个学生管理系统，如果用面向对象，我们只需要定义一个Student类，包含姓名、学号等属性，以及选课、评分等方法，然后每个学生就是一个具体的对象。而面向过程则可能需要定义多个全局的结构体数组和独立的函数来操作这些数据，越写越复杂。所以，面向对象让我们能够以更自然的方式建模现实世界，这也是Java语言的核心思想。好，接下来我们正式学习第一个知识点：类与对象。</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先来看第一个重点：类与对象。类就像一张建筑图纸，规定了建筑的结构和功能，但图纸本身不是建筑。对象就是按照图纸建出来的实际建筑。比如我们定义一个Student类，里面有姓名、学号、年龄这些属性，还有学习、考试这些方法。然后通过new关键字，我们就能创建出具体的学生对象，比如张三、李四。每个对象的属性值可以不同，但行为一致。特别要注意的是构造方法，它在我们创建对象时自动执行，用来初始化属性。如果我们没有自己写构造方法，Java会提供一个默认的无参构造。但如果我们显式定义了带参构造，默认构造就会消失，需要手动写出来才能用。大家理解了这个基础，后面学习继承和多态就容易多了。</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我们聊聊封装和访问修饰符。封装是面向对象的第一大特性，它的核心思想是把不想让外界直接访问的内容藏起来，只留下安全的使用通道。比如一个学生对象的年龄，我们不能让外界随意赋值，因为可能是负数或超过合理范围。所以我们把age属性声明为private，然后写一个public的setAge方法，在里面加入校验逻辑，比如年龄必须在0到150之间，这样就能保证数据的安全。访问修饰符就是实现封装的具体工具。private最严格，只有本类内部能访问；default是包级私有，同一个包里的可以访问；protected更宽松一点，不同包的子类也可以访问；public最开放，谁都能用。我们设计类的时候，通常习惯把属性设为private，只通过public方法暴露行为，这样就算以后内部实现改了，外部代码也不用变，提高了可维护性。</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继承是面向对象第二大特性，也是代码复用的重要手段。当我们有多个类具有共同的属性和行为时，可以把它们抽取到一个父类中，然后让子类通过extends继承父类，这样就不用重复写相同的代码了。比如我们有一个Person类包含姓名和年龄，然后Student类和Teacher类都可以继承Person，各自再添加自己的独特内容。需要注意，Java是单继承，一个子类只能有一个父类，但父类可以有多个子类。子类可以重写父类的方法，实现自己特有的行为。另外，在子类的构造方法中，第一行会默认调用父类的无参构造，如果父类没有无参构造，我们就必须用super(参数)显式调用。大家思考一下：如果有一个Animal父类，Cat和Dog子类，它们都能发出声音，但具体叫声不同，这就是重写的典型应用，也是多态的基础。</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多态是面向对象的第三大特性，也是Java中最精彩的概念之一。简单来说，多态就是同一个方法调用，因为实际对象不同而表现出不同的行为。比如我们定义一个Animal类型的变量a，让它引用一个Cat对象，然后调用a.sound()，虽然编译时a是Animal类型，但运行时实际执行的是Cat类重写后的sound()方法——这就是动态绑定。要实现多态，需要三个条件：有继承关系（或接口实现）、子类重写父类方法、父类引用指向子类对象。多态最大的好处是让程序具有更好的扩展性。比如我们写一个函数，参数是Animal类型，那么任何Animal的子类对象都可以传进去，如果以后增加一个Bird子类，不用修改这个函数，它就能处理Bird。这就是所谓的“开闭原则”：对扩展开放，对修改关闭。</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我们对比一下抽象类和接口，它们都是实现抽象的方式，但适用场景不同。抽象类用abstract修饰，它可以有抽象方法（只有声明，没有方法体），也可以有具体方法和成员变量。抽象类不能实例化，必须由子类继承并实现抽象方法。比如我们设计一个Shape抽象类，里面定义getArea()抽象方法，那么Circle和Rectangle继承后分别实现自己的面积计算逻辑。而接口更强调契约，它只声明方法签名，不提供实现（除了default方法），任何实现接口的类都必须实现这些方法。接口可以多实现，一个类可以实现多个接口，比如一个类既可以实现Serializable接口，也可以实现Comparable接口。在实际开发中，如果多个类之间共享代码，用抽象类；如果只是定义行为规范，用接口。很多设计模式都依赖于接口，比如工厂模式、策略模式。希望大家能深刻理解这两种工具的区别和用法。</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好，我们快速回顾一下本章的核心内容。首先，我们学习了类与对象，明白了类就是图纸，对象就是实物，构造方法帮我们初始化。然后我们知道了封装和访问修饰符的关系，private是保护数据最常用的方式。接着，继承让我们重用代码，多态让我们灵活地调用方法，接口和抽象类则是设计高可扩展系统的重要工具。同学们，学完这一章，你们已经掌握了面向对象的精髓。最后留一道思考题：假设我们要设计一个动物叫声系统，有Cat、Dog、Duck等动物，请用抽象类或接口来设计，并体现多态的应用。大家可以下去动手写一写代码。下一章我们将学习异常处理，感谢大家的聆听。</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42" name="Rectangle 41"/>
          <p:cNvSpPr/>
          <p:nvPr/>
        </p:nvSpPr>
        <p:spPr>
          <a:xfrm>
            <a:off x="0" y="0"/>
            <a:ext cx="12191695" cy="1828800"/>
          </a:xfrm>
          <a:prstGeom prst="rect">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2" name="Rectangle 1"/>
          <p:cNvSpPr/>
          <p:nvPr/>
        </p:nvSpPr>
        <p:spPr>
          <a:xfrm>
            <a:off x="0" y="0"/>
            <a:ext cx="12191695" cy="180594"/>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6773880000"/>
            <a:ext cx="12191695" cy="180594"/>
          </a:xfrm>
          <a:prstGeom prst="rect">
            <a:avLst/>
          </a:prstGeom>
          <a:solidFill>
            <a:srgbClr val="FF8E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13547760000"/>
            <a:ext cx="12191695" cy="180594"/>
          </a:xfrm>
          <a:prstGeom prst="rect">
            <a:avLst/>
          </a:prstGeom>
          <a:solidFill>
            <a:srgbClr val="FF9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70321640000"/>
            <a:ext cx="12191695" cy="180594"/>
          </a:xfrm>
          <a:prstGeom prst="rect">
            <a:avLst/>
          </a:prstGeom>
          <a:solidFill>
            <a:srgbClr val="FF92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7095520000"/>
            <a:ext cx="12191695" cy="180594"/>
          </a:xfrm>
          <a:prstGeom prst="rect">
            <a:avLst/>
          </a:prstGeom>
          <a:solidFill>
            <a:srgbClr val="FF95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783869400000"/>
            <a:ext cx="12191695" cy="180594"/>
          </a:xfrm>
          <a:prstGeom prst="rect">
            <a:avLst/>
          </a:prstGeom>
          <a:solidFill>
            <a:srgbClr val="FF9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940643280000"/>
            <a:ext cx="12191695" cy="180594"/>
          </a:xfrm>
          <a:prstGeom prst="rect">
            <a:avLst/>
          </a:prstGeom>
          <a:solidFill>
            <a:srgbClr val="FF9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417160000"/>
            <a:ext cx="12191695" cy="180594"/>
          </a:xfrm>
          <a:prstGeom prst="rect">
            <a:avLst/>
          </a:prstGeom>
          <a:solidFill>
            <a:srgbClr val="FF9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1254191040000"/>
            <a:ext cx="12191695" cy="180594"/>
          </a:xfrm>
          <a:prstGeom prst="rect">
            <a:avLst/>
          </a:prstGeom>
          <a:solidFill>
            <a:srgbClr val="FF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1410964920000"/>
            <a:ext cx="12191695" cy="180594"/>
          </a:xfrm>
          <a:prstGeom prst="rect">
            <a:avLst/>
          </a:prstGeom>
          <a:solidFill>
            <a:srgbClr val="FFA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1567738800000"/>
            <a:ext cx="12191695" cy="180594"/>
          </a:xfrm>
          <a:prstGeom prst="rect">
            <a:avLst/>
          </a:prstGeom>
          <a:solidFill>
            <a:srgbClr val="FFA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1724512680000"/>
            <a:ext cx="12191695" cy="180594"/>
          </a:xfrm>
          <a:prstGeom prst="rect">
            <a:avLst/>
          </a:prstGeom>
          <a:solidFill>
            <a:srgbClr val="FFA5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1881286560000"/>
            <a:ext cx="12191695" cy="180594"/>
          </a:xfrm>
          <a:prstGeom prst="rect">
            <a:avLst/>
          </a:prstGeom>
          <a:solidFill>
            <a:srgbClr val="FF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2038060440000"/>
            <a:ext cx="12191695" cy="180594"/>
          </a:xfrm>
          <a:prstGeom prst="rect">
            <a:avLst/>
          </a:prstGeom>
          <a:solidFill>
            <a:srgbClr val="FFA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2194834320000"/>
            <a:ext cx="12191695" cy="180594"/>
          </a:xfrm>
          <a:prstGeom prst="rect">
            <a:avLst/>
          </a:prstGeom>
          <a:solidFill>
            <a:srgbClr val="FFA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2351608200000"/>
            <a:ext cx="12191695" cy="180594"/>
          </a:xfrm>
          <a:prstGeom prst="rect">
            <a:avLst/>
          </a:prstGeom>
          <a:solidFill>
            <a:srgbClr val="FFA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2508382080000"/>
            <a:ext cx="12191695" cy="180594"/>
          </a:xfrm>
          <a:prstGeom prst="rect">
            <a:avLst/>
          </a:prstGeom>
          <a:solidFill>
            <a:srgbClr val="FFB0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2665155960000"/>
            <a:ext cx="12191695" cy="180594"/>
          </a:xfrm>
          <a:prstGeom prst="rect">
            <a:avLst/>
          </a:prstGeom>
          <a:solidFill>
            <a:srgbClr val="FFB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2821929840000"/>
            <a:ext cx="12191695" cy="180594"/>
          </a:xfrm>
          <a:prstGeom prst="rect">
            <a:avLst/>
          </a:prstGeom>
          <a:solidFill>
            <a:srgbClr val="FFB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2978703720000"/>
            <a:ext cx="12191695" cy="180594"/>
          </a:xfrm>
          <a:prstGeom prst="rect">
            <a:avLst/>
          </a:prstGeom>
          <a:solidFill>
            <a:srgbClr val="FFB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3135477600000"/>
            <a:ext cx="12191695" cy="180594"/>
          </a:xfrm>
          <a:prstGeom prst="rect">
            <a:avLst/>
          </a:prstGeom>
          <a:solidFill>
            <a:srgbClr val="FFB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3292251480000"/>
            <a:ext cx="12191695" cy="180594"/>
          </a:xfrm>
          <a:prstGeom prst="rect">
            <a:avLst/>
          </a:prstGeom>
          <a:solidFill>
            <a:srgbClr val="FFB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3449025360000"/>
            <a:ext cx="12191695" cy="180594"/>
          </a:xfrm>
          <a:prstGeom prst="rect">
            <a:avLst/>
          </a:prstGeom>
          <a:solidFill>
            <a:srgbClr val="FFB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3605799240000"/>
            <a:ext cx="12191695" cy="180594"/>
          </a:xfrm>
          <a:prstGeom prst="rect">
            <a:avLst/>
          </a:prstGeom>
          <a:solidFill>
            <a:srgbClr val="FFC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762573120000"/>
            <a:ext cx="12191695" cy="180594"/>
          </a:xfrm>
          <a:prstGeom prst="rect">
            <a:avLst/>
          </a:prstGeom>
          <a:solidFill>
            <a:srgbClr val="FFC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919347000000"/>
            <a:ext cx="12191695" cy="180594"/>
          </a:xfrm>
          <a:prstGeom prst="rect">
            <a:avLst/>
          </a:prstGeom>
          <a:solidFill>
            <a:srgbClr val="FFC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076120880000"/>
            <a:ext cx="12191695" cy="180594"/>
          </a:xfrm>
          <a:prstGeom prst="rect">
            <a:avLst/>
          </a:prstGeom>
          <a:solidFill>
            <a:srgbClr val="FFC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232894760000"/>
            <a:ext cx="12191695" cy="180594"/>
          </a:xfrm>
          <a:prstGeom prst="rect">
            <a:avLst/>
          </a:prstGeom>
          <a:solidFill>
            <a:srgbClr val="FFC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4389668640000"/>
            <a:ext cx="12191695" cy="180594"/>
          </a:xfrm>
          <a:prstGeom prst="rect">
            <a:avLst/>
          </a:prstGeom>
          <a:solidFill>
            <a:srgbClr val="FFCC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4546442520000"/>
            <a:ext cx="12191695" cy="180594"/>
          </a:xfrm>
          <a:prstGeom prst="rect">
            <a:avLst/>
          </a:prstGeom>
          <a:solidFill>
            <a:srgbClr val="FFCE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4703216400000"/>
            <a:ext cx="12191695" cy="180594"/>
          </a:xfrm>
          <a:prstGeom prst="rect">
            <a:avLst/>
          </a:prstGeom>
          <a:solidFill>
            <a:srgbClr val="FFD1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4859990280000"/>
            <a:ext cx="12191695" cy="180594"/>
          </a:xfrm>
          <a:prstGeom prst="rect">
            <a:avLst/>
          </a:prstGeom>
          <a:solidFill>
            <a:srgbClr val="FFD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5016764160000"/>
            <a:ext cx="12191695" cy="180594"/>
          </a:xfrm>
          <a:prstGeom prst="rect">
            <a:avLst/>
          </a:prstGeom>
          <a:solidFill>
            <a:srgbClr val="FFD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5173538040000"/>
            <a:ext cx="12191695" cy="180594"/>
          </a:xfrm>
          <a:prstGeom prst="rect">
            <a:avLst/>
          </a:prstGeom>
          <a:solidFill>
            <a:srgbClr val="FFD8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5330311920000"/>
            <a:ext cx="12191695" cy="180594"/>
          </a:xfrm>
          <a:prstGeom prst="rect">
            <a:avLst/>
          </a:prstGeom>
          <a:solidFill>
            <a:srgbClr val="FFDA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5487085800000"/>
            <a:ext cx="12191695" cy="180594"/>
          </a:xfrm>
          <a:prstGeom prst="rect">
            <a:avLst/>
          </a:prstGeom>
          <a:solidFill>
            <a:srgbClr val="FFDC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5643859680000"/>
            <a:ext cx="12191695" cy="180594"/>
          </a:xfrm>
          <a:prstGeom prst="rect">
            <a:avLst/>
          </a:prstGeom>
          <a:solidFill>
            <a:srgbClr val="FFD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5800633560000"/>
            <a:ext cx="12191695" cy="180594"/>
          </a:xfrm>
          <a:prstGeom prst="rect">
            <a:avLst/>
          </a:prstGeom>
          <a:solidFill>
            <a:srgbClr val="FFE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5957407440000"/>
            <a:ext cx="12191695" cy="180594"/>
          </a:xfrm>
          <a:prstGeom prst="rect">
            <a:avLst/>
          </a:prstGeom>
          <a:solidFill>
            <a:srgbClr val="FFE3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6114181320000"/>
            <a:ext cx="12191695" cy="180594"/>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772400" y="-914400"/>
            <a:ext cx="4572000" cy="4572000"/>
          </a:xfrm>
          <a:prstGeom prst="ellipse">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14400" y="4114800"/>
            <a:ext cx="3200400" cy="320040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400800" y="2743200"/>
            <a:ext cx="1828800" cy="1828800"/>
          </a:xfrm>
          <a:prstGeom prst="ellipse">
            <a:avLst/>
          </a:prstGeom>
          <a:solidFill>
            <a:srgbClr val="7EF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14400" y="1645920"/>
            <a:ext cx="10332720" cy="2286000"/>
          </a:xfrm>
          <a:prstGeom prst="round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88720" y="1920240"/>
            <a:ext cx="9784080" cy="1737360"/>
          </a:xfrm>
          <a:prstGeom prst="rect">
            <a:avLst/>
          </a:prstGeom>
          <a:noFill/>
        </p:spPr>
        <p:txBody>
          <a:bodyPr wrap="square">
            <a:spAutoFit/>
          </a:bodyPr>
          <a:lstStyle/>
          <a:p>
            <a:pPr algn="ctr"/>
            <a:r>
              <a:rPr sz="3800" b="1">
                <a:solidFill>
                  <a:srgbClr val="FFFFFF"/>
                </a:solidFill>
                <a:latin typeface="Microsoft YaHei"/>
                <a:ea typeface="Microsoft YaHei"/>
              </a:rPr>
              <a:t>第2章 面向对象</a:t>
            </a:r>
          </a:p>
        </p:txBody>
      </p:sp>
      <p:sp>
        <p:nvSpPr>
          <p:cNvPr id="48" name="TextBox 47"/>
          <p:cNvSpPr txBox="1"/>
          <p:nvPr/>
        </p:nvSpPr>
        <p:spPr>
          <a:xfrm>
            <a:off x="914400" y="4389120"/>
            <a:ext cx="10332720" cy="731520"/>
          </a:xfrm>
          <a:prstGeom prst="rect">
            <a:avLst/>
          </a:prstGeom>
          <a:noFill/>
        </p:spPr>
        <p:txBody>
          <a:bodyPr wrap="square">
            <a:spAutoFit/>
          </a:bodyPr>
          <a:lstStyle/>
          <a:p>
            <a:pPr algn="ctr"/>
            <a:r>
              <a:rPr sz="2000" b="0">
                <a:solidFill>
                  <a:srgbClr val="2A9D8F"/>
                </a:solidFill>
                <a:latin typeface="Microsoft YaHei"/>
                <a:ea typeface="Microsoft YaHei"/>
              </a:rPr>
              <a:t>第2章 面向对象</a:t>
            </a:r>
          </a:p>
        </p:txBody>
      </p:sp>
      <p:sp>
        <p:nvSpPr>
          <p:cNvPr id="49" name="Rounded Rectangle 48"/>
          <p:cNvSpPr/>
          <p:nvPr/>
        </p:nvSpPr>
        <p:spPr>
          <a:xfrm>
            <a:off x="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4572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9144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13716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8288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22860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27432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32004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36576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41148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45720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50292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54864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59436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64008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68580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73152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77724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82296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86868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91440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96012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100584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105156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109728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114300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118872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371600" y="5852160"/>
            <a:ext cx="9418320" cy="13716"/>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371600" y="5943600"/>
            <a:ext cx="9418320" cy="457200"/>
          </a:xfrm>
          <a:prstGeom prst="rect">
            <a:avLst/>
          </a:prstGeom>
          <a:noFill/>
        </p:spPr>
        <p:txBody>
          <a:bodyPr wrap="none">
            <a:spAutoFit/>
          </a:bodyPr>
          <a:lstStyle/>
          <a:p>
            <a:pPr algn="ctr"/>
            <a:r>
              <a:rPr sz="1200" b="0">
                <a:solidFill>
                  <a:srgbClr val="FFE66D"/>
                </a:solidFill>
                <a:latin typeface="Microsoft YaHei"/>
                <a:ea typeface="Microsoft YaHei"/>
              </a:rPr>
              <a:t>第2章 面向对象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822960"/>
          </a:xfrm>
          <a:prstGeom prst="rect">
            <a:avLst/>
          </a:prstGeom>
          <a:noFill/>
        </p:spPr>
        <p:txBody>
          <a:bodyPr wrap="square">
            <a:spAutoFit/>
          </a:bodyPr>
          <a:lstStyle/>
          <a:p>
            <a:pPr algn="l"/>
            <a:r>
              <a:rPr sz="2800" b="1">
                <a:solidFill>
                  <a:srgbClr val="FFFFFF"/>
                </a:solidFill>
                <a:latin typeface="Microsoft YaHei"/>
                <a:ea typeface="Microsoft YaHei"/>
              </a:rPr>
              <a:t>为什么需要面向对象？</a:t>
            </a:r>
          </a:p>
        </p:txBody>
      </p:sp>
      <p:sp>
        <p:nvSpPr>
          <p:cNvPr id="4" name="Rectangle 3"/>
          <p:cNvSpPr/>
          <p:nvPr/>
        </p:nvSpPr>
        <p:spPr>
          <a:xfrm>
            <a:off x="0" y="1371600"/>
            <a:ext cx="54864" cy="2286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91640"/>
            <a:ext cx="54864" cy="22860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011680"/>
            <a:ext cx="54864" cy="22860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331720"/>
            <a:ext cx="54864" cy="2286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0" y="1371600"/>
            <a:ext cx="137160" cy="13716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0" y="1737360"/>
            <a:ext cx="137160" cy="137160"/>
          </a:xfrm>
          <a:prstGeom prst="ellipse">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0" y="2103120"/>
            <a:ext cx="137160" cy="13716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88720" y="1508760"/>
            <a:ext cx="9966960" cy="2834639"/>
          </a:xfrm>
          <a:prstGeom prst="roundRect">
            <a:avLst/>
          </a:prstGeom>
          <a:solidFill>
            <a:srgbClr val="FFFFFF"/>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828800"/>
            <a:ext cx="8961120" cy="3657600"/>
          </a:xfrm>
          <a:prstGeom prst="rect">
            <a:avLst/>
          </a:prstGeom>
          <a:noFill/>
        </p:spPr>
        <p:txBody>
          <a:bodyPr wrap="square">
            <a:spAutoFit/>
          </a:bodyPr>
          <a:lstStyle/>
          <a:p>
            <a:pPr>
              <a:spcBef>
                <a:spcPts val="1000"/>
              </a:spcBef>
              <a:spcAft>
                <a:spcPts val="500"/>
              </a:spcAft>
            </a:pPr>
            <a:r>
              <a:rPr sz="1800" b="0">
                <a:solidFill>
                  <a:srgbClr val="3D2C2C"/>
                </a:solidFill>
                <a:latin typeface="Microsoft YaHei"/>
                <a:ea typeface="Microsoft YaHei"/>
              </a:rPr>
              <a:t>面向过程编程将数据与操作分离，导致大型项目维护困难，而面向对象以“对象”为中心，将数据和操作封装在一起，更符合人类的认知习惯。</a:t>
            </a:r>
          </a:p>
          <a:p>
            <a:pPr>
              <a:spcBef>
                <a:spcPts val="1000"/>
              </a:spcBef>
              <a:spcAft>
                <a:spcPts val="500"/>
              </a:spcAft>
            </a:pPr>
            <a:r>
              <a:rPr sz="1800" b="0">
                <a:solidFill>
                  <a:srgbClr val="3D2C2C"/>
                </a:solidFill>
                <a:latin typeface="Microsoft YaHei"/>
                <a:ea typeface="Microsoft YaHei"/>
              </a:rPr>
              <a:t>面向对象的三大特性——封装、继承、多态——使得代码复用性提高，扩展性增强，是构建大型软件系统的基石。</a:t>
            </a:r>
          </a:p>
          <a:p>
            <a:pPr>
              <a:spcBef>
                <a:spcPts val="1000"/>
              </a:spcBef>
              <a:spcAft>
                <a:spcPts val="500"/>
              </a:spcAft>
            </a:pPr>
            <a:r>
              <a:rPr sz="1800" b="0">
                <a:solidFill>
                  <a:srgbClr val="3D2C2C"/>
                </a:solidFill>
                <a:latin typeface="Microsoft YaHei"/>
                <a:ea typeface="Microsoft YaHei"/>
              </a:rPr>
              <a:t>例如：开发一个学生管理系统，用面向对象可以定义Student类，包含姓名、学号等属性和选课、评分等方法，每个学生就是该类的一个对象。</a:t>
            </a:r>
          </a:p>
          <a:p>
            <a:pPr>
              <a:spcBef>
                <a:spcPts val="1000"/>
              </a:spcBef>
              <a:spcAft>
                <a:spcPts val="500"/>
              </a:spcAft>
            </a:pPr>
            <a:r>
              <a:rPr sz="1800" b="0">
                <a:solidFill>
                  <a:srgbClr val="3D2C2C"/>
                </a:solidFill>
                <a:latin typeface="Microsoft YaHei"/>
                <a:ea typeface="Microsoft YaHei"/>
              </a:rPr>
              <a:t>对比面向过程的实现方式：需要定义全局的数据结构（如结构体）和独立的函数，当业务复杂时代码会变得混乱难改。</a:t>
            </a:r>
          </a:p>
        </p:txBody>
      </p:sp>
      <p:sp>
        <p:nvSpPr>
          <p:cNvPr id="13" name="Oval 12"/>
          <p:cNvSpPr/>
          <p:nvPr/>
        </p:nvSpPr>
        <p:spPr>
          <a:xfrm>
            <a:off x="1371600" y="182880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1874519"/>
            <a:ext cx="320040" cy="320040"/>
          </a:xfrm>
          <a:prstGeom prst="rect">
            <a:avLst/>
          </a:prstGeom>
          <a:noFill/>
        </p:spPr>
        <p:txBody>
          <a:bodyPr wrap="none">
            <a:spAutoFit/>
          </a:bodyPr>
          <a:lstStyle/>
          <a:p>
            <a:pPr algn="ctr"/>
            <a:r>
              <a:rPr sz="1800" b="1">
                <a:solidFill>
                  <a:srgbClr val="FFFFFF"/>
                </a:solidFill>
              </a:rPr>
              <a:t>1</a:t>
            </a:r>
          </a:p>
        </p:txBody>
      </p:sp>
      <p:sp>
        <p:nvSpPr>
          <p:cNvPr id="15" name="Oval 14"/>
          <p:cNvSpPr/>
          <p:nvPr/>
        </p:nvSpPr>
        <p:spPr>
          <a:xfrm>
            <a:off x="1371600" y="242316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468879"/>
            <a:ext cx="320040" cy="320040"/>
          </a:xfrm>
          <a:prstGeom prst="rect">
            <a:avLst/>
          </a:prstGeom>
          <a:noFill/>
        </p:spPr>
        <p:txBody>
          <a:bodyPr wrap="none">
            <a:spAutoFit/>
          </a:bodyPr>
          <a:lstStyle/>
          <a:p>
            <a:pPr algn="ctr"/>
            <a:r>
              <a:rPr sz="1800" b="1">
                <a:solidFill>
                  <a:srgbClr val="FFFFFF"/>
                </a:solidFill>
              </a:rPr>
              <a:t>2</a:t>
            </a:r>
          </a:p>
        </p:txBody>
      </p:sp>
      <p:sp>
        <p:nvSpPr>
          <p:cNvPr id="17" name="Oval 16"/>
          <p:cNvSpPr/>
          <p:nvPr/>
        </p:nvSpPr>
        <p:spPr>
          <a:xfrm>
            <a:off x="1371600" y="301752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063239"/>
            <a:ext cx="320040" cy="320040"/>
          </a:xfrm>
          <a:prstGeom prst="rect">
            <a:avLst/>
          </a:prstGeom>
          <a:noFill/>
        </p:spPr>
        <p:txBody>
          <a:bodyPr wrap="none">
            <a:spAutoFit/>
          </a:bodyPr>
          <a:lstStyle/>
          <a:p>
            <a:pPr algn="ctr"/>
            <a:r>
              <a:rPr sz="1800" b="1">
                <a:solidFill>
                  <a:srgbClr val="FFFFFF"/>
                </a:solidFill>
              </a:rPr>
              <a:t>3</a:t>
            </a:r>
          </a:p>
        </p:txBody>
      </p:sp>
      <p:sp>
        <p:nvSpPr>
          <p:cNvPr id="19" name="Oval 18"/>
          <p:cNvSpPr/>
          <p:nvPr/>
        </p:nvSpPr>
        <p:spPr>
          <a:xfrm>
            <a:off x="1371600" y="361188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657600"/>
            <a:ext cx="320040" cy="320040"/>
          </a:xfrm>
          <a:prstGeom prst="rect">
            <a:avLst/>
          </a:prstGeom>
          <a:noFill/>
        </p:spPr>
        <p:txBody>
          <a:bodyPr wrap="none">
            <a:spAutoFit/>
          </a:bodyPr>
          <a:lstStyle/>
          <a:p>
            <a:pPr algn="ctr"/>
            <a:r>
              <a:rPr sz="1800" b="1">
                <a:solidFill>
                  <a:srgbClr val="FFFFFF"/>
                </a:solidFill>
              </a:rPr>
              <a:t>4</a:t>
            </a:r>
          </a:p>
        </p:txBody>
      </p:sp>
      <p:sp>
        <p:nvSpPr>
          <p:cNvPr id="21" name="Oval 20"/>
          <p:cNvSpPr/>
          <p:nvPr/>
        </p:nvSpPr>
        <p:spPr>
          <a:xfrm>
            <a:off x="10515600" y="5669280"/>
            <a:ext cx="731520" cy="73152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61904" y="5815584"/>
            <a:ext cx="438912" cy="438912"/>
          </a:xfrm>
          <a:prstGeom prst="rect">
            <a:avLst/>
          </a:prstGeom>
          <a:noFill/>
        </p:spPr>
        <p:txBody>
          <a:bodyPr wrap="square">
            <a:spAutoFit/>
          </a:bodyPr>
          <a:lstStyle/>
          <a:p>
            <a:pPr algn="ctr"/>
            <a:r>
              <a:rPr sz="3200" b="1">
                <a:solidFill>
                  <a:srgbClr val="FFFFFF"/>
                </a:solidFill>
              </a:rPr>
              <a:t>💡</a:t>
            </a:r>
          </a:p>
        </p:txBody>
      </p:sp>
      <p:sp>
        <p:nvSpPr>
          <p:cNvPr id="23" name="TextBox 22"/>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第2章 面向对象</a:t>
            </a:r>
          </a:p>
        </p:txBody>
      </p:sp>
      <p:sp>
        <p:nvSpPr>
          <p:cNvPr id="24" name="TextBox 23"/>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822960"/>
          </a:xfrm>
          <a:prstGeom prst="rect">
            <a:avLst/>
          </a:prstGeom>
          <a:noFill/>
        </p:spPr>
        <p:txBody>
          <a:bodyPr wrap="square">
            <a:spAutoFit/>
          </a:bodyPr>
          <a:lstStyle/>
          <a:p>
            <a:pPr algn="l"/>
            <a:r>
              <a:rPr sz="2800" b="1">
                <a:solidFill>
                  <a:srgbClr val="FFFFFF"/>
                </a:solidFill>
                <a:latin typeface="Microsoft YaHei"/>
                <a:ea typeface="Microsoft YaHei"/>
              </a:rPr>
              <a:t>类与对象——万物皆对象</a:t>
            </a:r>
          </a:p>
        </p:txBody>
      </p:sp>
      <p:sp>
        <p:nvSpPr>
          <p:cNvPr id="4" name="Rectangle 3"/>
          <p:cNvSpPr/>
          <p:nvPr/>
        </p:nvSpPr>
        <p:spPr>
          <a:xfrm>
            <a:off x="0" y="1371600"/>
            <a:ext cx="54864" cy="2286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91640"/>
            <a:ext cx="54864" cy="22860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011680"/>
            <a:ext cx="54864" cy="22860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331720"/>
            <a:ext cx="54864" cy="2286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0" y="1371600"/>
            <a:ext cx="137160" cy="13716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0" y="1737360"/>
            <a:ext cx="137160" cy="137160"/>
          </a:xfrm>
          <a:prstGeom prst="ellipse">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0" y="2103120"/>
            <a:ext cx="137160" cy="13716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88720" y="1508760"/>
            <a:ext cx="9966960" cy="3474720"/>
          </a:xfrm>
          <a:prstGeom prst="roundRect">
            <a:avLst/>
          </a:prstGeom>
          <a:solidFill>
            <a:srgbClr val="FFFFFF"/>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828800"/>
            <a:ext cx="8961120" cy="3657600"/>
          </a:xfrm>
          <a:prstGeom prst="rect">
            <a:avLst/>
          </a:prstGeom>
          <a:noFill/>
        </p:spPr>
        <p:txBody>
          <a:bodyPr wrap="square">
            <a:spAutoFit/>
          </a:bodyPr>
          <a:lstStyle/>
          <a:p>
            <a:pPr>
              <a:spcBef>
                <a:spcPts val="1000"/>
              </a:spcBef>
              <a:spcAft>
                <a:spcPts val="500"/>
              </a:spcAft>
            </a:pPr>
            <a:r>
              <a:rPr sz="1800" b="0">
                <a:solidFill>
                  <a:srgbClr val="3D2C2C"/>
                </a:solidFill>
                <a:latin typeface="Microsoft YaHei"/>
                <a:ea typeface="Microsoft YaHei"/>
              </a:rPr>
              <a:t>类（Class）是对具有相同属性和行为的一组对象的抽象描述，是创建对象的模板。例如：Student类定义了学生的共同特征。</a:t>
            </a:r>
          </a:p>
          <a:p>
            <a:pPr>
              <a:spcBef>
                <a:spcPts val="1000"/>
              </a:spcBef>
              <a:spcAft>
                <a:spcPts val="500"/>
              </a:spcAft>
            </a:pPr>
            <a:r>
              <a:rPr sz="1800" b="0">
                <a:solidFill>
                  <a:srgbClr val="3D2C2C"/>
                </a:solidFill>
                <a:latin typeface="Microsoft YaHei"/>
                <a:ea typeface="Microsoft YaHei"/>
              </a:rPr>
              <a:t>对象（Object）是类的具体实例，每个对象拥有独立的属性值。通过new关键字创建：Student s = new Student();</a:t>
            </a:r>
          </a:p>
          <a:p>
            <a:pPr>
              <a:spcBef>
                <a:spcPts val="1000"/>
              </a:spcBef>
              <a:spcAft>
                <a:spcPts val="500"/>
              </a:spcAft>
            </a:pPr>
            <a:r>
              <a:rPr sz="1800" b="0">
                <a:solidFill>
                  <a:srgbClr val="3D2C2C"/>
                </a:solidFill>
                <a:latin typeface="Microsoft YaHei"/>
                <a:ea typeface="Microsoft YaHei"/>
              </a:rPr>
              <a:t>类的成员包括：属性（成员变量）和方法（成员方法）。属性描述对象的状态，方法描述对象的行为。</a:t>
            </a:r>
          </a:p>
          <a:p>
            <a:pPr>
              <a:spcBef>
                <a:spcPts val="1000"/>
              </a:spcBef>
              <a:spcAft>
                <a:spcPts val="500"/>
              </a:spcAft>
            </a:pPr>
            <a:r>
              <a:rPr sz="1800" b="0">
                <a:solidFill>
                  <a:srgbClr val="3D2C2C"/>
                </a:solidFill>
                <a:latin typeface="Microsoft YaHei"/>
                <a:ea typeface="Microsoft YaHei"/>
              </a:rPr>
              <a:t>构造方法（Constructor）是创建对象时自动调用的特殊方法，用于初始化对象，其名称与类名相同且没有返回值类型。</a:t>
            </a:r>
          </a:p>
          <a:p>
            <a:pPr>
              <a:spcBef>
                <a:spcPts val="1000"/>
              </a:spcBef>
              <a:spcAft>
                <a:spcPts val="500"/>
              </a:spcAft>
            </a:pPr>
            <a:r>
              <a:rPr sz="1800" b="0">
                <a:solidFill>
                  <a:srgbClr val="3D2C2C"/>
                </a:solidFill>
                <a:latin typeface="Microsoft YaHei"/>
                <a:ea typeface="Microsoft YaHei"/>
              </a:rPr>
              <a:t>一个类可以定义多个构造方法（重载），以提供不同的初始化方式。例如无参构造和带参数的构造方法。</a:t>
            </a:r>
          </a:p>
        </p:txBody>
      </p:sp>
      <p:sp>
        <p:nvSpPr>
          <p:cNvPr id="13" name="Oval 12"/>
          <p:cNvSpPr/>
          <p:nvPr/>
        </p:nvSpPr>
        <p:spPr>
          <a:xfrm>
            <a:off x="1371600" y="182880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1874519"/>
            <a:ext cx="320040" cy="320040"/>
          </a:xfrm>
          <a:prstGeom prst="rect">
            <a:avLst/>
          </a:prstGeom>
          <a:noFill/>
        </p:spPr>
        <p:txBody>
          <a:bodyPr wrap="none">
            <a:spAutoFit/>
          </a:bodyPr>
          <a:lstStyle/>
          <a:p>
            <a:pPr algn="ctr"/>
            <a:r>
              <a:rPr sz="1800" b="1">
                <a:solidFill>
                  <a:srgbClr val="FFFFFF"/>
                </a:solidFill>
              </a:rPr>
              <a:t>1</a:t>
            </a:r>
          </a:p>
        </p:txBody>
      </p:sp>
      <p:sp>
        <p:nvSpPr>
          <p:cNvPr id="15" name="Oval 14"/>
          <p:cNvSpPr/>
          <p:nvPr/>
        </p:nvSpPr>
        <p:spPr>
          <a:xfrm>
            <a:off x="1371600" y="242316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468879"/>
            <a:ext cx="320040" cy="320040"/>
          </a:xfrm>
          <a:prstGeom prst="rect">
            <a:avLst/>
          </a:prstGeom>
          <a:noFill/>
        </p:spPr>
        <p:txBody>
          <a:bodyPr wrap="none">
            <a:spAutoFit/>
          </a:bodyPr>
          <a:lstStyle/>
          <a:p>
            <a:pPr algn="ctr"/>
            <a:r>
              <a:rPr sz="1800" b="1">
                <a:solidFill>
                  <a:srgbClr val="FFFFFF"/>
                </a:solidFill>
              </a:rPr>
              <a:t>2</a:t>
            </a:r>
          </a:p>
        </p:txBody>
      </p:sp>
      <p:sp>
        <p:nvSpPr>
          <p:cNvPr id="17" name="Oval 16"/>
          <p:cNvSpPr/>
          <p:nvPr/>
        </p:nvSpPr>
        <p:spPr>
          <a:xfrm>
            <a:off x="1371600" y="301752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063239"/>
            <a:ext cx="320040" cy="320040"/>
          </a:xfrm>
          <a:prstGeom prst="rect">
            <a:avLst/>
          </a:prstGeom>
          <a:noFill/>
        </p:spPr>
        <p:txBody>
          <a:bodyPr wrap="none">
            <a:spAutoFit/>
          </a:bodyPr>
          <a:lstStyle/>
          <a:p>
            <a:pPr algn="ctr"/>
            <a:r>
              <a:rPr sz="1800" b="1">
                <a:solidFill>
                  <a:srgbClr val="FFFFFF"/>
                </a:solidFill>
              </a:rPr>
              <a:t>3</a:t>
            </a:r>
          </a:p>
        </p:txBody>
      </p:sp>
      <p:sp>
        <p:nvSpPr>
          <p:cNvPr id="19" name="Oval 18"/>
          <p:cNvSpPr/>
          <p:nvPr/>
        </p:nvSpPr>
        <p:spPr>
          <a:xfrm>
            <a:off x="1371600" y="361188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657600"/>
            <a:ext cx="320040" cy="320040"/>
          </a:xfrm>
          <a:prstGeom prst="rect">
            <a:avLst/>
          </a:prstGeom>
          <a:noFill/>
        </p:spPr>
        <p:txBody>
          <a:bodyPr wrap="none">
            <a:spAutoFit/>
          </a:bodyPr>
          <a:lstStyle/>
          <a:p>
            <a:pPr algn="ctr"/>
            <a:r>
              <a:rPr sz="1800" b="1">
                <a:solidFill>
                  <a:srgbClr val="FFFFFF"/>
                </a:solidFill>
              </a:rPr>
              <a:t>4</a:t>
            </a:r>
          </a:p>
        </p:txBody>
      </p:sp>
      <p:sp>
        <p:nvSpPr>
          <p:cNvPr id="21" name="Oval 20"/>
          <p:cNvSpPr/>
          <p:nvPr/>
        </p:nvSpPr>
        <p:spPr>
          <a:xfrm>
            <a:off x="1371600" y="420624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17320" y="4251959"/>
            <a:ext cx="320040" cy="320040"/>
          </a:xfrm>
          <a:prstGeom prst="rect">
            <a:avLst/>
          </a:prstGeom>
          <a:noFill/>
        </p:spPr>
        <p:txBody>
          <a:bodyPr wrap="none">
            <a:spAutoFit/>
          </a:bodyPr>
          <a:lstStyle/>
          <a:p>
            <a:pPr algn="ctr"/>
            <a:r>
              <a:rPr sz="1800" b="1">
                <a:solidFill>
                  <a:srgbClr val="FFFFFF"/>
                </a:solidFill>
              </a:rPr>
              <a:t>5</a:t>
            </a:r>
          </a:p>
        </p:txBody>
      </p:sp>
      <p:sp>
        <p:nvSpPr>
          <p:cNvPr id="23" name="Oval 22"/>
          <p:cNvSpPr/>
          <p:nvPr/>
        </p:nvSpPr>
        <p:spPr>
          <a:xfrm>
            <a:off x="10515600" y="5669280"/>
            <a:ext cx="731520" cy="73152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61904" y="5815584"/>
            <a:ext cx="438912" cy="438912"/>
          </a:xfrm>
          <a:prstGeom prst="rect">
            <a:avLst/>
          </a:prstGeom>
          <a:noFill/>
        </p:spPr>
        <p:txBody>
          <a:bodyPr wrap="square">
            <a:spAutoFit/>
          </a:bodyPr>
          <a:lstStyle/>
          <a:p>
            <a:pPr algn="ctr"/>
            <a:r>
              <a:rPr sz="3200" b="1">
                <a:solidFill>
                  <a:srgbClr val="FFFFFF"/>
                </a:solidFill>
              </a:rPr>
              <a:t>💡</a:t>
            </a:r>
          </a:p>
        </p:txBody>
      </p:sp>
      <p:sp>
        <p:nvSpPr>
          <p:cNvPr id="25" name="TextBox 24"/>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第2章 面向对象</a:t>
            </a:r>
          </a:p>
        </p:txBody>
      </p:sp>
      <p:sp>
        <p:nvSpPr>
          <p:cNvPr id="26" name="TextBox 25"/>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731520"/>
          </a:xfrm>
          <a:prstGeom prst="rect">
            <a:avLst/>
          </a:prstGeom>
          <a:noFill/>
        </p:spPr>
        <p:txBody>
          <a:bodyPr wrap="none">
            <a:spAutoFit/>
          </a:bodyPr>
          <a:lstStyle/>
          <a:p>
            <a:pPr algn="l"/>
            <a:r>
              <a:rPr sz="2600" b="1">
                <a:solidFill>
                  <a:srgbClr val="FFFFFF"/>
                </a:solidFill>
                <a:latin typeface="Microsoft YaHei"/>
                <a:ea typeface="Microsoft YaHei"/>
              </a:rPr>
              <a:t>封装与访问修饰符——保护数据安全</a:t>
            </a:r>
          </a:p>
        </p:txBody>
      </p:sp>
      <p:sp>
        <p:nvSpPr>
          <p:cNvPr id="4" name="Rounded Rectangle 3"/>
          <p:cNvSpPr/>
          <p:nvPr/>
        </p:nvSpPr>
        <p:spPr>
          <a:xfrm>
            <a:off x="365760" y="1188720"/>
            <a:ext cx="5486400" cy="4754880"/>
          </a:xfrm>
          <a:prstGeom prst="roundRect">
            <a:avLst/>
          </a:prstGeom>
          <a:solidFill>
            <a:srgbClr val="FFF5EB"/>
          </a:solidFill>
          <a:ln w="12700">
            <a:solidFill>
              <a:srgbClr val="FFB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309360" y="1188720"/>
            <a:ext cx="5486400" cy="4754880"/>
          </a:xfrm>
          <a:prstGeom prst="roundRect">
            <a:avLst/>
          </a:prstGeom>
          <a:solidFill>
            <a:srgbClr val="E8F9F3"/>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88720"/>
            <a:ext cx="5486400" cy="54864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5120640" cy="457200"/>
          </a:xfrm>
          <a:prstGeom prst="rect">
            <a:avLst/>
          </a:prstGeom>
          <a:noFill/>
        </p:spPr>
        <p:txBody>
          <a:bodyPr wrap="none">
            <a:spAutoFit/>
          </a:bodyPr>
          <a:lstStyle/>
          <a:p>
            <a:pPr algn="l"/>
            <a:r>
              <a:rPr sz="1800" b="1">
                <a:solidFill>
                  <a:srgbClr val="FFFFFF"/>
                </a:solidFill>
                <a:latin typeface="Microsoft YaHei"/>
                <a:ea typeface="Microsoft YaHei"/>
              </a:rPr>
              <a:t>封装（Encapsulation）</a:t>
            </a:r>
          </a:p>
        </p:txBody>
      </p:sp>
      <p:sp>
        <p:nvSpPr>
          <p:cNvPr id="8" name="Rectangle 7"/>
          <p:cNvSpPr/>
          <p:nvPr/>
        </p:nvSpPr>
        <p:spPr>
          <a:xfrm>
            <a:off x="6309360" y="1188720"/>
            <a:ext cx="5486400" cy="54864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234440"/>
            <a:ext cx="5120640" cy="457200"/>
          </a:xfrm>
          <a:prstGeom prst="rect">
            <a:avLst/>
          </a:prstGeom>
          <a:noFill/>
        </p:spPr>
        <p:txBody>
          <a:bodyPr wrap="none">
            <a:spAutoFit/>
          </a:bodyPr>
          <a:lstStyle/>
          <a:p>
            <a:pPr algn="l"/>
            <a:r>
              <a:rPr sz="1800" b="1">
                <a:solidFill>
                  <a:srgbClr val="FFFFFF"/>
                </a:solidFill>
                <a:latin typeface="Microsoft YaHei"/>
                <a:ea typeface="Microsoft YaHei"/>
              </a:rPr>
              <a:t>访问修饰符</a:t>
            </a:r>
          </a:p>
        </p:txBody>
      </p:sp>
      <p:sp>
        <p:nvSpPr>
          <p:cNvPr id="10" name="TextBox 9"/>
          <p:cNvSpPr txBox="1"/>
          <p:nvPr/>
        </p:nvSpPr>
        <p:spPr>
          <a:xfrm>
            <a:off x="640080" y="1920240"/>
            <a:ext cx="4937760" cy="3657600"/>
          </a:xfrm>
          <a:prstGeom prst="rect">
            <a:avLst/>
          </a:prstGeom>
          <a:noFill/>
        </p:spPr>
        <p:txBody>
          <a:bodyPr wrap="square">
            <a:spAutoFit/>
          </a:bodyPr>
          <a:lstStyle/>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封装是指将对象的内部实现细节隐藏起来，仅对外暴露必要的操作接口，确保数据的安全性和完整性。</a:t>
            </a:r>
          </a:p>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实现方式：将属性用private修饰，提供public的getter和setter方法供外部访问和修改。</a:t>
            </a:r>
          </a:p>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例如：Student类的年龄属性age设为private，通过setAge()方法校验年龄不能为负数，从而避免非法数据。</a:t>
            </a:r>
          </a:p>
        </p:txBody>
      </p:sp>
      <p:sp>
        <p:nvSpPr>
          <p:cNvPr id="11" name="TextBox 10"/>
          <p:cNvSpPr txBox="1"/>
          <p:nvPr/>
        </p:nvSpPr>
        <p:spPr>
          <a:xfrm>
            <a:off x="6492240" y="1920240"/>
            <a:ext cx="4937760" cy="3657600"/>
          </a:xfrm>
          <a:prstGeom prst="rect">
            <a:avLst/>
          </a:prstGeom>
          <a:noFill/>
        </p:spPr>
        <p:txBody>
          <a:bodyPr wrap="square">
            <a:spAutoFit/>
          </a:bodyPr>
          <a:lstStyle/>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private：仅在同一类内部可访问，最严格的封装，常用于隐藏属性。</a:t>
            </a:r>
          </a:p>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default（无修饰符）：同一包内可访问，包级私有，常用于包内协作。</a:t>
            </a:r>
          </a:p>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protected：同一包内可访问，不同包内的子类也可以访问，常用于继承场景。</a:t>
            </a:r>
          </a:p>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public：所有类均可访问，对外公开的接口通常用public修饰。</a:t>
            </a:r>
          </a:p>
        </p:txBody>
      </p:sp>
      <p:sp>
        <p:nvSpPr>
          <p:cNvPr id="12" name="Rectangle 11"/>
          <p:cNvSpPr/>
          <p:nvPr/>
        </p:nvSpPr>
        <p:spPr>
          <a:xfrm>
            <a:off x="6080760" y="1188720"/>
            <a:ext cx="73152" cy="475488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第2章 面向对象</a:t>
            </a:r>
          </a:p>
        </p:txBody>
      </p:sp>
      <p:sp>
        <p:nvSpPr>
          <p:cNvPr id="14" name="TextBox 13"/>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822960"/>
          </a:xfrm>
          <a:prstGeom prst="rect">
            <a:avLst/>
          </a:prstGeom>
          <a:noFill/>
        </p:spPr>
        <p:txBody>
          <a:bodyPr wrap="square">
            <a:spAutoFit/>
          </a:bodyPr>
          <a:lstStyle/>
          <a:p>
            <a:pPr algn="l"/>
            <a:r>
              <a:rPr sz="2800" b="1">
                <a:solidFill>
                  <a:srgbClr val="FFFFFF"/>
                </a:solidFill>
                <a:latin typeface="Microsoft YaHei"/>
                <a:ea typeface="Microsoft YaHei"/>
              </a:rPr>
              <a:t>继承——代码复用的基石</a:t>
            </a:r>
          </a:p>
        </p:txBody>
      </p:sp>
      <p:sp>
        <p:nvSpPr>
          <p:cNvPr id="4" name="Rectangle 3"/>
          <p:cNvSpPr/>
          <p:nvPr/>
        </p:nvSpPr>
        <p:spPr>
          <a:xfrm>
            <a:off x="0" y="1371600"/>
            <a:ext cx="54864" cy="2286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91640"/>
            <a:ext cx="54864" cy="22860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011680"/>
            <a:ext cx="54864" cy="22860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331720"/>
            <a:ext cx="54864" cy="2286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0" y="1371600"/>
            <a:ext cx="137160" cy="13716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0" y="1737360"/>
            <a:ext cx="137160" cy="137160"/>
          </a:xfrm>
          <a:prstGeom prst="ellipse">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0" y="2103120"/>
            <a:ext cx="137160" cy="13716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88720" y="1508760"/>
            <a:ext cx="9966960" cy="3474720"/>
          </a:xfrm>
          <a:prstGeom prst="roundRect">
            <a:avLst/>
          </a:prstGeom>
          <a:solidFill>
            <a:srgbClr val="FFFFFF"/>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828800"/>
            <a:ext cx="8961120" cy="3657600"/>
          </a:xfrm>
          <a:prstGeom prst="rect">
            <a:avLst/>
          </a:prstGeom>
          <a:noFill/>
        </p:spPr>
        <p:txBody>
          <a:bodyPr wrap="square">
            <a:spAutoFit/>
          </a:bodyPr>
          <a:lstStyle/>
          <a:p>
            <a:pPr>
              <a:spcBef>
                <a:spcPts val="1000"/>
              </a:spcBef>
              <a:spcAft>
                <a:spcPts val="500"/>
              </a:spcAft>
            </a:pPr>
            <a:r>
              <a:rPr sz="1800" b="0">
                <a:solidFill>
                  <a:srgbClr val="3D2C2C"/>
                </a:solidFill>
                <a:latin typeface="Microsoft YaHei"/>
                <a:ea typeface="Microsoft YaHei"/>
              </a:rPr>
              <a:t>继承（Inheritance）允许一个类（子类）获得另一个类（父类）的成员变量和方法，使用extends关键字实现，形成is-a关系。</a:t>
            </a:r>
          </a:p>
          <a:p>
            <a:pPr>
              <a:spcBef>
                <a:spcPts val="1000"/>
              </a:spcBef>
              <a:spcAft>
                <a:spcPts val="500"/>
              </a:spcAft>
            </a:pPr>
            <a:r>
              <a:rPr sz="1800" b="0">
                <a:solidFill>
                  <a:srgbClr val="3D2C2C"/>
                </a:solidFill>
                <a:latin typeface="Microsoft YaHei"/>
                <a:ea typeface="Microsoft YaHei"/>
              </a:rPr>
              <a:t>子类可以添加自己的新属性和新方法，也可以重写（Override）父类的方法来改变行为，但不能继承父类private成员。</a:t>
            </a:r>
          </a:p>
          <a:p>
            <a:pPr>
              <a:spcBef>
                <a:spcPts val="1000"/>
              </a:spcBef>
              <a:spcAft>
                <a:spcPts val="500"/>
              </a:spcAft>
            </a:pPr>
            <a:r>
              <a:rPr sz="1800" b="0">
                <a:solidFill>
                  <a:srgbClr val="3D2C2C"/>
                </a:solidFill>
                <a:latin typeface="Microsoft YaHei"/>
                <a:ea typeface="Microsoft YaHei"/>
              </a:rPr>
              <a:t>Java只支持单继承，即一个子类只能有一个直接父类，但可以通过多层继承形成层次结构。</a:t>
            </a:r>
          </a:p>
          <a:p>
            <a:pPr>
              <a:spcBef>
                <a:spcPts val="1000"/>
              </a:spcBef>
              <a:spcAft>
                <a:spcPts val="500"/>
              </a:spcAft>
            </a:pPr>
            <a:r>
              <a:rPr sz="1800" b="0">
                <a:solidFill>
                  <a:srgbClr val="3D2C2C"/>
                </a:solidFill>
                <a:latin typeface="Microsoft YaHei"/>
                <a:ea typeface="Microsoft YaHei"/>
              </a:rPr>
              <a:t>super关键字用于在子类中引用父类的成员，尤其是在子类构造方法中调用父类构造方法：super(参数);</a:t>
            </a:r>
          </a:p>
          <a:p>
            <a:pPr>
              <a:spcBef>
                <a:spcPts val="1000"/>
              </a:spcBef>
              <a:spcAft>
                <a:spcPts val="500"/>
              </a:spcAft>
            </a:pPr>
            <a:r>
              <a:rPr sz="1800" b="0">
                <a:solidFill>
                  <a:srgbClr val="3D2C2C"/>
                </a:solidFill>
                <a:latin typeface="Microsoft YaHei"/>
                <a:ea typeface="Microsoft YaHei"/>
              </a:rPr>
              <a:t>例如：Person是父类，Student extends Person，Student自动拥有Person的姓名和年龄，再额外添加学号属性。</a:t>
            </a:r>
          </a:p>
        </p:txBody>
      </p:sp>
      <p:sp>
        <p:nvSpPr>
          <p:cNvPr id="13" name="Oval 12"/>
          <p:cNvSpPr/>
          <p:nvPr/>
        </p:nvSpPr>
        <p:spPr>
          <a:xfrm>
            <a:off x="1371600" y="182880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1874519"/>
            <a:ext cx="320040" cy="320040"/>
          </a:xfrm>
          <a:prstGeom prst="rect">
            <a:avLst/>
          </a:prstGeom>
          <a:noFill/>
        </p:spPr>
        <p:txBody>
          <a:bodyPr wrap="none">
            <a:spAutoFit/>
          </a:bodyPr>
          <a:lstStyle/>
          <a:p>
            <a:pPr algn="ctr"/>
            <a:r>
              <a:rPr sz="1800" b="1">
                <a:solidFill>
                  <a:srgbClr val="FFFFFF"/>
                </a:solidFill>
              </a:rPr>
              <a:t>1</a:t>
            </a:r>
          </a:p>
        </p:txBody>
      </p:sp>
      <p:sp>
        <p:nvSpPr>
          <p:cNvPr id="15" name="Oval 14"/>
          <p:cNvSpPr/>
          <p:nvPr/>
        </p:nvSpPr>
        <p:spPr>
          <a:xfrm>
            <a:off x="1371600" y="242316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468879"/>
            <a:ext cx="320040" cy="320040"/>
          </a:xfrm>
          <a:prstGeom prst="rect">
            <a:avLst/>
          </a:prstGeom>
          <a:noFill/>
        </p:spPr>
        <p:txBody>
          <a:bodyPr wrap="none">
            <a:spAutoFit/>
          </a:bodyPr>
          <a:lstStyle/>
          <a:p>
            <a:pPr algn="ctr"/>
            <a:r>
              <a:rPr sz="1800" b="1">
                <a:solidFill>
                  <a:srgbClr val="FFFFFF"/>
                </a:solidFill>
              </a:rPr>
              <a:t>2</a:t>
            </a:r>
          </a:p>
        </p:txBody>
      </p:sp>
      <p:sp>
        <p:nvSpPr>
          <p:cNvPr id="17" name="Oval 16"/>
          <p:cNvSpPr/>
          <p:nvPr/>
        </p:nvSpPr>
        <p:spPr>
          <a:xfrm>
            <a:off x="1371600" y="301752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063239"/>
            <a:ext cx="320040" cy="320040"/>
          </a:xfrm>
          <a:prstGeom prst="rect">
            <a:avLst/>
          </a:prstGeom>
          <a:noFill/>
        </p:spPr>
        <p:txBody>
          <a:bodyPr wrap="none">
            <a:spAutoFit/>
          </a:bodyPr>
          <a:lstStyle/>
          <a:p>
            <a:pPr algn="ctr"/>
            <a:r>
              <a:rPr sz="1800" b="1">
                <a:solidFill>
                  <a:srgbClr val="FFFFFF"/>
                </a:solidFill>
              </a:rPr>
              <a:t>3</a:t>
            </a:r>
          </a:p>
        </p:txBody>
      </p:sp>
      <p:sp>
        <p:nvSpPr>
          <p:cNvPr id="19" name="Oval 18"/>
          <p:cNvSpPr/>
          <p:nvPr/>
        </p:nvSpPr>
        <p:spPr>
          <a:xfrm>
            <a:off x="1371600" y="361188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657600"/>
            <a:ext cx="320040" cy="320040"/>
          </a:xfrm>
          <a:prstGeom prst="rect">
            <a:avLst/>
          </a:prstGeom>
          <a:noFill/>
        </p:spPr>
        <p:txBody>
          <a:bodyPr wrap="none">
            <a:spAutoFit/>
          </a:bodyPr>
          <a:lstStyle/>
          <a:p>
            <a:pPr algn="ctr"/>
            <a:r>
              <a:rPr sz="1800" b="1">
                <a:solidFill>
                  <a:srgbClr val="FFFFFF"/>
                </a:solidFill>
              </a:rPr>
              <a:t>4</a:t>
            </a:r>
          </a:p>
        </p:txBody>
      </p:sp>
      <p:sp>
        <p:nvSpPr>
          <p:cNvPr id="21" name="Oval 20"/>
          <p:cNvSpPr/>
          <p:nvPr/>
        </p:nvSpPr>
        <p:spPr>
          <a:xfrm>
            <a:off x="1371600" y="420624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17320" y="4251959"/>
            <a:ext cx="320040" cy="320040"/>
          </a:xfrm>
          <a:prstGeom prst="rect">
            <a:avLst/>
          </a:prstGeom>
          <a:noFill/>
        </p:spPr>
        <p:txBody>
          <a:bodyPr wrap="none">
            <a:spAutoFit/>
          </a:bodyPr>
          <a:lstStyle/>
          <a:p>
            <a:pPr algn="ctr"/>
            <a:r>
              <a:rPr sz="1800" b="1">
                <a:solidFill>
                  <a:srgbClr val="FFFFFF"/>
                </a:solidFill>
              </a:rPr>
              <a:t>5</a:t>
            </a:r>
          </a:p>
        </p:txBody>
      </p:sp>
      <p:sp>
        <p:nvSpPr>
          <p:cNvPr id="23" name="Oval 22"/>
          <p:cNvSpPr/>
          <p:nvPr/>
        </p:nvSpPr>
        <p:spPr>
          <a:xfrm>
            <a:off x="10515600" y="5669280"/>
            <a:ext cx="731520" cy="73152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61904" y="5815584"/>
            <a:ext cx="438912" cy="438912"/>
          </a:xfrm>
          <a:prstGeom prst="rect">
            <a:avLst/>
          </a:prstGeom>
          <a:noFill/>
        </p:spPr>
        <p:txBody>
          <a:bodyPr wrap="square">
            <a:spAutoFit/>
          </a:bodyPr>
          <a:lstStyle/>
          <a:p>
            <a:pPr algn="ctr"/>
            <a:r>
              <a:rPr sz="3200" b="1">
                <a:solidFill>
                  <a:srgbClr val="FFFFFF"/>
                </a:solidFill>
              </a:rPr>
              <a:t>💡</a:t>
            </a:r>
          </a:p>
        </p:txBody>
      </p:sp>
      <p:sp>
        <p:nvSpPr>
          <p:cNvPr id="25" name="TextBox 24"/>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第2章 面向对象</a:t>
            </a:r>
          </a:p>
        </p:txBody>
      </p:sp>
      <p:sp>
        <p:nvSpPr>
          <p:cNvPr id="26" name="TextBox 25"/>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822960"/>
          </a:xfrm>
          <a:prstGeom prst="rect">
            <a:avLst/>
          </a:prstGeom>
          <a:noFill/>
        </p:spPr>
        <p:txBody>
          <a:bodyPr wrap="square">
            <a:spAutoFit/>
          </a:bodyPr>
          <a:lstStyle/>
          <a:p>
            <a:pPr algn="l"/>
            <a:r>
              <a:rPr sz="2800" b="1">
                <a:solidFill>
                  <a:srgbClr val="FFFFFF"/>
                </a:solidFill>
                <a:latin typeface="Microsoft YaHei"/>
                <a:ea typeface="Microsoft YaHei"/>
              </a:rPr>
              <a:t>多态——同一个方法，不同表现</a:t>
            </a:r>
          </a:p>
        </p:txBody>
      </p:sp>
      <p:sp>
        <p:nvSpPr>
          <p:cNvPr id="4" name="Rectangle 3"/>
          <p:cNvSpPr/>
          <p:nvPr/>
        </p:nvSpPr>
        <p:spPr>
          <a:xfrm>
            <a:off x="0" y="1371600"/>
            <a:ext cx="54864" cy="2286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91640"/>
            <a:ext cx="54864" cy="22860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011680"/>
            <a:ext cx="54864" cy="22860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331720"/>
            <a:ext cx="54864" cy="2286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0" y="1371600"/>
            <a:ext cx="137160" cy="13716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0" y="1737360"/>
            <a:ext cx="137160" cy="137160"/>
          </a:xfrm>
          <a:prstGeom prst="ellipse">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0" y="2103120"/>
            <a:ext cx="137160" cy="13716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88720" y="1508760"/>
            <a:ext cx="9966960" cy="3474720"/>
          </a:xfrm>
          <a:prstGeom prst="roundRect">
            <a:avLst/>
          </a:prstGeom>
          <a:solidFill>
            <a:srgbClr val="FFFFFF"/>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828800"/>
            <a:ext cx="8961120" cy="3657600"/>
          </a:xfrm>
          <a:prstGeom prst="rect">
            <a:avLst/>
          </a:prstGeom>
          <a:noFill/>
        </p:spPr>
        <p:txBody>
          <a:bodyPr wrap="square">
            <a:spAutoFit/>
          </a:bodyPr>
          <a:lstStyle/>
          <a:p>
            <a:pPr>
              <a:spcBef>
                <a:spcPts val="1000"/>
              </a:spcBef>
              <a:spcAft>
                <a:spcPts val="500"/>
              </a:spcAft>
            </a:pPr>
            <a:r>
              <a:rPr sz="1800" b="0">
                <a:solidFill>
                  <a:srgbClr val="3D2C2C"/>
                </a:solidFill>
                <a:latin typeface="Microsoft YaHei"/>
                <a:ea typeface="Microsoft YaHei"/>
              </a:rPr>
              <a:t>多态（Polymorphism）是指同一操作作用于不同对象时，可以有不同的解释和执行结果，主要通过方法重写和向上转型实现。</a:t>
            </a:r>
          </a:p>
          <a:p>
            <a:pPr>
              <a:spcBef>
                <a:spcPts val="1000"/>
              </a:spcBef>
              <a:spcAft>
                <a:spcPts val="500"/>
              </a:spcAft>
            </a:pPr>
            <a:r>
              <a:rPr sz="1800" b="0">
                <a:solidFill>
                  <a:srgbClr val="3D2C2C"/>
                </a:solidFill>
                <a:latin typeface="Microsoft YaHei"/>
                <a:ea typeface="Microsoft YaHei"/>
              </a:rPr>
              <a:t>向上转型：父类引用指向子类对象，例如 Animal a = new Cat(); 此时只能调用父类中定义的方法。</a:t>
            </a:r>
          </a:p>
          <a:p>
            <a:pPr>
              <a:spcBef>
                <a:spcPts val="1000"/>
              </a:spcBef>
              <a:spcAft>
                <a:spcPts val="500"/>
              </a:spcAft>
            </a:pPr>
            <a:r>
              <a:rPr sz="1800" b="0">
                <a:solidFill>
                  <a:srgbClr val="3D2C2C"/>
                </a:solidFill>
                <a:latin typeface="Microsoft YaHei"/>
                <a:ea typeface="Microsoft YaHei"/>
              </a:rPr>
              <a:t>动态绑定：程序运行时根据实际对象类型决定调用哪个方法，而不是编译时。例如a.sound()实际执行Cat的sound()方法。</a:t>
            </a:r>
          </a:p>
          <a:p>
            <a:pPr>
              <a:spcBef>
                <a:spcPts val="1000"/>
              </a:spcBef>
              <a:spcAft>
                <a:spcPts val="500"/>
              </a:spcAft>
            </a:pPr>
            <a:r>
              <a:rPr sz="1800" b="0">
                <a:solidFill>
                  <a:srgbClr val="3D2C2C"/>
                </a:solidFill>
                <a:latin typeface="Microsoft YaHei"/>
                <a:ea typeface="Microsoft YaHei"/>
              </a:rPr>
              <a:t>多态的必要条件：继承（或实现接口）、方法重写、父类引用指向子类对象。</a:t>
            </a:r>
          </a:p>
          <a:p>
            <a:pPr>
              <a:spcBef>
                <a:spcPts val="1000"/>
              </a:spcBef>
              <a:spcAft>
                <a:spcPts val="500"/>
              </a:spcAft>
            </a:pPr>
            <a:r>
              <a:rPr sz="1800" b="0">
                <a:solidFill>
                  <a:srgbClr val="3D2C2C"/>
                </a:solidFill>
                <a:latin typeface="Microsoft YaHei"/>
                <a:ea typeface="Microsoft YaHei"/>
              </a:rPr>
              <a:t>多态大大提高了程序的扩展性：比如定义一个方法参数为父类类型，可以传入任何子类对象，新增子类无需修改方法代码。</a:t>
            </a:r>
          </a:p>
        </p:txBody>
      </p:sp>
      <p:sp>
        <p:nvSpPr>
          <p:cNvPr id="13" name="Oval 12"/>
          <p:cNvSpPr/>
          <p:nvPr/>
        </p:nvSpPr>
        <p:spPr>
          <a:xfrm>
            <a:off x="1371600" y="182880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1874519"/>
            <a:ext cx="320040" cy="320040"/>
          </a:xfrm>
          <a:prstGeom prst="rect">
            <a:avLst/>
          </a:prstGeom>
          <a:noFill/>
        </p:spPr>
        <p:txBody>
          <a:bodyPr wrap="none">
            <a:spAutoFit/>
          </a:bodyPr>
          <a:lstStyle/>
          <a:p>
            <a:pPr algn="ctr"/>
            <a:r>
              <a:rPr sz="1800" b="1">
                <a:solidFill>
                  <a:srgbClr val="FFFFFF"/>
                </a:solidFill>
              </a:rPr>
              <a:t>1</a:t>
            </a:r>
          </a:p>
        </p:txBody>
      </p:sp>
      <p:sp>
        <p:nvSpPr>
          <p:cNvPr id="15" name="Oval 14"/>
          <p:cNvSpPr/>
          <p:nvPr/>
        </p:nvSpPr>
        <p:spPr>
          <a:xfrm>
            <a:off x="1371600" y="242316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468879"/>
            <a:ext cx="320040" cy="320040"/>
          </a:xfrm>
          <a:prstGeom prst="rect">
            <a:avLst/>
          </a:prstGeom>
          <a:noFill/>
        </p:spPr>
        <p:txBody>
          <a:bodyPr wrap="none">
            <a:spAutoFit/>
          </a:bodyPr>
          <a:lstStyle/>
          <a:p>
            <a:pPr algn="ctr"/>
            <a:r>
              <a:rPr sz="1800" b="1">
                <a:solidFill>
                  <a:srgbClr val="FFFFFF"/>
                </a:solidFill>
              </a:rPr>
              <a:t>2</a:t>
            </a:r>
          </a:p>
        </p:txBody>
      </p:sp>
      <p:sp>
        <p:nvSpPr>
          <p:cNvPr id="17" name="Oval 16"/>
          <p:cNvSpPr/>
          <p:nvPr/>
        </p:nvSpPr>
        <p:spPr>
          <a:xfrm>
            <a:off x="1371600" y="301752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063239"/>
            <a:ext cx="320040" cy="320040"/>
          </a:xfrm>
          <a:prstGeom prst="rect">
            <a:avLst/>
          </a:prstGeom>
          <a:noFill/>
        </p:spPr>
        <p:txBody>
          <a:bodyPr wrap="none">
            <a:spAutoFit/>
          </a:bodyPr>
          <a:lstStyle/>
          <a:p>
            <a:pPr algn="ctr"/>
            <a:r>
              <a:rPr sz="1800" b="1">
                <a:solidFill>
                  <a:srgbClr val="FFFFFF"/>
                </a:solidFill>
              </a:rPr>
              <a:t>3</a:t>
            </a:r>
          </a:p>
        </p:txBody>
      </p:sp>
      <p:sp>
        <p:nvSpPr>
          <p:cNvPr id="19" name="Oval 18"/>
          <p:cNvSpPr/>
          <p:nvPr/>
        </p:nvSpPr>
        <p:spPr>
          <a:xfrm>
            <a:off x="1371600" y="361188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657600"/>
            <a:ext cx="320040" cy="320040"/>
          </a:xfrm>
          <a:prstGeom prst="rect">
            <a:avLst/>
          </a:prstGeom>
          <a:noFill/>
        </p:spPr>
        <p:txBody>
          <a:bodyPr wrap="none">
            <a:spAutoFit/>
          </a:bodyPr>
          <a:lstStyle/>
          <a:p>
            <a:pPr algn="ctr"/>
            <a:r>
              <a:rPr sz="1800" b="1">
                <a:solidFill>
                  <a:srgbClr val="FFFFFF"/>
                </a:solidFill>
              </a:rPr>
              <a:t>4</a:t>
            </a:r>
          </a:p>
        </p:txBody>
      </p:sp>
      <p:sp>
        <p:nvSpPr>
          <p:cNvPr id="21" name="Oval 20"/>
          <p:cNvSpPr/>
          <p:nvPr/>
        </p:nvSpPr>
        <p:spPr>
          <a:xfrm>
            <a:off x="1371600" y="420624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17320" y="4251959"/>
            <a:ext cx="320040" cy="320040"/>
          </a:xfrm>
          <a:prstGeom prst="rect">
            <a:avLst/>
          </a:prstGeom>
          <a:noFill/>
        </p:spPr>
        <p:txBody>
          <a:bodyPr wrap="none">
            <a:spAutoFit/>
          </a:bodyPr>
          <a:lstStyle/>
          <a:p>
            <a:pPr algn="ctr"/>
            <a:r>
              <a:rPr sz="1800" b="1">
                <a:solidFill>
                  <a:srgbClr val="FFFFFF"/>
                </a:solidFill>
              </a:rPr>
              <a:t>5</a:t>
            </a:r>
          </a:p>
        </p:txBody>
      </p:sp>
      <p:sp>
        <p:nvSpPr>
          <p:cNvPr id="23" name="Oval 22"/>
          <p:cNvSpPr/>
          <p:nvPr/>
        </p:nvSpPr>
        <p:spPr>
          <a:xfrm>
            <a:off x="10515600" y="5669280"/>
            <a:ext cx="731520" cy="73152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61904" y="5815584"/>
            <a:ext cx="438912" cy="438912"/>
          </a:xfrm>
          <a:prstGeom prst="rect">
            <a:avLst/>
          </a:prstGeom>
          <a:noFill/>
        </p:spPr>
        <p:txBody>
          <a:bodyPr wrap="square">
            <a:spAutoFit/>
          </a:bodyPr>
          <a:lstStyle/>
          <a:p>
            <a:pPr algn="ctr"/>
            <a:r>
              <a:rPr sz="3200" b="1">
                <a:solidFill>
                  <a:srgbClr val="FFFFFF"/>
                </a:solidFill>
              </a:rPr>
              <a:t>💡</a:t>
            </a:r>
          </a:p>
        </p:txBody>
      </p:sp>
      <p:sp>
        <p:nvSpPr>
          <p:cNvPr id="25" name="TextBox 24"/>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第2章 面向对象</a:t>
            </a:r>
          </a:p>
        </p:txBody>
      </p:sp>
      <p:sp>
        <p:nvSpPr>
          <p:cNvPr id="26" name="TextBox 25"/>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731520"/>
          </a:xfrm>
          <a:prstGeom prst="rect">
            <a:avLst/>
          </a:prstGeom>
          <a:noFill/>
        </p:spPr>
        <p:txBody>
          <a:bodyPr wrap="none">
            <a:spAutoFit/>
          </a:bodyPr>
          <a:lstStyle/>
          <a:p>
            <a:pPr algn="l"/>
            <a:r>
              <a:rPr sz="2600" b="1">
                <a:solidFill>
                  <a:srgbClr val="FFFFFF"/>
                </a:solidFill>
                <a:latin typeface="Microsoft YaHei"/>
                <a:ea typeface="Microsoft YaHei"/>
              </a:rPr>
              <a:t>接口与抽象类——设计抽象的两种方式</a:t>
            </a:r>
          </a:p>
        </p:txBody>
      </p:sp>
      <p:sp>
        <p:nvSpPr>
          <p:cNvPr id="4" name="Rounded Rectangle 3"/>
          <p:cNvSpPr/>
          <p:nvPr/>
        </p:nvSpPr>
        <p:spPr>
          <a:xfrm>
            <a:off x="365760" y="1188720"/>
            <a:ext cx="5486400" cy="4754880"/>
          </a:xfrm>
          <a:prstGeom prst="roundRect">
            <a:avLst/>
          </a:prstGeom>
          <a:solidFill>
            <a:srgbClr val="FFF5EB"/>
          </a:solidFill>
          <a:ln w="12700">
            <a:solidFill>
              <a:srgbClr val="FFB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309360" y="1188720"/>
            <a:ext cx="5486400" cy="4754880"/>
          </a:xfrm>
          <a:prstGeom prst="roundRect">
            <a:avLst/>
          </a:prstGeom>
          <a:solidFill>
            <a:srgbClr val="E8F9F3"/>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88720"/>
            <a:ext cx="5486400" cy="54864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5120640" cy="457200"/>
          </a:xfrm>
          <a:prstGeom prst="rect">
            <a:avLst/>
          </a:prstGeom>
          <a:noFill/>
        </p:spPr>
        <p:txBody>
          <a:bodyPr wrap="none">
            <a:spAutoFit/>
          </a:bodyPr>
          <a:lstStyle/>
          <a:p>
            <a:pPr algn="l"/>
            <a:r>
              <a:rPr sz="1800" b="1">
                <a:solidFill>
                  <a:srgbClr val="FFFFFF"/>
                </a:solidFill>
                <a:latin typeface="Microsoft YaHei"/>
                <a:ea typeface="Microsoft YaHei"/>
              </a:rPr>
              <a:t>抽象类（Abstract Class）</a:t>
            </a:r>
          </a:p>
        </p:txBody>
      </p:sp>
      <p:sp>
        <p:nvSpPr>
          <p:cNvPr id="8" name="Rectangle 7"/>
          <p:cNvSpPr/>
          <p:nvPr/>
        </p:nvSpPr>
        <p:spPr>
          <a:xfrm>
            <a:off x="6309360" y="1188720"/>
            <a:ext cx="5486400" cy="54864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234440"/>
            <a:ext cx="5120640" cy="457200"/>
          </a:xfrm>
          <a:prstGeom prst="rect">
            <a:avLst/>
          </a:prstGeom>
          <a:noFill/>
        </p:spPr>
        <p:txBody>
          <a:bodyPr wrap="none">
            <a:spAutoFit/>
          </a:bodyPr>
          <a:lstStyle/>
          <a:p>
            <a:pPr algn="l"/>
            <a:r>
              <a:rPr sz="1800" b="1">
                <a:solidFill>
                  <a:srgbClr val="FFFFFF"/>
                </a:solidFill>
                <a:latin typeface="Microsoft YaHei"/>
                <a:ea typeface="Microsoft YaHei"/>
              </a:rPr>
              <a:t>接口（Interface）</a:t>
            </a:r>
          </a:p>
        </p:txBody>
      </p:sp>
      <p:sp>
        <p:nvSpPr>
          <p:cNvPr id="10" name="TextBox 9"/>
          <p:cNvSpPr txBox="1"/>
          <p:nvPr/>
        </p:nvSpPr>
        <p:spPr>
          <a:xfrm>
            <a:off x="640080" y="1920240"/>
            <a:ext cx="4937760" cy="3657600"/>
          </a:xfrm>
          <a:prstGeom prst="rect">
            <a:avLst/>
          </a:prstGeom>
          <a:noFill/>
        </p:spPr>
        <p:txBody>
          <a:bodyPr wrap="square">
            <a:spAutoFit/>
          </a:bodyPr>
          <a:lstStyle/>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用abstract class声明，可以包含抽象方法（没有方法体）和具体方法，但不能通过new直接实例化。</a:t>
            </a:r>
          </a:p>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抽象类用于表示一种“不完全”的类，子类必须实现其所有抽象方法，否则子类也要声明为抽象类。</a:t>
            </a:r>
          </a:p>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抽象类可以有构造方法、成员变量和具体方法，适合在继承体系中提供公共实现。例如：Shape类定义抽象方法getArea()。</a:t>
            </a:r>
          </a:p>
        </p:txBody>
      </p:sp>
      <p:sp>
        <p:nvSpPr>
          <p:cNvPr id="11" name="TextBox 10"/>
          <p:cNvSpPr txBox="1"/>
          <p:nvPr/>
        </p:nvSpPr>
        <p:spPr>
          <a:xfrm>
            <a:off x="6492240" y="1920240"/>
            <a:ext cx="4937760" cy="3657600"/>
          </a:xfrm>
          <a:prstGeom prst="rect">
            <a:avLst/>
          </a:prstGeom>
          <a:noFill/>
        </p:spPr>
        <p:txBody>
          <a:bodyPr wrap="square">
            <a:spAutoFit/>
          </a:bodyPr>
          <a:lstStyle/>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用interface声明，方法默认是public abstract（Java 8之后可以有default和static方法），接口中变量默认为public static final。</a:t>
            </a:r>
          </a:p>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接口表示一种能力或契约，一个类可以实现多个接口（用implements关键字），弥补了Java单继承的不足。</a:t>
            </a:r>
          </a:p>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接口没有构造方法，不能包含具体实现（除default方法），适合定义规范。例如：Comparable接口定义了比较规则。</a:t>
            </a:r>
          </a:p>
        </p:txBody>
      </p:sp>
      <p:sp>
        <p:nvSpPr>
          <p:cNvPr id="12" name="Rectangle 11"/>
          <p:cNvSpPr/>
          <p:nvPr/>
        </p:nvSpPr>
        <p:spPr>
          <a:xfrm>
            <a:off x="6080760" y="1188720"/>
            <a:ext cx="73152" cy="475488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第2章 面向对象</a:t>
            </a:r>
          </a:p>
        </p:txBody>
      </p:sp>
      <p:sp>
        <p:nvSpPr>
          <p:cNvPr id="14" name="TextBox 13"/>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43" name="Rectangle 42"/>
          <p:cNvSpPr/>
          <p:nvPr/>
        </p:nvSpPr>
        <p:spPr>
          <a:xfrm>
            <a:off x="0" y="0"/>
            <a:ext cx="12191695" cy="6858000"/>
          </a:xfrm>
          <a:prstGeom prst="rect">
            <a:avLst/>
          </a:prstGeom>
          <a:solidFill>
            <a:srgbClr val="FF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0"/>
            <a:ext cx="12191695" cy="1828800"/>
          </a:xfrm>
          <a:prstGeom prst="rect">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2" name="Rectangle 1"/>
          <p:cNvSpPr/>
          <p:nvPr/>
        </p:nvSpPr>
        <p:spPr>
          <a:xfrm>
            <a:off x="0" y="0"/>
            <a:ext cx="12191695" cy="180594"/>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6773880000"/>
            <a:ext cx="12191695" cy="180594"/>
          </a:xfrm>
          <a:prstGeom prst="rect">
            <a:avLst/>
          </a:prstGeom>
          <a:solidFill>
            <a:srgbClr val="FF8E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13547760000"/>
            <a:ext cx="12191695" cy="180594"/>
          </a:xfrm>
          <a:prstGeom prst="rect">
            <a:avLst/>
          </a:prstGeom>
          <a:solidFill>
            <a:srgbClr val="FF9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70321640000"/>
            <a:ext cx="12191695" cy="180594"/>
          </a:xfrm>
          <a:prstGeom prst="rect">
            <a:avLst/>
          </a:prstGeom>
          <a:solidFill>
            <a:srgbClr val="FF92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7095520000"/>
            <a:ext cx="12191695" cy="180594"/>
          </a:xfrm>
          <a:prstGeom prst="rect">
            <a:avLst/>
          </a:prstGeom>
          <a:solidFill>
            <a:srgbClr val="FF95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783869400000"/>
            <a:ext cx="12191695" cy="180594"/>
          </a:xfrm>
          <a:prstGeom prst="rect">
            <a:avLst/>
          </a:prstGeom>
          <a:solidFill>
            <a:srgbClr val="FF9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940643280000"/>
            <a:ext cx="12191695" cy="180594"/>
          </a:xfrm>
          <a:prstGeom prst="rect">
            <a:avLst/>
          </a:prstGeom>
          <a:solidFill>
            <a:srgbClr val="FF9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417160000"/>
            <a:ext cx="12191695" cy="180594"/>
          </a:xfrm>
          <a:prstGeom prst="rect">
            <a:avLst/>
          </a:prstGeom>
          <a:solidFill>
            <a:srgbClr val="FF9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1254191040000"/>
            <a:ext cx="12191695" cy="180594"/>
          </a:xfrm>
          <a:prstGeom prst="rect">
            <a:avLst/>
          </a:prstGeom>
          <a:solidFill>
            <a:srgbClr val="FF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1410964920000"/>
            <a:ext cx="12191695" cy="180594"/>
          </a:xfrm>
          <a:prstGeom prst="rect">
            <a:avLst/>
          </a:prstGeom>
          <a:solidFill>
            <a:srgbClr val="FFA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1567738800000"/>
            <a:ext cx="12191695" cy="180594"/>
          </a:xfrm>
          <a:prstGeom prst="rect">
            <a:avLst/>
          </a:prstGeom>
          <a:solidFill>
            <a:srgbClr val="FFA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1724512680000"/>
            <a:ext cx="12191695" cy="180594"/>
          </a:xfrm>
          <a:prstGeom prst="rect">
            <a:avLst/>
          </a:prstGeom>
          <a:solidFill>
            <a:srgbClr val="FFA5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1881286560000"/>
            <a:ext cx="12191695" cy="180594"/>
          </a:xfrm>
          <a:prstGeom prst="rect">
            <a:avLst/>
          </a:prstGeom>
          <a:solidFill>
            <a:srgbClr val="FF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2038060440000"/>
            <a:ext cx="12191695" cy="180594"/>
          </a:xfrm>
          <a:prstGeom prst="rect">
            <a:avLst/>
          </a:prstGeom>
          <a:solidFill>
            <a:srgbClr val="FFA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2194834320000"/>
            <a:ext cx="12191695" cy="180594"/>
          </a:xfrm>
          <a:prstGeom prst="rect">
            <a:avLst/>
          </a:prstGeom>
          <a:solidFill>
            <a:srgbClr val="FFA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2351608200000"/>
            <a:ext cx="12191695" cy="180594"/>
          </a:xfrm>
          <a:prstGeom prst="rect">
            <a:avLst/>
          </a:prstGeom>
          <a:solidFill>
            <a:srgbClr val="FFA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2508382080000"/>
            <a:ext cx="12191695" cy="180594"/>
          </a:xfrm>
          <a:prstGeom prst="rect">
            <a:avLst/>
          </a:prstGeom>
          <a:solidFill>
            <a:srgbClr val="FFB0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2665155960000"/>
            <a:ext cx="12191695" cy="180594"/>
          </a:xfrm>
          <a:prstGeom prst="rect">
            <a:avLst/>
          </a:prstGeom>
          <a:solidFill>
            <a:srgbClr val="FFB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2821929840000"/>
            <a:ext cx="12191695" cy="180594"/>
          </a:xfrm>
          <a:prstGeom prst="rect">
            <a:avLst/>
          </a:prstGeom>
          <a:solidFill>
            <a:srgbClr val="FFB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2978703720000"/>
            <a:ext cx="12191695" cy="180594"/>
          </a:xfrm>
          <a:prstGeom prst="rect">
            <a:avLst/>
          </a:prstGeom>
          <a:solidFill>
            <a:srgbClr val="FFB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3135477600000"/>
            <a:ext cx="12191695" cy="180594"/>
          </a:xfrm>
          <a:prstGeom prst="rect">
            <a:avLst/>
          </a:prstGeom>
          <a:solidFill>
            <a:srgbClr val="FFB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3292251480000"/>
            <a:ext cx="12191695" cy="180594"/>
          </a:xfrm>
          <a:prstGeom prst="rect">
            <a:avLst/>
          </a:prstGeom>
          <a:solidFill>
            <a:srgbClr val="FFB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3449025360000"/>
            <a:ext cx="12191695" cy="180594"/>
          </a:xfrm>
          <a:prstGeom prst="rect">
            <a:avLst/>
          </a:prstGeom>
          <a:solidFill>
            <a:srgbClr val="FFB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3605799240000"/>
            <a:ext cx="12191695" cy="180594"/>
          </a:xfrm>
          <a:prstGeom prst="rect">
            <a:avLst/>
          </a:prstGeom>
          <a:solidFill>
            <a:srgbClr val="FFC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762573120000"/>
            <a:ext cx="12191695" cy="180594"/>
          </a:xfrm>
          <a:prstGeom prst="rect">
            <a:avLst/>
          </a:prstGeom>
          <a:solidFill>
            <a:srgbClr val="FFC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919347000000"/>
            <a:ext cx="12191695" cy="180594"/>
          </a:xfrm>
          <a:prstGeom prst="rect">
            <a:avLst/>
          </a:prstGeom>
          <a:solidFill>
            <a:srgbClr val="FFC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076120880000"/>
            <a:ext cx="12191695" cy="180594"/>
          </a:xfrm>
          <a:prstGeom prst="rect">
            <a:avLst/>
          </a:prstGeom>
          <a:solidFill>
            <a:srgbClr val="FFC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232894760000"/>
            <a:ext cx="12191695" cy="180594"/>
          </a:xfrm>
          <a:prstGeom prst="rect">
            <a:avLst/>
          </a:prstGeom>
          <a:solidFill>
            <a:srgbClr val="FFC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4389668640000"/>
            <a:ext cx="12191695" cy="180594"/>
          </a:xfrm>
          <a:prstGeom prst="rect">
            <a:avLst/>
          </a:prstGeom>
          <a:solidFill>
            <a:srgbClr val="FFCC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4546442520000"/>
            <a:ext cx="12191695" cy="180594"/>
          </a:xfrm>
          <a:prstGeom prst="rect">
            <a:avLst/>
          </a:prstGeom>
          <a:solidFill>
            <a:srgbClr val="FFCE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4703216400000"/>
            <a:ext cx="12191695" cy="180594"/>
          </a:xfrm>
          <a:prstGeom prst="rect">
            <a:avLst/>
          </a:prstGeom>
          <a:solidFill>
            <a:srgbClr val="FFD1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4859990280000"/>
            <a:ext cx="12191695" cy="180594"/>
          </a:xfrm>
          <a:prstGeom prst="rect">
            <a:avLst/>
          </a:prstGeom>
          <a:solidFill>
            <a:srgbClr val="FFD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5016764160000"/>
            <a:ext cx="12191695" cy="180594"/>
          </a:xfrm>
          <a:prstGeom prst="rect">
            <a:avLst/>
          </a:prstGeom>
          <a:solidFill>
            <a:srgbClr val="FFD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5173538040000"/>
            <a:ext cx="12191695" cy="180594"/>
          </a:xfrm>
          <a:prstGeom prst="rect">
            <a:avLst/>
          </a:prstGeom>
          <a:solidFill>
            <a:srgbClr val="FFD8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5330311920000"/>
            <a:ext cx="12191695" cy="180594"/>
          </a:xfrm>
          <a:prstGeom prst="rect">
            <a:avLst/>
          </a:prstGeom>
          <a:solidFill>
            <a:srgbClr val="FFDA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5487085800000"/>
            <a:ext cx="12191695" cy="180594"/>
          </a:xfrm>
          <a:prstGeom prst="rect">
            <a:avLst/>
          </a:prstGeom>
          <a:solidFill>
            <a:srgbClr val="FFDC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5643859680000"/>
            <a:ext cx="12191695" cy="180594"/>
          </a:xfrm>
          <a:prstGeom prst="rect">
            <a:avLst/>
          </a:prstGeom>
          <a:solidFill>
            <a:srgbClr val="FFD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5800633560000"/>
            <a:ext cx="12191695" cy="180594"/>
          </a:xfrm>
          <a:prstGeom prst="rect">
            <a:avLst/>
          </a:prstGeom>
          <a:solidFill>
            <a:srgbClr val="FFE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5957407440000"/>
            <a:ext cx="12191695" cy="180594"/>
          </a:xfrm>
          <a:prstGeom prst="rect">
            <a:avLst/>
          </a:prstGeom>
          <a:solidFill>
            <a:srgbClr val="FFE3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6114181320000"/>
            <a:ext cx="12191695" cy="180594"/>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2286000" y="365760"/>
            <a:ext cx="7589520" cy="914400"/>
          </a:xfrm>
          <a:prstGeom prst="round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286000" y="411480"/>
            <a:ext cx="7589520" cy="822960"/>
          </a:xfrm>
          <a:prstGeom prst="rect">
            <a:avLst/>
          </a:prstGeom>
          <a:noFill/>
        </p:spPr>
        <p:txBody>
          <a:bodyPr wrap="none">
            <a:spAutoFit/>
          </a:bodyPr>
          <a:lstStyle/>
          <a:p>
            <a:pPr algn="ctr"/>
            <a:r>
              <a:rPr sz="3000" b="1">
                <a:solidFill>
                  <a:srgbClr val="FFFFFF"/>
                </a:solidFill>
                <a:latin typeface="Microsoft YaHei"/>
                <a:ea typeface="Microsoft YaHei"/>
              </a:rPr>
              <a:t>本章总结与思考</a:t>
            </a:r>
          </a:p>
        </p:txBody>
      </p:sp>
      <p:sp>
        <p:nvSpPr>
          <p:cNvPr id="46" name="Rounded Rectangle 45"/>
          <p:cNvSpPr/>
          <p:nvPr/>
        </p:nvSpPr>
        <p:spPr>
          <a:xfrm>
            <a:off x="1828800" y="1463040"/>
            <a:ext cx="8503920" cy="822960"/>
          </a:xfrm>
          <a:prstGeom prst="roundRect">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97280" y="150876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207007" y="1618488"/>
            <a:ext cx="329184" cy="329184"/>
          </a:xfrm>
          <a:prstGeom prst="rect">
            <a:avLst/>
          </a:prstGeom>
          <a:noFill/>
        </p:spPr>
        <p:txBody>
          <a:bodyPr wrap="square">
            <a:spAutoFit/>
          </a:bodyPr>
          <a:lstStyle/>
          <a:p>
            <a:pPr algn="ctr"/>
            <a:r>
              <a:rPr sz="2400" b="1">
                <a:solidFill>
                  <a:srgbClr val="FFFFFF"/>
                </a:solidFill>
              </a:rPr>
              <a:t>💡</a:t>
            </a:r>
          </a:p>
        </p:txBody>
      </p:sp>
      <p:sp>
        <p:nvSpPr>
          <p:cNvPr id="49" name="TextBox 48"/>
          <p:cNvSpPr txBox="1"/>
          <p:nvPr/>
        </p:nvSpPr>
        <p:spPr>
          <a:xfrm>
            <a:off x="2103120" y="1554480"/>
            <a:ext cx="8046720" cy="640080"/>
          </a:xfrm>
          <a:prstGeom prst="rect">
            <a:avLst/>
          </a:prstGeom>
          <a:noFill/>
        </p:spPr>
        <p:txBody>
          <a:bodyPr wrap="square">
            <a:spAutoFit/>
          </a:bodyPr>
          <a:lstStyle/>
          <a:p>
            <a:pPr algn="l"/>
            <a:r>
              <a:rPr sz="1800" b="0">
                <a:solidFill>
                  <a:srgbClr val="3D2C2C"/>
                </a:solidFill>
                <a:latin typeface="Microsoft YaHei"/>
                <a:ea typeface="Microsoft YaHei"/>
              </a:rPr>
              <a:t>类与对象：类是模板，对象是实例，构造方法用于初始化对象。</a:t>
            </a:r>
          </a:p>
        </p:txBody>
      </p:sp>
      <p:sp>
        <p:nvSpPr>
          <p:cNvPr id="50" name="Rounded Rectangle 49"/>
          <p:cNvSpPr/>
          <p:nvPr/>
        </p:nvSpPr>
        <p:spPr>
          <a:xfrm>
            <a:off x="1828800" y="2423160"/>
            <a:ext cx="8503920" cy="822960"/>
          </a:xfrm>
          <a:prstGeom prst="roundRect">
            <a:avLst/>
          </a:prstGeom>
          <a:solidFill>
            <a:srgbClr val="7EF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97280" y="246888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07007" y="2578608"/>
            <a:ext cx="329184" cy="329184"/>
          </a:xfrm>
          <a:prstGeom prst="rect">
            <a:avLst/>
          </a:prstGeom>
          <a:noFill/>
        </p:spPr>
        <p:txBody>
          <a:bodyPr wrap="square">
            <a:spAutoFit/>
          </a:bodyPr>
          <a:lstStyle/>
          <a:p>
            <a:pPr algn="ctr"/>
            <a:r>
              <a:rPr sz="2400" b="1">
                <a:solidFill>
                  <a:srgbClr val="FFFFFF"/>
                </a:solidFill>
              </a:rPr>
              <a:t>✓</a:t>
            </a:r>
          </a:p>
        </p:txBody>
      </p:sp>
      <p:sp>
        <p:nvSpPr>
          <p:cNvPr id="53" name="TextBox 52"/>
          <p:cNvSpPr txBox="1"/>
          <p:nvPr/>
        </p:nvSpPr>
        <p:spPr>
          <a:xfrm>
            <a:off x="2103120" y="2514600"/>
            <a:ext cx="8046720" cy="640080"/>
          </a:xfrm>
          <a:prstGeom prst="rect">
            <a:avLst/>
          </a:prstGeom>
          <a:noFill/>
        </p:spPr>
        <p:txBody>
          <a:bodyPr wrap="square">
            <a:spAutoFit/>
          </a:bodyPr>
          <a:lstStyle/>
          <a:p>
            <a:pPr algn="l"/>
            <a:r>
              <a:rPr sz="1800" b="0">
                <a:solidFill>
                  <a:srgbClr val="3D2C2C"/>
                </a:solidFill>
                <a:latin typeface="Microsoft YaHei"/>
                <a:ea typeface="Microsoft YaHei"/>
              </a:rPr>
              <a:t>封装与访问修饰符：用private隐藏内部细节，通过getter/setter提供受控访问，访问修饰符控制可见范围。</a:t>
            </a:r>
          </a:p>
        </p:txBody>
      </p:sp>
      <p:sp>
        <p:nvSpPr>
          <p:cNvPr id="54" name="Rounded Rectangle 53"/>
          <p:cNvSpPr/>
          <p:nvPr/>
        </p:nvSpPr>
        <p:spPr>
          <a:xfrm>
            <a:off x="1828800" y="3383280"/>
            <a:ext cx="8503920" cy="822960"/>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097280" y="342900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207007" y="3538728"/>
            <a:ext cx="329184" cy="329184"/>
          </a:xfrm>
          <a:prstGeom prst="rect">
            <a:avLst/>
          </a:prstGeom>
          <a:noFill/>
        </p:spPr>
        <p:txBody>
          <a:bodyPr wrap="square">
            <a:spAutoFit/>
          </a:bodyPr>
          <a:lstStyle/>
          <a:p>
            <a:pPr algn="ctr"/>
            <a:r>
              <a:rPr sz="2400" b="1">
                <a:solidFill>
                  <a:srgbClr val="FFFFFF"/>
                </a:solidFill>
              </a:rPr>
              <a:t>★</a:t>
            </a:r>
          </a:p>
        </p:txBody>
      </p:sp>
      <p:sp>
        <p:nvSpPr>
          <p:cNvPr id="57" name="TextBox 56"/>
          <p:cNvSpPr txBox="1"/>
          <p:nvPr/>
        </p:nvSpPr>
        <p:spPr>
          <a:xfrm>
            <a:off x="2103120" y="3474720"/>
            <a:ext cx="8046720" cy="640080"/>
          </a:xfrm>
          <a:prstGeom prst="rect">
            <a:avLst/>
          </a:prstGeom>
          <a:noFill/>
        </p:spPr>
        <p:txBody>
          <a:bodyPr wrap="square">
            <a:spAutoFit/>
          </a:bodyPr>
          <a:lstStyle/>
          <a:p>
            <a:pPr algn="l"/>
            <a:r>
              <a:rPr sz="1800" b="0">
                <a:solidFill>
                  <a:srgbClr val="3D2C2C"/>
                </a:solidFill>
                <a:latin typeface="Microsoft YaHei"/>
                <a:ea typeface="Microsoft YaHei"/>
              </a:rPr>
              <a:t>继承：extends建立is-a关系，子类复用父类成员，可以重写方法，super调用父类构造。</a:t>
            </a:r>
          </a:p>
        </p:txBody>
      </p:sp>
      <p:sp>
        <p:nvSpPr>
          <p:cNvPr id="58" name="Rounded Rectangle 57"/>
          <p:cNvSpPr/>
          <p:nvPr/>
        </p:nvSpPr>
        <p:spPr>
          <a:xfrm>
            <a:off x="1828800" y="4343400"/>
            <a:ext cx="8503920" cy="822960"/>
          </a:xfrm>
          <a:prstGeom prst="roundRect">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097280" y="438912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207007" y="4498848"/>
            <a:ext cx="329184" cy="329184"/>
          </a:xfrm>
          <a:prstGeom prst="rect">
            <a:avLst/>
          </a:prstGeom>
          <a:noFill/>
        </p:spPr>
        <p:txBody>
          <a:bodyPr wrap="square">
            <a:spAutoFit/>
          </a:bodyPr>
          <a:lstStyle/>
          <a:p>
            <a:pPr algn="ctr"/>
            <a:r>
              <a:rPr sz="2400" b="1">
                <a:solidFill>
                  <a:srgbClr val="FFFFFF"/>
                </a:solidFill>
              </a:rPr>
              <a:t>⚙</a:t>
            </a:r>
          </a:p>
        </p:txBody>
      </p:sp>
      <p:sp>
        <p:nvSpPr>
          <p:cNvPr id="61" name="TextBox 60"/>
          <p:cNvSpPr txBox="1"/>
          <p:nvPr/>
        </p:nvSpPr>
        <p:spPr>
          <a:xfrm>
            <a:off x="2103120" y="4434840"/>
            <a:ext cx="8046720" cy="640080"/>
          </a:xfrm>
          <a:prstGeom prst="rect">
            <a:avLst/>
          </a:prstGeom>
          <a:noFill/>
        </p:spPr>
        <p:txBody>
          <a:bodyPr wrap="square">
            <a:spAutoFit/>
          </a:bodyPr>
          <a:lstStyle/>
          <a:p>
            <a:pPr algn="l"/>
            <a:r>
              <a:rPr sz="1800" b="0">
                <a:solidFill>
                  <a:srgbClr val="3D2C2C"/>
                </a:solidFill>
                <a:latin typeface="Microsoft YaHei"/>
                <a:ea typeface="Microsoft YaHei"/>
              </a:rPr>
              <a:t>多态：通过向上转型和动态绑定实现不同对象的不同行为，是扩展性的关键。</a:t>
            </a:r>
          </a:p>
        </p:txBody>
      </p:sp>
      <p:sp>
        <p:nvSpPr>
          <p:cNvPr id="62" name="Rounded Rectangle 61"/>
          <p:cNvSpPr/>
          <p:nvPr/>
        </p:nvSpPr>
        <p:spPr>
          <a:xfrm>
            <a:off x="1828800" y="5303520"/>
            <a:ext cx="8503920" cy="822960"/>
          </a:xfrm>
          <a:prstGeom prst="roundRect">
            <a:avLst/>
          </a:prstGeom>
          <a:solidFill>
            <a:srgbClr val="7EF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097280" y="534924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207007" y="5458968"/>
            <a:ext cx="329184" cy="329184"/>
          </a:xfrm>
          <a:prstGeom prst="rect">
            <a:avLst/>
          </a:prstGeom>
          <a:noFill/>
        </p:spPr>
        <p:txBody>
          <a:bodyPr wrap="square">
            <a:spAutoFit/>
          </a:bodyPr>
          <a:lstStyle/>
          <a:p>
            <a:pPr algn="ctr"/>
            <a:r>
              <a:rPr sz="2400" b="1">
                <a:solidFill>
                  <a:srgbClr val="FFFFFF"/>
                </a:solidFill>
              </a:rPr>
              <a:t>♥</a:t>
            </a:r>
          </a:p>
        </p:txBody>
      </p:sp>
      <p:sp>
        <p:nvSpPr>
          <p:cNvPr id="65" name="TextBox 64"/>
          <p:cNvSpPr txBox="1"/>
          <p:nvPr/>
        </p:nvSpPr>
        <p:spPr>
          <a:xfrm>
            <a:off x="2103120" y="5394960"/>
            <a:ext cx="8046720" cy="640080"/>
          </a:xfrm>
          <a:prstGeom prst="rect">
            <a:avLst/>
          </a:prstGeom>
          <a:noFill/>
        </p:spPr>
        <p:txBody>
          <a:bodyPr wrap="square">
            <a:spAutoFit/>
          </a:bodyPr>
          <a:lstStyle/>
          <a:p>
            <a:pPr algn="l"/>
            <a:r>
              <a:rPr sz="1800" b="0">
                <a:solidFill>
                  <a:srgbClr val="3D2C2C"/>
                </a:solidFill>
                <a:latin typeface="Microsoft YaHei"/>
                <a:ea typeface="Microsoft YaHei"/>
              </a:rPr>
              <a:t>接口与抽象类：抽象类提供部分实现，接口纯抽象（Java 8后允许default方法），接口支持多实现。</a:t>
            </a:r>
          </a:p>
        </p:txBody>
      </p:sp>
      <p:sp>
        <p:nvSpPr>
          <p:cNvPr id="66" name="Rounded Rectangle 65"/>
          <p:cNvSpPr/>
          <p:nvPr/>
        </p:nvSpPr>
        <p:spPr>
          <a:xfrm>
            <a:off x="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4572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9144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13716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8288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22860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27432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32004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36576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41148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45720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0292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54864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59436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64008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68580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73152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77724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82296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86868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91440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96012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100584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ed Rectangle 88"/>
          <p:cNvSpPr/>
          <p:nvPr/>
        </p:nvSpPr>
        <p:spPr>
          <a:xfrm>
            <a:off x="105156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109728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ounded Rectangle 90"/>
          <p:cNvSpPr/>
          <p:nvPr/>
        </p:nvSpPr>
        <p:spPr>
          <a:xfrm>
            <a:off x="114300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118872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第2章 面向对象</a:t>
            </a:r>
          </a:p>
        </p:txBody>
      </p:sp>
      <p:sp>
        <p:nvSpPr>
          <p:cNvPr id="94" name="TextBox 93"/>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