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化学方程式是描述化学反应的标准符号语言。书写时首先确保化学式正确，然后利用配平使两边原子数相等，最后标注反应条件和物质状态（固液气沉淀等）。本页通过配平方法和常见错误帮助学生掌握规范书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根据反应物和生成物的种类与数量，将化学反应分为四种基本类型。化合和分解是逆向过程，置换涉及单质参与，复分解发生在离子化合物之间。此外，氧化反应是常见的电子转移过程，为后续氧化还原反应做铺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摩尔是化学中连接微观粒子与宏观质量的核心概念。1摩尔物质包含约6.022×10²³个粒子，这个数字称为阿伏伽德罗常数。通过摩尔质量，我们可以将物质的质量换算成粒子数目，是化学计量计算的关键工具。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化学计量计算是化学定量分析的核心。基本原则是反应中各物质的物质的量之比等于化学计量数之比。计算时应先写出正确配平的方程式，将已知质量或体积换算为物质的量后，利用比例关系求解。本页通过示例帮助学生掌握通用计算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氧化还原反应是化学中最重要的反应类型之一。判断依据是反应前后元素化合价是否变化，本质是电子得失或共用电子对偏移。氧化剂本身被还原，还原剂本身被氧化。此基础概念为后续学习电化学和反应机理打下根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F3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12191695" cy="228600"/>
          </a:xfrm>
          <a:prstGeom prst="rect">
            <a:avLst/>
          </a:prstGeom>
          <a:solidFill>
            <a:srgbClr val="0F3B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57200"/>
            <a:ext cx="12191695" cy="228600"/>
          </a:xfrm>
          <a:prstGeom prst="rect">
            <a:avLst/>
          </a:prstGeom>
          <a:solidFill>
            <a:srgbClr val="0F3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85800"/>
            <a:ext cx="12191695" cy="228600"/>
          </a:xfrm>
          <a:prstGeom prst="rect">
            <a:avLst/>
          </a:prstGeom>
          <a:solidFill>
            <a:srgbClr val="103D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14400"/>
            <a:ext cx="12191695" cy="228600"/>
          </a:xfrm>
          <a:prstGeom prst="rect">
            <a:avLst/>
          </a:prstGeom>
          <a:solidFill>
            <a:srgbClr val="10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12191695" cy="228600"/>
          </a:xfrm>
          <a:prstGeom prst="rect">
            <a:avLst/>
          </a:prstGeom>
          <a:solidFill>
            <a:srgbClr val="103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371600"/>
            <a:ext cx="12191695" cy="228600"/>
          </a:xfrm>
          <a:prstGeom prst="rect">
            <a:avLst/>
          </a:prstGeom>
          <a:solidFill>
            <a:srgbClr val="1140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00200"/>
            <a:ext cx="12191695" cy="228600"/>
          </a:xfrm>
          <a:prstGeom prst="rect">
            <a:avLst/>
          </a:prstGeom>
          <a:solidFill>
            <a:srgbClr val="1141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828800"/>
            <a:ext cx="12191695" cy="228600"/>
          </a:xfrm>
          <a:prstGeom prst="rect">
            <a:avLst/>
          </a:prstGeom>
          <a:solidFill>
            <a:srgbClr val="124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2057400"/>
            <a:ext cx="12191695" cy="228600"/>
          </a:xfrm>
          <a:prstGeom prst="rect">
            <a:avLst/>
          </a:prstGeom>
          <a:solidFill>
            <a:srgbClr val="124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2286000"/>
            <a:ext cx="12191695" cy="228600"/>
          </a:xfrm>
          <a:prstGeom prst="rect">
            <a:avLst/>
          </a:prstGeom>
          <a:solidFill>
            <a:srgbClr val="12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2514600"/>
            <a:ext cx="12191695" cy="228600"/>
          </a:xfrm>
          <a:prstGeom prst="rect">
            <a:avLst/>
          </a:prstGeom>
          <a:solidFill>
            <a:srgbClr val="134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2743200"/>
            <a:ext cx="12191695" cy="228600"/>
          </a:xfrm>
          <a:prstGeom prst="rect">
            <a:avLst/>
          </a:prstGeom>
          <a:solidFill>
            <a:srgbClr val="134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971800"/>
            <a:ext cx="12191695" cy="228600"/>
          </a:xfrm>
          <a:prstGeom prst="rect">
            <a:avLst/>
          </a:prstGeom>
          <a:solidFill>
            <a:srgbClr val="1347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3200400"/>
            <a:ext cx="12191695" cy="228600"/>
          </a:xfrm>
          <a:prstGeom prst="rect">
            <a:avLst/>
          </a:prstGeom>
          <a:solidFill>
            <a:srgbClr val="1448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3429000"/>
            <a:ext cx="12191695" cy="228600"/>
          </a:xfrm>
          <a:prstGeom prst="rect">
            <a:avLst/>
          </a:prstGeom>
          <a:solidFill>
            <a:srgbClr val="1448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3657600"/>
            <a:ext cx="12191695" cy="228600"/>
          </a:xfrm>
          <a:prstGeom prst="rect">
            <a:avLst/>
          </a:prstGeom>
          <a:solidFill>
            <a:srgbClr val="1549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3886200"/>
            <a:ext cx="12191695" cy="228600"/>
          </a:xfrm>
          <a:prstGeom prst="rect">
            <a:avLst/>
          </a:prstGeom>
          <a:solidFill>
            <a:srgbClr val="154A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4114800"/>
            <a:ext cx="12191695" cy="228600"/>
          </a:xfrm>
          <a:prstGeom prst="rect">
            <a:avLst/>
          </a:prstGeom>
          <a:solidFill>
            <a:srgbClr val="154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4343400"/>
            <a:ext cx="12191695" cy="228600"/>
          </a:xfrm>
          <a:prstGeom prst="rect">
            <a:avLst/>
          </a:prstGeom>
          <a:solidFill>
            <a:srgbClr val="164C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91695" cy="228600"/>
          </a:xfrm>
          <a:prstGeom prst="rect">
            <a:avLst/>
          </a:prstGeom>
          <a:solidFill>
            <a:srgbClr val="164D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4800600"/>
            <a:ext cx="12191695" cy="228600"/>
          </a:xfrm>
          <a:prstGeom prst="rect">
            <a:avLst/>
          </a:prstGeom>
          <a:solidFill>
            <a:srgbClr val="164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5029200"/>
            <a:ext cx="12191695" cy="228600"/>
          </a:xfrm>
          <a:prstGeom prst="rect">
            <a:avLst/>
          </a:prstGeom>
          <a:solidFill>
            <a:srgbClr val="174F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5257800"/>
            <a:ext cx="12191695" cy="228600"/>
          </a:xfrm>
          <a:prstGeom prst="rect">
            <a:avLst/>
          </a:prstGeom>
          <a:solidFill>
            <a:srgbClr val="1750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5486400"/>
            <a:ext cx="12191695" cy="228600"/>
          </a:xfrm>
          <a:prstGeom prst="rect">
            <a:avLst/>
          </a:prstGeom>
          <a:solidFill>
            <a:srgbClr val="185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91695" cy="228600"/>
          </a:xfrm>
          <a:prstGeom prst="rect">
            <a:avLst/>
          </a:prstGeom>
          <a:solidFill>
            <a:srgbClr val="185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943600"/>
            <a:ext cx="12191695" cy="228600"/>
          </a:xfrm>
          <a:prstGeom prst="rect">
            <a:avLst/>
          </a:prstGeom>
          <a:solidFill>
            <a:srgbClr val="1853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172200"/>
            <a:ext cx="12191695" cy="228600"/>
          </a:xfrm>
          <a:prstGeom prst="rect">
            <a:avLst/>
          </a:prstGeom>
          <a:solidFill>
            <a:srgbClr val="1954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400800"/>
            <a:ext cx="12191695" cy="228600"/>
          </a:xfrm>
          <a:prstGeom prst="rect">
            <a:avLst/>
          </a:prstGeom>
          <a:solidFill>
            <a:srgbClr val="195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686800" y="-1371600"/>
            <a:ext cx="3657600" cy="36576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-1371600" y="5029200"/>
            <a:ext cx="2743200" cy="2743200"/>
          </a:xfrm>
          <a:prstGeom prst="ellipse">
            <a:avLst/>
          </a:prstGeom>
          <a:solidFill>
            <a:srgbClr val="2566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71600" y="201168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第3章 化学反应与计量 概述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384048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A8C8FA"/>
                </a:solidFill>
                <a:latin typeface="Microsoft YaHei"/>
                <a:ea typeface="Microsoft YaHei"/>
              </a:rPr>
              <a:t>第3章 化学反应与计量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A8C8FA"/>
                </a:solidFill>
                <a:latin typeface="Microsoft YaHei"/>
                <a:ea typeface="Microsoft YaHei"/>
              </a:rPr>
              <a:t>第3章 化学反应与计量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化学方程式：反应的“语言”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化学方程式含义：用化学式表示化学反应的式子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必须遵循质量守恒定律：反应前后原子种类和数目不变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配平方法：观察法、最小公倍数法、待定系数法等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常见错误：化学式写错、未配平、漏标状态符号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示例：2H₂ + O₂ → 2H₂O （燃烧反应）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化学反应与计量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化学反应的基本类型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化合反应：A + B → AB （多种物质生成一种）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分解反应：AB → A + B （一种物质分解为多种）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置换反应：A + BC → AC + B （单质替换化合物中元素）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复分解反应：AB + CD → AD + CB （离子交换，生成沉淀、气体或水）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燃烧与缓慢氧化：剧烈氧化与温和氧化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化学反应与计量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摩尔概念与阿伏伽德罗常数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摩尔（mol）：物质的量的基本单位，表示一定数目粒子的集合体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阿伏伽德罗常数（Nₐ）：约 6.022 × 10²³ mol⁻¹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1 mol 任何物质含有 Nₐ 个基本单元（原子、分子、离子等）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摩尔质量（M）：单位物质的量的物质所具有的质量（g/mol）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关系式：n = m / M = N / Nₐ （n:物质的量, m:质量, N:粒子数）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化学反应与计量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化学计量计算：从方程到数量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化学计量数：化学方程式中各物质前的系数，表示物质的量之比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步骤一：写出配平的化学方程式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步骤二：将已知量换算成物质的量（n）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步骤三：利用系数比建立比例关系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步骤四：求解未知量，必要时换算回质量或体积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示例：2H₂ + O₂ → 2H₂O，2 mol H₂ 完全反应需 1 mol O₂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化学反应与计量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56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氧化还原反应基础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09728" cy="5349240"/>
          </a:xfrm>
          <a:prstGeom prst="rect">
            <a:avLst/>
          </a:prstGeom>
          <a:solidFill>
            <a:srgbClr val="A8C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1554480"/>
            <a:ext cx="987552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F0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89611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特征：反应前后元素化合价发生变化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本质：电子的转移（得失或偏移）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氧化反应：化合价升高，失去电子（被氧化）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还原反应：化合价降低，得到电子（被还原）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氧化剂：得到电子（化合价降低），具有氧化性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还原剂：失去电子（化合价升高），具有还原性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400" b="0">
                <a:solidFill>
                  <a:srgbClr val="1A56A8"/>
                </a:solidFill>
                <a:latin typeface="Microsoft YaHei"/>
                <a:ea typeface="Microsoft YaHei"/>
              </a:rPr>
              <a:t>● </a:t>
            </a:r>
            <a:r>
              <a:rPr sz="2000" b="0">
                <a:solidFill>
                  <a:srgbClr val="2D3747"/>
                </a:solidFill>
                <a:latin typeface="Microsoft YaHei"/>
                <a:ea typeface="Microsoft YaHei"/>
              </a:rPr>
              <a:t>示例：Fe + CuSO₄ → FeSO₄ + Cu （铁被氧化，铜离子被还原）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第3章 化学反应与计量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F6B7A"/>
                </a:solidFill>
                <a:latin typeface="Microsoft YaHei"/>
                <a:ea typeface="Microsoft YaHe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