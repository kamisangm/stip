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伽利略相对性原理指出，在任何匀速直线运动的惯性系内，力学定律的表现形式完全相同。例如在匀速行进的火车上，竖直掉落的小球在车内观察者看来是直线下落，而地面观察者看到的是抛物线，但两个观察者都遵循牛顿定律。而经典的速度叠加公式也来自于这个框架，但这与光的传播规律出现了矛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爱因斯坦大胆提出，真空中光速在任何惯性参考系中都是一个常数c，与光源和观察者的运动状态无关。而迈克尔逊-莫雷实验的零结果恰好支持了这一假设。同时，他将相对性原理从力学推广到所有物理学，即所有物理定律在惯性参考系中都具有相同的形式。这两个假设看似简单，却彻底颠覆了我们对时间和空间的传统认知。</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爱因斯坦用一列运动的火车和两道闪电的思想实验揭示了同时性的相对性。当两道闪电同时击中火车两端时，站台上的观察者看到它们同时发生，但火车中央的观察者由于光速有限且自己在运动，会先看到前方的闪电。这说明‘同时’是一个相对的概念，依赖观察者所在的参考系。这是狭义相对论中时空观改变的第一步。</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时间膨胀指在一个相对于观察者运动的参考系中，时钟走得更慢。例如，当飞船以接近光速飞行时，飞船内的时间比地球上的时间流逝更慢。大量实验如μ子穿过大气层时寿命明显延长，验证了这一效应。时间膨胀不仅是理论推导，更是现代粒子物理和GPS系统必须考虑的实际因素。</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长度收缩又称洛伦兹收缩，指物体相对于观察者运动时，在运动方向上测量到的长度比静止时短。例如，一个高速飞行的宇宙飞船，在地球参考系中测得长度比它内部测量更短。这一效应与时间膨胀相对应，都是时空统一性的表现。注意，这种收缩不是视觉错觉，而是实际测量结果，与观察者位置无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相对论中，经典速度叠加公式被修正，使得两速度之和永远不会超过光速。而质能关系E=mc²则是狭义相对论最著名的结论，它表明质量是能量的一种形式，即使微小的质量也蕴藏着巨大的能量。原子核的裂变和聚变正是这一关系的体现，并由此产生了核能应用。这个公式深刻改变了人类对物质世界的认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我们学习了狭义相对论的核心内容，从伽利略相对性原理出发，通过光速不变和狭义相对性原理两个基本假设，推导出了同时性的相对性、时间膨胀、长度收缩以及质能关系等一系列深刻结论。狭义相对论改变了我们对时空的绝对认识，为后续的广义相对论奠定了基础。在下一章中，我们将讨论引力如何影响时空结构，进入更广阔的弯曲时空世界。</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0F3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
            <a:ext cx="12191695" cy="228600"/>
          </a:xfrm>
          <a:prstGeom prst="rect">
            <a:avLst/>
          </a:prstGeom>
          <a:solidFill>
            <a:srgbClr val="0F3B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
            <a:ext cx="12191695" cy="228600"/>
          </a:xfrm>
          <a:prstGeom prst="rect">
            <a:avLst/>
          </a:prstGeom>
          <a:solidFill>
            <a:srgbClr val="0F3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5800"/>
            <a:ext cx="12191695" cy="228600"/>
          </a:xfrm>
          <a:prstGeom prst="rect">
            <a:avLst/>
          </a:prstGeom>
          <a:solidFill>
            <a:srgbClr val="1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228600"/>
          </a:xfrm>
          <a:prstGeom prst="rect">
            <a:avLst/>
          </a:prstGeom>
          <a:solidFill>
            <a:srgbClr val="103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143000"/>
            <a:ext cx="12191695" cy="228600"/>
          </a:xfrm>
          <a:prstGeom prst="rect">
            <a:avLst/>
          </a:prstGeom>
          <a:solidFill>
            <a:srgbClr val="103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1371600"/>
            <a:ext cx="12191695" cy="228600"/>
          </a:xfrm>
          <a:prstGeom prst="rect">
            <a:avLst/>
          </a:prstGeom>
          <a:solidFill>
            <a:srgbClr val="11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600200"/>
            <a:ext cx="12191695" cy="228600"/>
          </a:xfrm>
          <a:prstGeom prst="rect">
            <a:avLst/>
          </a:prstGeom>
          <a:solidFill>
            <a:srgbClr val="1141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828800"/>
            <a:ext cx="12191695" cy="228600"/>
          </a:xfrm>
          <a:prstGeom prst="rect">
            <a:avLst/>
          </a:prstGeom>
          <a:solidFill>
            <a:srgbClr val="124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057400"/>
            <a:ext cx="12191695" cy="228600"/>
          </a:xfrm>
          <a:prstGeom prst="rect">
            <a:avLst/>
          </a:prstGeom>
          <a:solidFill>
            <a:srgbClr val="1243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286000"/>
            <a:ext cx="12191695" cy="228600"/>
          </a:xfrm>
          <a:prstGeom prst="rect">
            <a:avLst/>
          </a:prstGeom>
          <a:solidFill>
            <a:srgbClr val="12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2514600"/>
            <a:ext cx="12191695" cy="228600"/>
          </a:xfrm>
          <a:prstGeom prst="rect">
            <a:avLst/>
          </a:prstGeom>
          <a:solidFill>
            <a:srgbClr val="13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2743200"/>
            <a:ext cx="12191695" cy="228600"/>
          </a:xfrm>
          <a:prstGeom prst="rect">
            <a:avLst/>
          </a:prstGeom>
          <a:solidFill>
            <a:srgbClr val="1346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971800"/>
            <a:ext cx="12191695" cy="228600"/>
          </a:xfrm>
          <a:prstGeom prst="rect">
            <a:avLst/>
          </a:prstGeom>
          <a:solidFill>
            <a:srgbClr val="1347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200400"/>
            <a:ext cx="12191695" cy="228600"/>
          </a:xfrm>
          <a:prstGeom prst="rect">
            <a:avLst/>
          </a:prstGeom>
          <a:solidFill>
            <a:srgbClr val="144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429000"/>
            <a:ext cx="12191695" cy="228600"/>
          </a:xfrm>
          <a:prstGeom prst="rect">
            <a:avLst/>
          </a:prstGeom>
          <a:solidFill>
            <a:srgbClr val="144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657600"/>
            <a:ext cx="12191695" cy="228600"/>
          </a:xfrm>
          <a:prstGeom prst="rect">
            <a:avLst/>
          </a:prstGeom>
          <a:solidFill>
            <a:srgbClr val="154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3886200"/>
            <a:ext cx="12191695" cy="228600"/>
          </a:xfrm>
          <a:prstGeom prst="rect">
            <a:avLst/>
          </a:prstGeom>
          <a:solidFill>
            <a:srgbClr val="154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4114800"/>
            <a:ext cx="12191695" cy="228600"/>
          </a:xfrm>
          <a:prstGeom prst="rect">
            <a:avLst/>
          </a:prstGeom>
          <a:solidFill>
            <a:srgbClr val="154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4343400"/>
            <a:ext cx="12191695" cy="228600"/>
          </a:xfrm>
          <a:prstGeom prst="rect">
            <a:avLst/>
          </a:prstGeom>
          <a:solidFill>
            <a:srgbClr val="164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4572000"/>
            <a:ext cx="12191695" cy="228600"/>
          </a:xfrm>
          <a:prstGeom prst="rect">
            <a:avLst/>
          </a:prstGeom>
          <a:solidFill>
            <a:srgbClr val="16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4800600"/>
            <a:ext cx="12191695" cy="228600"/>
          </a:xfrm>
          <a:prstGeom prst="rect">
            <a:avLst/>
          </a:prstGeom>
          <a:solidFill>
            <a:srgbClr val="16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5029200"/>
            <a:ext cx="12191695" cy="228600"/>
          </a:xfrm>
          <a:prstGeom prst="rect">
            <a:avLst/>
          </a:prstGeom>
          <a:solidFill>
            <a:srgbClr val="174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5257800"/>
            <a:ext cx="12191695" cy="228600"/>
          </a:xfrm>
          <a:prstGeom prst="rect">
            <a:avLst/>
          </a:prstGeom>
          <a:solidFill>
            <a:srgbClr val="17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5486400"/>
            <a:ext cx="12191695" cy="228600"/>
          </a:xfrm>
          <a:prstGeom prst="rect">
            <a:avLst/>
          </a:prstGeom>
          <a:solidFill>
            <a:srgbClr val="1851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5715000"/>
            <a:ext cx="12191695" cy="228600"/>
          </a:xfrm>
          <a:prstGeom prst="rect">
            <a:avLst/>
          </a:prstGeom>
          <a:solidFill>
            <a:srgbClr val="1852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5943600"/>
            <a:ext cx="12191695" cy="228600"/>
          </a:xfrm>
          <a:prstGeom prst="rect">
            <a:avLst/>
          </a:prstGeom>
          <a:solidFill>
            <a:srgbClr val="185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172200"/>
            <a:ext cx="12191695" cy="228600"/>
          </a:xfrm>
          <a:prstGeom prst="rect">
            <a:avLst/>
          </a:prstGeom>
          <a:solidFill>
            <a:srgbClr val="195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400800"/>
            <a:ext cx="12191695" cy="228600"/>
          </a:xfrm>
          <a:prstGeom prst="rect">
            <a:avLst/>
          </a:prstGeom>
          <a:solidFill>
            <a:srgbClr val="195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629400"/>
            <a:ext cx="12191695" cy="22860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86800" y="-1371600"/>
            <a:ext cx="3657600" cy="3657600"/>
          </a:xfrm>
          <a:prstGeom prst="ellipse">
            <a:avLst/>
          </a:prstGeom>
          <a:solidFill>
            <a:srgbClr val="2566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71600" y="5029200"/>
            <a:ext cx="2743200" cy="2743200"/>
          </a:xfrm>
          <a:prstGeom prst="ellipse">
            <a:avLst/>
          </a:prstGeom>
          <a:solidFill>
            <a:srgbClr val="2566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71600" y="2011680"/>
            <a:ext cx="9418320" cy="1645920"/>
          </a:xfrm>
          <a:prstGeom prst="rect">
            <a:avLst/>
          </a:prstGeom>
          <a:noFill/>
        </p:spPr>
        <p:txBody>
          <a:bodyPr wrap="square">
            <a:spAutoFit/>
          </a:bodyPr>
          <a:lstStyle/>
          <a:p>
            <a:pPr algn="ctr"/>
            <a:r>
              <a:rPr sz="4000" b="1">
                <a:solidFill>
                  <a:srgbClr val="FFFFFF"/>
                </a:solidFill>
                <a:latin typeface="Microsoft YaHei"/>
                <a:ea typeface="Microsoft YaHei"/>
              </a:rPr>
              <a:t>章节概览：第2章 狭义相对论</a:t>
            </a:r>
          </a:p>
        </p:txBody>
      </p:sp>
      <p:sp>
        <p:nvSpPr>
          <p:cNvPr id="35" name="TextBox 34"/>
          <p:cNvSpPr txBox="1"/>
          <p:nvPr/>
        </p:nvSpPr>
        <p:spPr>
          <a:xfrm>
            <a:off x="1371600" y="3840480"/>
            <a:ext cx="9418320" cy="1097280"/>
          </a:xfrm>
          <a:prstGeom prst="rect">
            <a:avLst/>
          </a:prstGeom>
          <a:noFill/>
        </p:spPr>
        <p:txBody>
          <a:bodyPr wrap="square">
            <a:spAutoFit/>
          </a:bodyPr>
          <a:lstStyle/>
          <a:p>
            <a:pPr algn="ctr"/>
            <a:r>
              <a:rPr sz="2200" b="0">
                <a:solidFill>
                  <a:srgbClr val="A8C8FA"/>
                </a:solidFill>
                <a:latin typeface="Microsoft YaHei"/>
                <a:ea typeface="Microsoft YaHei"/>
              </a:rPr>
              <a:t>第2章 狭义相对论</a:t>
            </a:r>
          </a:p>
        </p:txBody>
      </p:sp>
      <p:sp>
        <p:nvSpPr>
          <p:cNvPr id="36" name="Rectangle 35"/>
          <p:cNvSpPr/>
          <p:nvPr/>
        </p:nvSpPr>
        <p:spPr>
          <a:xfrm>
            <a:off x="1371600" y="5852160"/>
            <a:ext cx="9418320" cy="13716"/>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71600" y="5943600"/>
            <a:ext cx="9418320" cy="457200"/>
          </a:xfrm>
          <a:prstGeom prst="rect">
            <a:avLst/>
          </a:prstGeom>
          <a:noFill/>
        </p:spPr>
        <p:txBody>
          <a:bodyPr wrap="none">
            <a:spAutoFit/>
          </a:bodyPr>
          <a:lstStyle/>
          <a:p>
            <a:pPr algn="ctr"/>
            <a:r>
              <a:rPr sz="1200" b="0">
                <a:solidFill>
                  <a:srgbClr val="A8C8FA"/>
                </a:solidFill>
                <a:latin typeface="Microsoft YaHei"/>
                <a:ea typeface="Microsoft YaHei"/>
              </a:rPr>
              <a:t>第2章 狭义相对论</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伽利略相对性原理</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283464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力学规律在所有惯性参考系中形式相同</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经典速度叠加公式：v = v' + u</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无法通过力学实验区分静止与匀速运动</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例子：匀速行驶的火车上自由落体</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第2章 狭义相对论</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光速不变假设与狭义相对性原理</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283464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光速不变假设：真空光速c与光源运动无关</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迈克尔逊-莫雷实验为何是零结果</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狭义相对性原理：物理定律在所有惯性系中形式相同</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两个假设构成了狭义相对论的基础</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第2章 狭义相对论</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同时性的相对性</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283464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同时性不是绝对的，依赖于参考系</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思想实验：运动中的人看到两个闪电</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列车中央的观察者判断闪电是否同时</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结论：一个参考系中同时，另一参考系中不同时</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第2章 狭义相对论</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时间膨胀效应</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283464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运动时钟变慢：Δt = γ Δt₀</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γ = 1/√(1 - v²/c²) 为洛伦兹因子</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固有时间 Δt₀ 是时钟静止时的时间间隔</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μ子寿命延长的实验证实时间膨胀</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第2章 狭义相对论</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长度收缩效应</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283464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运动方向上的长度变短：L = L₀/γ</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固有长度 L₀ 在物体静止参考系中测量</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垂直于运动方向长度不变</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并非视觉变形，是实测收缩</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第2章 狭义相对论</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相对论速度叠加与质能关系</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283464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新速度叠加公式：u' = (u+v)/(1+uv/c²)</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保证了合成速度不超过光速</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质能关系：E = mc²</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质量与能量等价，核反应释放巨大能量</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第2章 狭义相对论</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总结与展望：从狭义到广义</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283464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狭义相对论革命了时间和空间观</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建立在两个基本假设之上</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主要效应：同时性相对、时间膨胀、长度收缩、质能等价</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广义相对论将进一步引入引力与弯曲时空</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第2章 狭义相对论</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