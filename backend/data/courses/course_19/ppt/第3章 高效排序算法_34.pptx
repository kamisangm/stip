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比较次数</c:v>
                </c:pt>
              </c:strCache>
            </c:strRef>
          </c:tx>
          <c:spPr>
            <a:solidFill>
              <a:srgbClr val="FF8C42"/>
            </a:solidFill>
          </c:spPr>
          <c:cat>
            <c:strRef>
              <c:f>Sheet1!$A$2:$A$5</c:f>
              <c:strCache>
                <c:ptCount val="4"/>
                <c:pt idx="0">
                  <c:v>希尔排序</c:v>
                </c:pt>
                <c:pt idx="1">
                  <c:v>快速排序</c:v>
                </c:pt>
                <c:pt idx="2">
                  <c:v>归并排序</c:v>
                </c:pt>
                <c:pt idx="3">
                  <c:v>堆排序</c:v>
                </c:pt>
              </c:strCache>
            </c:strRef>
          </c:cat>
          <c:val>
            <c:numRef>
              <c:f>Sheet1!$B$2:$B$5</c:f>
              <c:numCache>
                <c:formatCode>General</c:formatCode>
                <c:ptCount val="4"/>
                <c:pt idx="0">
                  <c:v>15000</c:v>
                </c:pt>
                <c:pt idx="1">
                  <c:v>10000</c:v>
                </c:pt>
                <c:pt idx="2">
                  <c:v>10000</c:v>
                </c:pt>
                <c:pt idx="3">
                  <c:v>12000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先我们来理解分治思想，这是许多高效算法的核心。什么是分治？简单说就是‘分而治之’。当面临一个复杂的大问题时，我们把它拆分成若干个相似的、规模更小的子问题；然后分别解决子问题；最后再把子问题的解合并起来，就得到了原问题的解。这里大家要注意三个关键步骤：分解、解决、合并。在排序算法中，快速排序和归并排序都是采用分治策略。但它们的分解方式不同：快排按大小分，归并按位置分；合并方式也不同：快排不需要显式合并，归并需要合并两个有序表。另外，分治要求子问题相互独立，不能有重叠计算，否则效率会降低。</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我们看希尔排序。它是插入排序的改进版本，巧妙利用了插入排序在数组基本有序时效率高的特点。基本思想是：先取一个增量gap，将数组分成若干组，每组内部元素下标相差gap；对每组进行插入排序；然后缩小gap，重复以上过程；当gap=1时，整个数组已基本有序，最后一次插入排序很快完成。这里增量序列的选择至关重要，不同的序列会导致不同的时间性能。比如经典的希尔序列每次减半，最坏情况是平方级；而Sedgewick提出的序列可以将最坏情况降到n的4/3次方。希尔排序是原地算法，不需要额外空间，但它是不稳定的，比如相同值的元素在分组排序后可能交换顺序，这一点大家要注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快速排序是应用最广泛的排序算法之一，名字里的‘快速’名副其实。它的核心是分区操作：从数组中选一个元素作为基准，然后遍历整个数组，把比基准小的元素放到左边，比基准大的放到右边。接着对左右两个子数组递归进行同样的操作。平均情况下，快排的时间复杂度是O(n log n)。但要注意，如果每次基准都选到当前数组的最小值或最大值，那么分区极度不平衡，递归深度变成n，复杂度退化为O(n²)。所以实际使用中，我们通会过随机选择基准或三数取中法来避免这种最坏情况。另外，快排是原地排序，空间开销主要在递归栈上，平均O(log n)。但由于基准移动时可能打乱相等元素的顺序，所以它是不稳定的。很多语言库中的排序函数（如C++的std::sort）会对小规模子数组切换到插入排序来进一步提高速度。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归并排序是另一种基于分治的排序算法，它的思想更加直观：先把数组一分为二，分别排序，再将两个有序的数组合并成一个有序数组。递归地进行这个过程直到子数组只有一个元素（自然有序）。归并排序最大的优点有两个：一是它的时间复杂度无论最好、最坏还是平均都是O(n log n)，非常稳定；二是它是稳定的排序，因为合并时当左右两个元素相等时，我们可以先取左边的，从而保持原始顺序。但是它的缺点也很明显：需要额外O(n)的辅助空间来存放合并结果，所以空间开销比快排大。另外，归并排序的顺序访问模式非常有利于对外存数据进行排序，因此在大数据外部排序领域应用广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我们学习堆排序，它利用一种特殊的数据结构——堆。这里我们使用最大堆：每个父节点的值都大于或等于其子节点，因此堆顶就是全局最大值。堆排序的步骤是：首先将无序数组构建成一个最大堆（建堆），然后重复执行：把堆顶（最大值）与当前未排序部分的最后一个元素交换，这样最大值就放到了正确位置；然后堆的大小减一，并对新的堆顶进行下沉调整，使其重新满足最大堆性质。这样做n-1次，就完成了排序。建堆的时间复杂度是O(n)，每次调整是O(log n)，所以整体O(n log n)。堆排序是原地排序，不需要额外空间。但它是不稳定的，而且由于缓存不友好（跳跃式访问），在实际机器上的常数较大，通常不如快速排序快。不过堆排序适合需要最坏情况有保障的场景。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我们把快速排序和归并排序放在一起对比一下。快排最大的优势是就地排序且常数小，平均情况下最快，但是最坏情况可能退化；而归并排序最稳定，无论什么输入都是O(n log n)，而且稳定，但需要额外O(n)的空间。在实际工程中，如果你需要速度且内存有限，快排是首选；如果你需要稳定且数据量巨大、内存充足或要处理外部数据，归并排序更合适。另外还有一个重要区别：快排是不稳定的，而归并是稳定的。大家根据具体需求来选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图展示了在数据规模n=1000时，四种算法在平均情况下的比较次数近似值。注意这里只是比较次数，实际运行时间还受赋值、递归、缓存等因素影响。可以看到快排和归并的比较次数大致相同，但快排在大多数情况下实际运行更快，因为它赋值操作少、缓存友好。希尔排序的比较次数偏多，但胜在实现简单、空间省。堆排序比较次数和快排差不多，但常量更大。因此在实际开发中，快速排序是首选的内排序算法，而其他算法在特定场景下也有优势。大家在选择时一定要综合考虑稳定性、空间限制、最坏情况保证等因素。</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学们，今天我们一起学习了四种高效排序算法。核心思想可以总结为：分治和堆。分治让大家想到了快排和归并，堆让我们有了堆排序。它们各有优缺点：快排最快但可能不稳定，归并稳定但费空间，堆排序最坏情况稳定但速度稍慢，希尔排序简单但对增量依赖大。在实际工程中，语言标准库通常已经为我们封装了最佳算法，但理解背后的原理有助于我们写出更优秀的代码。作为课后思考，请大家思考一个场景：内存只有512MB，但需要排序50GB的数据，显然无法一次性全部加载到内存，此时应该选用哪种排序算法？提示：考虑外部排序与归并排序的关系。好，这节课就到这里，谢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772400" y="-914400"/>
            <a:ext cx="4572000" cy="4572000"/>
          </a:xfrm>
          <a:prstGeom prst="ellipse">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14400" y="4114800"/>
            <a:ext cx="3200400" cy="320040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00800" y="2743200"/>
            <a:ext cx="1828800" cy="1828800"/>
          </a:xfrm>
          <a:prstGeom prst="ellipse">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14400" y="1645920"/>
            <a:ext cx="10332720" cy="22860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88720" y="1920240"/>
            <a:ext cx="9784080" cy="1737360"/>
          </a:xfrm>
          <a:prstGeom prst="rect">
            <a:avLst/>
          </a:prstGeom>
          <a:noFill/>
        </p:spPr>
        <p:txBody>
          <a:bodyPr wrap="square">
            <a:spAutoFit/>
          </a:bodyPr>
          <a:lstStyle/>
          <a:p>
            <a:pPr algn="ctr"/>
            <a:r>
              <a:rPr sz="3800" b="1">
                <a:solidFill>
                  <a:srgbClr val="FFFFFF"/>
                </a:solidFill>
                <a:latin typeface="Microsoft YaHei"/>
                <a:ea typeface="Microsoft YaHei"/>
              </a:rPr>
              <a:t>第3章 高效排序算法</a:t>
            </a:r>
          </a:p>
        </p:txBody>
      </p:sp>
      <p:sp>
        <p:nvSpPr>
          <p:cNvPr id="48" name="TextBox 47"/>
          <p:cNvSpPr txBox="1"/>
          <p:nvPr/>
        </p:nvSpPr>
        <p:spPr>
          <a:xfrm>
            <a:off x="914400" y="4389120"/>
            <a:ext cx="10332720" cy="731520"/>
          </a:xfrm>
          <a:prstGeom prst="rect">
            <a:avLst/>
          </a:prstGeom>
          <a:noFill/>
        </p:spPr>
        <p:txBody>
          <a:bodyPr wrap="square">
            <a:spAutoFit/>
          </a:bodyPr>
          <a:lstStyle/>
          <a:p>
            <a:pPr algn="ctr"/>
            <a:r>
              <a:rPr sz="2000" b="0">
                <a:solidFill>
                  <a:srgbClr val="2A9D8F"/>
                </a:solidFill>
                <a:latin typeface="Microsoft YaHei"/>
                <a:ea typeface="Microsoft YaHei"/>
              </a:rPr>
              <a:t>第3章 高效排序算法</a:t>
            </a:r>
          </a:p>
        </p:txBody>
      </p:sp>
      <p:sp>
        <p:nvSpPr>
          <p:cNvPr id="49" name="Rounded Rectangle 48"/>
          <p:cNvSpPr/>
          <p:nvPr/>
        </p:nvSpPr>
        <p:spPr>
          <a:xfrm>
            <a:off x="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57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14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371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828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2286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2743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200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3657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114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572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029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486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5943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400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6858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315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7724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82296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6868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91440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96012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00584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105156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109728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11430000" y="603504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11887200" y="606247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371600" y="5852160"/>
            <a:ext cx="9418320" cy="13716"/>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371600" y="5943600"/>
            <a:ext cx="9418320" cy="457200"/>
          </a:xfrm>
          <a:prstGeom prst="rect">
            <a:avLst/>
          </a:prstGeom>
          <a:noFill/>
        </p:spPr>
        <p:txBody>
          <a:bodyPr wrap="none">
            <a:spAutoFit/>
          </a:bodyPr>
          <a:lstStyle/>
          <a:p>
            <a:pPr algn="ctr"/>
            <a:r>
              <a:rPr sz="1200" b="0">
                <a:solidFill>
                  <a:srgbClr val="FFE66D"/>
                </a:solidFill>
                <a:latin typeface="Microsoft YaHei"/>
                <a:ea typeface="Microsoft YaHei"/>
              </a:rPr>
              <a:t>第3章 高效排序算法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分治思想：高效排序的基石</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2834639"/>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分治思想将原问题分解为若干个规模较小但结构与原问题相似的子问题，递归求解子问题后再合并得到原问题的解。</a:t>
            </a:r>
          </a:p>
          <a:p>
            <a:pPr>
              <a:spcBef>
                <a:spcPts val="1000"/>
              </a:spcBef>
              <a:spcAft>
                <a:spcPts val="500"/>
              </a:spcAft>
            </a:pPr>
            <a:r>
              <a:rPr sz="1800" b="0">
                <a:solidFill>
                  <a:srgbClr val="3D2C2C"/>
                </a:solidFill>
                <a:latin typeface="Microsoft YaHei"/>
                <a:ea typeface="Microsoft YaHei"/>
              </a:rPr>
              <a:t>典型的分治过程包括三个步骤：分解（Divide）、解决（Conquer）、合并（Combine），每一步都需要明确的操作策略。</a:t>
            </a:r>
          </a:p>
          <a:p>
            <a:pPr>
              <a:spcBef>
                <a:spcPts val="1000"/>
              </a:spcBef>
              <a:spcAft>
                <a:spcPts val="500"/>
              </a:spcAft>
            </a:pPr>
            <a:r>
              <a:rPr sz="1800" b="0">
                <a:solidFill>
                  <a:srgbClr val="3D2C2C"/>
                </a:solidFill>
                <a:latin typeface="Microsoft YaHei"/>
                <a:ea typeface="Microsoft YaHei"/>
              </a:rPr>
              <a:t>快速排序和归并排序都是分治思想的经典应用，但它们的分解和合并策略截然不同，导致性能特征各异。</a:t>
            </a:r>
          </a:p>
          <a:p>
            <a:pPr>
              <a:spcBef>
                <a:spcPts val="1000"/>
              </a:spcBef>
              <a:spcAft>
                <a:spcPts val="500"/>
              </a:spcAft>
            </a:pPr>
            <a:r>
              <a:rPr sz="1800" b="0">
                <a:solidFill>
                  <a:srgbClr val="3D2C2C"/>
                </a:solidFill>
                <a:latin typeface="Microsoft YaHei"/>
                <a:ea typeface="Microsoft YaHei"/>
              </a:rPr>
              <a:t>分治策略的有效性依赖于子问题之间的独立性——子问题不能重叠，且合并操作的开销不能太大。</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24" name="TextBox 2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希尔排序：插入排序的改进</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2834639"/>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希尔排序通过将原始数组按一定增量分组，对每组进行直接插入排序，然后逐步缩小增量直至为1，使整个数组基本有序。</a:t>
            </a:r>
          </a:p>
          <a:p>
            <a:pPr>
              <a:spcBef>
                <a:spcPts val="1000"/>
              </a:spcBef>
              <a:spcAft>
                <a:spcPts val="500"/>
              </a:spcAft>
            </a:pPr>
            <a:r>
              <a:rPr sz="1800" b="0">
                <a:solidFill>
                  <a:srgbClr val="3D2C2C"/>
                </a:solidFill>
                <a:latin typeface="Microsoft YaHei"/>
                <a:ea typeface="Microsoft YaHei"/>
              </a:rPr>
              <a:t>希尔排序的时间复杂度依赖于增量序列的选择，常见序列如希尔原始增量（N/2, N/4, ...）最坏情况O(n²)，而Sedgewick序列可优化到O(n^(4/3))左右。</a:t>
            </a:r>
          </a:p>
          <a:p>
            <a:pPr>
              <a:spcBef>
                <a:spcPts val="1000"/>
              </a:spcBef>
              <a:spcAft>
                <a:spcPts val="500"/>
              </a:spcAft>
            </a:pPr>
            <a:r>
              <a:rPr sz="1800" b="0">
                <a:solidFill>
                  <a:srgbClr val="3D2C2C"/>
                </a:solidFill>
                <a:latin typeface="Microsoft YaHei"/>
                <a:ea typeface="Microsoft YaHei"/>
              </a:rPr>
              <a:t>与直接插入排序相比，希尔排序在小组内完成初步有序，减少了大量元素的远距离移动，因此在大数据量下效率显著提升。</a:t>
            </a:r>
          </a:p>
          <a:p>
            <a:pPr>
              <a:spcBef>
                <a:spcPts val="1000"/>
              </a:spcBef>
              <a:spcAft>
                <a:spcPts val="500"/>
              </a:spcAft>
            </a:pPr>
            <a:r>
              <a:rPr sz="1800" b="0">
                <a:solidFill>
                  <a:srgbClr val="3D2C2C"/>
                </a:solidFill>
                <a:latin typeface="Microsoft YaHei"/>
                <a:ea typeface="Microsoft YaHei"/>
              </a:rPr>
              <a:t>希尔排序是就地排序（空间复杂度O(1)），且不稳定，因为分组插入可能破坏相同元素的相对顺序。</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24" name="TextBox 2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快速排序：平均最快的排序</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2834639"/>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快速排序的核心操作是分区：选定一个基准（pivot），将数组重新排列为小于基准的都在左边，大于基准的都在右边，然后递归排序左右子数组。</a:t>
            </a:r>
          </a:p>
          <a:p>
            <a:pPr>
              <a:spcBef>
                <a:spcPts val="1000"/>
              </a:spcBef>
              <a:spcAft>
                <a:spcPts val="500"/>
              </a:spcAft>
            </a:pPr>
            <a:r>
              <a:rPr sz="1800" b="0">
                <a:solidFill>
                  <a:srgbClr val="3D2C2C"/>
                </a:solidFill>
                <a:latin typeface="Microsoft YaHei"/>
                <a:ea typeface="Microsoft YaHei"/>
              </a:rPr>
              <a:t>期望时间复杂度为O(n log n)，最坏情况（如每次选到最小或最大基准）退化为O(n²)，但通过随机选取基准可有效避免最坏情况。</a:t>
            </a:r>
          </a:p>
          <a:p>
            <a:pPr>
              <a:spcBef>
                <a:spcPts val="1000"/>
              </a:spcBef>
              <a:spcAft>
                <a:spcPts val="500"/>
              </a:spcAft>
            </a:pPr>
            <a:r>
              <a:rPr sz="1800" b="0">
                <a:solidFill>
                  <a:srgbClr val="3D2C2C"/>
                </a:solidFill>
                <a:latin typeface="Microsoft YaHei"/>
                <a:ea typeface="Microsoft YaHei"/>
              </a:rPr>
              <a:t>快速排序是就地排序，空间复杂度为O(log n)（递归栈深度），但稳定性差——基准移动会改变相等元素的相对位置。</a:t>
            </a:r>
          </a:p>
          <a:p>
            <a:pPr>
              <a:spcBef>
                <a:spcPts val="1000"/>
              </a:spcBef>
              <a:spcAft>
                <a:spcPts val="500"/>
              </a:spcAft>
            </a:pPr>
            <a:r>
              <a:rPr sz="1800" b="0">
                <a:solidFill>
                  <a:srgbClr val="3D2C2C"/>
                </a:solidFill>
                <a:latin typeface="Microsoft YaHei"/>
                <a:ea typeface="Microsoft YaHei"/>
              </a:rPr>
              <a:t>实际工程中常采用三数取中法或随机法选择基准，并当子数组规模较小时切换为插入排序以提升常数性能。</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24" name="TextBox 2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归并排序：稳定且高效</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2834639"/>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归并排序采用先分解再合并的策略：将数组递归分为两半，分别排序，然后合并两个有序子数组，最终得到完全有序的数组。</a:t>
            </a:r>
          </a:p>
          <a:p>
            <a:pPr>
              <a:spcBef>
                <a:spcPts val="1000"/>
              </a:spcBef>
              <a:spcAft>
                <a:spcPts val="500"/>
              </a:spcAft>
            </a:pPr>
            <a:r>
              <a:rPr sz="1800" b="0">
                <a:solidFill>
                  <a:srgbClr val="3D2C2C"/>
                </a:solidFill>
                <a:latin typeface="Microsoft YaHei"/>
                <a:ea typeface="Microsoft YaHei"/>
              </a:rPr>
              <a:t>时间复杂度在任何情况下均为O(n log n)，非常稳定，且是稳定排序——相等元素的相对顺序在合并时不会改变。</a:t>
            </a:r>
          </a:p>
          <a:p>
            <a:pPr>
              <a:spcBef>
                <a:spcPts val="1000"/>
              </a:spcBef>
              <a:spcAft>
                <a:spcPts val="500"/>
              </a:spcAft>
            </a:pPr>
            <a:r>
              <a:rPr sz="1800" b="0">
                <a:solidFill>
                  <a:srgbClr val="3D2C2C"/>
                </a:solidFill>
                <a:latin typeface="Microsoft YaHei"/>
                <a:ea typeface="Microsoft YaHei"/>
              </a:rPr>
              <a:t>归并排序的空间复杂度为O(n)，因为它需要额外的一个临时数组来合并结果，无法像快排那样原地完成。</a:t>
            </a:r>
          </a:p>
          <a:p>
            <a:pPr>
              <a:spcBef>
                <a:spcPts val="1000"/>
              </a:spcBef>
              <a:spcAft>
                <a:spcPts val="500"/>
              </a:spcAft>
            </a:pPr>
            <a:r>
              <a:rPr sz="1800" b="0">
                <a:solidFill>
                  <a:srgbClr val="3D2C2C"/>
                </a:solidFill>
                <a:latin typeface="Microsoft YaHei"/>
                <a:ea typeface="Microsoft YaHei"/>
              </a:rPr>
              <a:t>归并排序特别适合外部排序（如磁盘大数据排序），因为其顺序访问特性可以高效利用磁盘IO。</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24" name="TextBox 2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822960"/>
          </a:xfrm>
          <a:prstGeom prst="rect">
            <a:avLst/>
          </a:prstGeom>
          <a:noFill/>
        </p:spPr>
        <p:txBody>
          <a:bodyPr wrap="square">
            <a:spAutoFit/>
          </a:bodyPr>
          <a:lstStyle/>
          <a:p>
            <a:pPr algn="l"/>
            <a:r>
              <a:rPr sz="2800" b="1">
                <a:solidFill>
                  <a:srgbClr val="FFFFFF"/>
                </a:solidFill>
                <a:latin typeface="Microsoft YaHei"/>
                <a:ea typeface="Microsoft YaHei"/>
              </a:rPr>
              <a:t>堆排序：利用最大堆实现排序</a:t>
            </a:r>
          </a:p>
        </p:txBody>
      </p:sp>
      <p:sp>
        <p:nvSpPr>
          <p:cNvPr id="4" name="Rectangle 3"/>
          <p:cNvSpPr/>
          <p:nvPr/>
        </p:nvSpPr>
        <p:spPr>
          <a:xfrm>
            <a:off x="0" y="1371600"/>
            <a:ext cx="54864" cy="22860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691640"/>
            <a:ext cx="54864" cy="22860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011680"/>
            <a:ext cx="54864" cy="22860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331720"/>
            <a:ext cx="54864"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30000" y="1371600"/>
            <a:ext cx="137160" cy="137160"/>
          </a:xfrm>
          <a:prstGeom prst="ellipse">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0" y="1737360"/>
            <a:ext cx="137160" cy="137160"/>
          </a:xfrm>
          <a:prstGeom prst="ellipse">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430000" y="2103120"/>
            <a:ext cx="137160" cy="13716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88720" y="1508760"/>
            <a:ext cx="9966960" cy="2834639"/>
          </a:xfrm>
          <a:prstGeom prst="roundRect">
            <a:avLst/>
          </a:prstGeom>
          <a:solidFill>
            <a:srgbClr val="FFFFFF"/>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1828800"/>
            <a:ext cx="8961120" cy="3657600"/>
          </a:xfrm>
          <a:prstGeom prst="rect">
            <a:avLst/>
          </a:prstGeom>
          <a:noFill/>
        </p:spPr>
        <p:txBody>
          <a:bodyPr wrap="square">
            <a:spAutoFit/>
          </a:bodyPr>
          <a:lstStyle/>
          <a:p>
            <a:pPr>
              <a:spcBef>
                <a:spcPts val="1000"/>
              </a:spcBef>
              <a:spcAft>
                <a:spcPts val="500"/>
              </a:spcAft>
            </a:pPr>
            <a:r>
              <a:rPr sz="1800" b="0">
                <a:solidFill>
                  <a:srgbClr val="3D2C2C"/>
                </a:solidFill>
                <a:latin typeface="Microsoft YaHei"/>
                <a:ea typeface="Microsoft YaHei"/>
              </a:rPr>
              <a:t>堆排序利用最大堆（或最小堆）的性质：最大堆的堆顶总是当前数组中的最大值，通过不断取出堆顶并调整堆得到有序序列。</a:t>
            </a:r>
          </a:p>
          <a:p>
            <a:pPr>
              <a:spcBef>
                <a:spcPts val="1000"/>
              </a:spcBef>
              <a:spcAft>
                <a:spcPts val="500"/>
              </a:spcAft>
            </a:pPr>
            <a:r>
              <a:rPr sz="1800" b="0">
                <a:solidFill>
                  <a:srgbClr val="3D2C2C"/>
                </a:solidFill>
                <a:latin typeface="Microsoft YaHei"/>
                <a:ea typeface="Microsoft YaHei"/>
              </a:rPr>
              <a:t>建堆过程从最后一个非叶子节点开始下沉，时间复杂度为O(n)；每次取出堆顶并将最后一个元素放至堆顶后下沉，重复n次，总时间复杂度O(n log n)。</a:t>
            </a:r>
          </a:p>
          <a:p>
            <a:pPr>
              <a:spcBef>
                <a:spcPts val="1000"/>
              </a:spcBef>
              <a:spcAft>
                <a:spcPts val="500"/>
              </a:spcAft>
            </a:pPr>
            <a:r>
              <a:rPr sz="1800" b="0">
                <a:solidFill>
                  <a:srgbClr val="3D2C2C"/>
                </a:solidFill>
                <a:latin typeface="Microsoft YaHei"/>
                <a:ea typeface="Microsoft YaHei"/>
              </a:rPr>
              <a:t>堆排序是就地排序（空间复杂度O(1)），且是不稳定排序——堆调整过程中可能移动相等元素的顺序。</a:t>
            </a:r>
          </a:p>
          <a:p>
            <a:pPr>
              <a:spcBef>
                <a:spcPts val="1000"/>
              </a:spcBef>
              <a:spcAft>
                <a:spcPts val="500"/>
              </a:spcAft>
            </a:pPr>
            <a:r>
              <a:rPr sz="1800" b="0">
                <a:solidFill>
                  <a:srgbClr val="3D2C2C"/>
                </a:solidFill>
                <a:latin typeface="Microsoft YaHei"/>
                <a:ea typeface="Microsoft YaHei"/>
              </a:rPr>
              <a:t>堆排序的时间复杂度在最好、最坏、平均情况下都是O(n log n)，但常数因子比快排大，实际速度通常慢于快排。</a:t>
            </a:r>
          </a:p>
        </p:txBody>
      </p:sp>
      <p:sp>
        <p:nvSpPr>
          <p:cNvPr id="13" name="Oval 12"/>
          <p:cNvSpPr/>
          <p:nvPr/>
        </p:nvSpPr>
        <p:spPr>
          <a:xfrm>
            <a:off x="1371600" y="182880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17320" y="1874519"/>
            <a:ext cx="320040" cy="320040"/>
          </a:xfrm>
          <a:prstGeom prst="rect">
            <a:avLst/>
          </a:prstGeom>
          <a:noFill/>
        </p:spPr>
        <p:txBody>
          <a:bodyPr wrap="none">
            <a:spAutoFit/>
          </a:bodyPr>
          <a:lstStyle/>
          <a:p>
            <a:pPr algn="ctr"/>
            <a:r>
              <a:rPr sz="1800" b="1">
                <a:solidFill>
                  <a:srgbClr val="FFFFFF"/>
                </a:solidFill>
              </a:rPr>
              <a:t>1</a:t>
            </a:r>
          </a:p>
        </p:txBody>
      </p:sp>
      <p:sp>
        <p:nvSpPr>
          <p:cNvPr id="15" name="Oval 14"/>
          <p:cNvSpPr/>
          <p:nvPr/>
        </p:nvSpPr>
        <p:spPr>
          <a:xfrm>
            <a:off x="1371600" y="242316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468879"/>
            <a:ext cx="320040" cy="320040"/>
          </a:xfrm>
          <a:prstGeom prst="rect">
            <a:avLst/>
          </a:prstGeom>
          <a:noFill/>
        </p:spPr>
        <p:txBody>
          <a:bodyPr wrap="none">
            <a:spAutoFit/>
          </a:bodyPr>
          <a:lstStyle/>
          <a:p>
            <a:pPr algn="ctr"/>
            <a:r>
              <a:rPr sz="1800" b="1">
                <a:solidFill>
                  <a:srgbClr val="FFFFFF"/>
                </a:solidFill>
              </a:rPr>
              <a:t>2</a:t>
            </a:r>
          </a:p>
        </p:txBody>
      </p:sp>
      <p:sp>
        <p:nvSpPr>
          <p:cNvPr id="17" name="Oval 16"/>
          <p:cNvSpPr/>
          <p:nvPr/>
        </p:nvSpPr>
        <p:spPr>
          <a:xfrm>
            <a:off x="1371600" y="301752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7320" y="3063239"/>
            <a:ext cx="320040" cy="320040"/>
          </a:xfrm>
          <a:prstGeom prst="rect">
            <a:avLst/>
          </a:prstGeom>
          <a:noFill/>
        </p:spPr>
        <p:txBody>
          <a:bodyPr wrap="none">
            <a:spAutoFit/>
          </a:bodyPr>
          <a:lstStyle/>
          <a:p>
            <a:pPr algn="ctr"/>
            <a:r>
              <a:rPr sz="1800" b="1">
                <a:solidFill>
                  <a:srgbClr val="FFFFFF"/>
                </a:solidFill>
              </a:rPr>
              <a:t>3</a:t>
            </a:r>
          </a:p>
        </p:txBody>
      </p:sp>
      <p:sp>
        <p:nvSpPr>
          <p:cNvPr id="19" name="Oval 18"/>
          <p:cNvSpPr/>
          <p:nvPr/>
        </p:nvSpPr>
        <p:spPr>
          <a:xfrm>
            <a:off x="1371600" y="3611880"/>
            <a:ext cx="411480" cy="41148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17320" y="3657600"/>
            <a:ext cx="320040" cy="320040"/>
          </a:xfrm>
          <a:prstGeom prst="rect">
            <a:avLst/>
          </a:prstGeom>
          <a:noFill/>
        </p:spPr>
        <p:txBody>
          <a:bodyPr wrap="none">
            <a:spAutoFit/>
          </a:bodyPr>
          <a:lstStyle/>
          <a:p>
            <a:pPr algn="ctr"/>
            <a:r>
              <a:rPr sz="1800" b="1">
                <a:solidFill>
                  <a:srgbClr val="FFFFFF"/>
                </a:solidFill>
              </a:rPr>
              <a:t>4</a:t>
            </a:r>
          </a:p>
        </p:txBody>
      </p:sp>
      <p:sp>
        <p:nvSpPr>
          <p:cNvPr id="21" name="Oval 20"/>
          <p:cNvSpPr/>
          <p:nvPr/>
        </p:nvSpPr>
        <p:spPr>
          <a:xfrm>
            <a:off x="10515600" y="5669280"/>
            <a:ext cx="731520" cy="73152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61904" y="5815584"/>
            <a:ext cx="438912" cy="438912"/>
          </a:xfrm>
          <a:prstGeom prst="rect">
            <a:avLst/>
          </a:prstGeom>
          <a:noFill/>
        </p:spPr>
        <p:txBody>
          <a:bodyPr wrap="square">
            <a:spAutoFit/>
          </a:bodyPr>
          <a:lstStyle/>
          <a:p>
            <a:pPr algn="ctr"/>
            <a:r>
              <a:rPr sz="3200" b="1">
                <a:solidFill>
                  <a:srgbClr val="FFFFFF"/>
                </a:solidFill>
              </a:rPr>
              <a:t>💡</a:t>
            </a:r>
          </a:p>
        </p:txBody>
      </p:sp>
      <p:sp>
        <p:nvSpPr>
          <p:cNvPr id="23" name="TextBox 2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24" name="TextBox 2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快速排序 vs 归并排序</a:t>
            </a:r>
          </a:p>
        </p:txBody>
      </p:sp>
      <p:sp>
        <p:nvSpPr>
          <p:cNvPr id="4" name="Rounded Rectangle 3"/>
          <p:cNvSpPr/>
          <p:nvPr/>
        </p:nvSpPr>
        <p:spPr>
          <a:xfrm>
            <a:off x="365760" y="1188720"/>
            <a:ext cx="5486400" cy="4754880"/>
          </a:xfrm>
          <a:prstGeom prst="roundRect">
            <a:avLst/>
          </a:prstGeom>
          <a:solidFill>
            <a:srgbClr val="FFF5EB"/>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09360" y="1188720"/>
            <a:ext cx="5486400" cy="4754880"/>
          </a:xfrm>
          <a:prstGeom prst="roundRect">
            <a:avLst/>
          </a:prstGeom>
          <a:solidFill>
            <a:srgbClr val="E8F9F3"/>
          </a:solidFill>
          <a:ln w="12700">
            <a:solidFill>
              <a:srgbClr val="7EF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5486400" cy="5486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快速排序</a:t>
            </a:r>
          </a:p>
        </p:txBody>
      </p:sp>
      <p:sp>
        <p:nvSpPr>
          <p:cNvPr id="8" name="Rectangle 7"/>
          <p:cNvSpPr/>
          <p:nvPr/>
        </p:nvSpPr>
        <p:spPr>
          <a:xfrm>
            <a:off x="6309360" y="1188720"/>
            <a:ext cx="5486400" cy="548640"/>
          </a:xfrm>
          <a:prstGeom prst="rect">
            <a:avLst/>
          </a:prstGeom>
          <a:solidFill>
            <a:srgbClr val="4ECD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234440"/>
            <a:ext cx="5120640" cy="457200"/>
          </a:xfrm>
          <a:prstGeom prst="rect">
            <a:avLst/>
          </a:prstGeom>
          <a:noFill/>
        </p:spPr>
        <p:txBody>
          <a:bodyPr wrap="none">
            <a:spAutoFit/>
          </a:bodyPr>
          <a:lstStyle/>
          <a:p>
            <a:pPr algn="l"/>
            <a:r>
              <a:rPr sz="1800" b="1">
                <a:solidFill>
                  <a:srgbClr val="FFFFFF"/>
                </a:solidFill>
                <a:latin typeface="Microsoft YaHei"/>
                <a:ea typeface="Microsoft YaHei"/>
              </a:rPr>
              <a:t>归并排序</a:t>
            </a:r>
          </a:p>
        </p:txBody>
      </p:sp>
      <p:sp>
        <p:nvSpPr>
          <p:cNvPr id="10" name="TextBox 9"/>
          <p:cNvSpPr txBox="1"/>
          <p:nvPr/>
        </p:nvSpPr>
        <p:spPr>
          <a:xfrm>
            <a:off x="640080" y="1920240"/>
            <a:ext cx="4937760" cy="3657600"/>
          </a:xfrm>
          <a:prstGeom prst="rect">
            <a:avLst/>
          </a:prstGeom>
          <a:noFill/>
        </p:spPr>
        <p:txBody>
          <a:bodyPr wrap="square">
            <a:spAutoFit/>
          </a:bodyPr>
          <a:lstStyle/>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平均O(n log n)，最坏O(n²)（可优化至接近O(n log n)）</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原地排序，空间O(log n)（递归栈）</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不稳定排序</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常数因子小，实际速度最快</a:t>
            </a:r>
          </a:p>
          <a:p>
            <a:pPr>
              <a:spcBef>
                <a:spcPts val="800"/>
              </a:spcBef>
              <a:spcAft>
                <a:spcPts val="400"/>
              </a:spcAft>
            </a:pPr>
            <a:r>
              <a:rPr sz="1200" b="0">
                <a:solidFill>
                  <a:srgbClr val="FF8C42"/>
                </a:solidFill>
                <a:latin typeface="Microsoft YaHei"/>
                <a:ea typeface="Microsoft YaHei"/>
              </a:rPr>
              <a:t>● </a:t>
            </a:r>
            <a:r>
              <a:rPr sz="1600" b="0">
                <a:solidFill>
                  <a:srgbClr val="3D2C2C"/>
                </a:solidFill>
                <a:latin typeface="Microsoft YaHei"/>
                <a:ea typeface="Microsoft YaHei"/>
              </a:rPr>
              <a:t>适合内存排序</a:t>
            </a:r>
          </a:p>
        </p:txBody>
      </p:sp>
      <p:sp>
        <p:nvSpPr>
          <p:cNvPr id="11" name="TextBox 10"/>
          <p:cNvSpPr txBox="1"/>
          <p:nvPr/>
        </p:nvSpPr>
        <p:spPr>
          <a:xfrm>
            <a:off x="6492240" y="1920240"/>
            <a:ext cx="4937760" cy="3657600"/>
          </a:xfrm>
          <a:prstGeom prst="rect">
            <a:avLst/>
          </a:prstGeom>
          <a:noFill/>
        </p:spPr>
        <p:txBody>
          <a:bodyPr wrap="square">
            <a:spAutoFit/>
          </a:bodyPr>
          <a:lstStyle/>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一律O(n log n)，无最坏退化</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需要额外O(n)辅助空间</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稳定排序</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常数因子较大，但稳定</a:t>
            </a:r>
          </a:p>
          <a:p>
            <a:pPr>
              <a:spcBef>
                <a:spcPts val="800"/>
              </a:spcBef>
              <a:spcAft>
                <a:spcPts val="400"/>
              </a:spcAft>
            </a:pPr>
            <a:r>
              <a:rPr sz="1200" b="0">
                <a:solidFill>
                  <a:srgbClr val="4ECDC4"/>
                </a:solidFill>
                <a:latin typeface="Microsoft YaHei"/>
                <a:ea typeface="Microsoft YaHei"/>
              </a:rPr>
              <a:t>● </a:t>
            </a:r>
            <a:r>
              <a:rPr sz="1600" b="0">
                <a:solidFill>
                  <a:srgbClr val="3D2C2C"/>
                </a:solidFill>
                <a:latin typeface="Microsoft YaHei"/>
                <a:ea typeface="Microsoft YaHei"/>
              </a:rPr>
              <a:t>适合外部排序和大数据</a:t>
            </a:r>
          </a:p>
        </p:txBody>
      </p:sp>
      <p:sp>
        <p:nvSpPr>
          <p:cNvPr id="12" name="Rectangle 11"/>
          <p:cNvSpPr/>
          <p:nvPr/>
        </p:nvSpPr>
        <p:spPr>
          <a:xfrm>
            <a:off x="6080760" y="1188720"/>
            <a:ext cx="73152" cy="4754880"/>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14" name="TextBox 13"/>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F0"/>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9601200" cy="731520"/>
          </a:xfrm>
          <a:prstGeom prst="rect">
            <a:avLst/>
          </a:prstGeom>
          <a:noFill/>
        </p:spPr>
        <p:txBody>
          <a:bodyPr wrap="none">
            <a:spAutoFit/>
          </a:bodyPr>
          <a:lstStyle/>
          <a:p>
            <a:pPr algn="l"/>
            <a:r>
              <a:rPr sz="2600" b="1">
                <a:solidFill>
                  <a:srgbClr val="FFFFFF"/>
                </a:solidFill>
                <a:latin typeface="Microsoft YaHei"/>
                <a:ea typeface="Microsoft YaHei"/>
              </a:rPr>
              <a:t>四种高效排序算法性能对比（n=1000）</a:t>
            </a:r>
          </a:p>
        </p:txBody>
      </p:sp>
      <p:graphicFrame>
        <p:nvGraphicFramePr>
          <p:cNvPr id="4" name="Chart 3"/>
          <p:cNvGraphicFramePr>
            <a:graphicFrameLocks noGrp="1"/>
          </p:cNvGraphicFramePr>
          <p:nvPr/>
        </p:nvGraphicFramePr>
        <p:xfrm>
          <a:off x="365760" y="1188720"/>
          <a:ext cx="5943600" cy="4754880"/>
        </p:xfrm>
        <a:graphic>
          <a:graphicData uri="http://schemas.openxmlformats.org/drawingml/2006/chart">
            <c:chart xmlns:c="http://schemas.openxmlformats.org/drawingml/2006/chart" r:id="rId2"/>
          </a:graphicData>
        </a:graphic>
      </p:graphicFrame>
      <p:sp>
        <p:nvSpPr>
          <p:cNvPr id="5" name="Rounded Rectangle 4"/>
          <p:cNvSpPr/>
          <p:nvPr/>
        </p:nvSpPr>
        <p:spPr>
          <a:xfrm>
            <a:off x="6583680" y="1188720"/>
            <a:ext cx="5303520" cy="4754880"/>
          </a:xfrm>
          <a:prstGeom prst="roundRect">
            <a:avLst/>
          </a:prstGeom>
          <a:solidFill>
            <a:srgbClr val="FFFFFF"/>
          </a:solidFill>
          <a:ln w="12700">
            <a:solidFill>
              <a:srgbClr val="FFBF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0" y="1463040"/>
            <a:ext cx="4572000" cy="4114800"/>
          </a:xfrm>
          <a:prstGeom prst="rect">
            <a:avLst/>
          </a:prstGeom>
          <a:noFill/>
        </p:spPr>
        <p:txBody>
          <a:bodyPr wrap="square">
            <a:spAutoFit/>
          </a:bodyPr>
          <a:lstStyle/>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希尔排序在n=1000时比较次数约15000次，依赖增量序列，性能波动较大。</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快速排序和归并排序的比较次数都在10000左右（约n log n），但快排常数更小，实际时间更短。</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堆排序比较次数约12000次，略高于快排和归并，且由于缓存不友好，实际运行时间可能更长。</a:t>
            </a:r>
          </a:p>
          <a:p>
            <a:pPr>
              <a:spcBef>
                <a:spcPts val="1000"/>
              </a:spcBef>
              <a:spcAft>
                <a:spcPts val="500"/>
              </a:spcAft>
            </a:pPr>
            <a:r>
              <a:rPr sz="1400" b="0">
                <a:solidFill>
                  <a:srgbClr val="4ECDC4"/>
                </a:solidFill>
                <a:latin typeface="Microsoft YaHei"/>
                <a:ea typeface="Microsoft YaHei"/>
              </a:rPr>
              <a:t>→ </a:t>
            </a:r>
            <a:r>
              <a:rPr sz="1700" b="0">
                <a:solidFill>
                  <a:srgbClr val="3D2C2C"/>
                </a:solidFill>
                <a:latin typeface="Microsoft YaHei"/>
                <a:ea typeface="Microsoft YaHei"/>
              </a:rPr>
              <a:t>选择排序算法时，除时间复杂度外还需考虑稳定性、空间开销和数据特征。</a:t>
            </a:r>
          </a:p>
        </p:txBody>
      </p:sp>
      <p:sp>
        <p:nvSpPr>
          <p:cNvPr id="7" name="TextBox 6"/>
          <p:cNvSpPr txBox="1"/>
          <p:nvPr/>
        </p:nvSpPr>
        <p:spPr>
          <a:xfrm>
            <a:off x="6766560" y="1234440"/>
            <a:ext cx="4937760" cy="457200"/>
          </a:xfrm>
          <a:prstGeom prst="rect">
            <a:avLst/>
          </a:prstGeom>
          <a:noFill/>
        </p:spPr>
        <p:txBody>
          <a:bodyPr wrap="none">
            <a:spAutoFit/>
          </a:bodyPr>
          <a:lstStyle/>
          <a:p>
            <a:pPr algn="l"/>
            <a:r>
              <a:rPr sz="1800" b="1">
                <a:solidFill>
                  <a:srgbClr val="FF8C42"/>
                </a:solidFill>
                <a:latin typeface="Microsoft YaHei"/>
                <a:ea typeface="Microsoft YaHei"/>
              </a:rPr>
              <a:t>📊 数据分析</a:t>
            </a:r>
          </a:p>
        </p:txBody>
      </p:sp>
      <p:sp>
        <p:nvSpPr>
          <p:cNvPr id="8" name="TextBox 7"/>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9" name="TextBox 8"/>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sp>
        <p:nvSpPr>
          <p:cNvPr id="43" name="Rectangle 42"/>
          <p:cNvSpPr/>
          <p:nvPr/>
        </p:nvSpPr>
        <p:spPr>
          <a:xfrm>
            <a:off x="0" y="0"/>
            <a:ext cx="12191695" cy="6858000"/>
          </a:xfrm>
          <a:prstGeom prst="rect">
            <a:avLst/>
          </a:prstGeom>
          <a:solidFill>
            <a:srgbClr val="FF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0"/>
            <a:ext cx="12191695" cy="1828800"/>
          </a:xfrm>
          <a:prstGeom prst="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Pr/>
      <p:sp>
        <p:nvSpPr>
          <p:cNvPr id="2" name="Rectangle 1"/>
          <p:cNvSpPr/>
          <p:nvPr/>
        </p:nvSpPr>
        <p:spPr>
          <a:xfrm>
            <a:off x="0" y="0"/>
            <a:ext cx="12191695" cy="180594"/>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56773880000"/>
            <a:ext cx="12191695" cy="180594"/>
          </a:xfrm>
          <a:prstGeom prst="rect">
            <a:avLst/>
          </a:prstGeom>
          <a:solidFill>
            <a:srgbClr val="FF8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3547760000"/>
            <a:ext cx="12191695" cy="180594"/>
          </a:xfrm>
          <a:prstGeom prst="rect">
            <a:avLst/>
          </a:prstGeom>
          <a:solidFill>
            <a:srgbClr val="FF9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70321640000"/>
            <a:ext cx="12191695" cy="180594"/>
          </a:xfrm>
          <a:prstGeom prst="rect">
            <a:avLst/>
          </a:prstGeom>
          <a:solidFill>
            <a:srgbClr val="FF92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27095520000"/>
            <a:ext cx="12191695" cy="180594"/>
          </a:xfrm>
          <a:prstGeom prst="rect">
            <a:avLst/>
          </a:prstGeom>
          <a:solidFill>
            <a:srgbClr val="FF95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783869400000"/>
            <a:ext cx="12191695" cy="180594"/>
          </a:xfrm>
          <a:prstGeom prst="rect">
            <a:avLst/>
          </a:prstGeom>
          <a:solidFill>
            <a:srgbClr val="FF97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940643280000"/>
            <a:ext cx="12191695" cy="180594"/>
          </a:xfrm>
          <a:prstGeom prst="rect">
            <a:avLst/>
          </a:prstGeom>
          <a:solidFill>
            <a:srgbClr val="FF9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097417160000"/>
            <a:ext cx="12191695" cy="180594"/>
          </a:xfrm>
          <a:prstGeom prst="rect">
            <a:avLst/>
          </a:prstGeom>
          <a:solidFill>
            <a:srgbClr val="FF9C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254191040000"/>
            <a:ext cx="12191695" cy="180594"/>
          </a:xfrm>
          <a:prstGeom prst="rect">
            <a:avLst/>
          </a:prstGeom>
          <a:solidFill>
            <a:srgbClr val="FF9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1410964920000"/>
            <a:ext cx="12191695" cy="180594"/>
          </a:xfrm>
          <a:prstGeom prst="rect">
            <a:avLst/>
          </a:prstGeom>
          <a:solidFill>
            <a:srgbClr val="FFA0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1567738800000"/>
            <a:ext cx="12191695" cy="180594"/>
          </a:xfrm>
          <a:prstGeom prst="rect">
            <a:avLst/>
          </a:prstGeom>
          <a:solidFill>
            <a:srgbClr val="FFA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1724512680000"/>
            <a:ext cx="12191695" cy="180594"/>
          </a:xfrm>
          <a:prstGeom prst="rect">
            <a:avLst/>
          </a:prstGeom>
          <a:solidFill>
            <a:srgbClr val="FFA5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1881286560000"/>
            <a:ext cx="12191695" cy="180594"/>
          </a:xfrm>
          <a:prstGeom prst="rect">
            <a:avLst/>
          </a:prstGeom>
          <a:solidFill>
            <a:srgbClr val="FF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2038060440000"/>
            <a:ext cx="12191695" cy="180594"/>
          </a:xfrm>
          <a:prstGeom prst="rect">
            <a:avLst/>
          </a:prstGeom>
          <a:solidFill>
            <a:srgbClr val="FFA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2194834320000"/>
            <a:ext cx="12191695" cy="180594"/>
          </a:xfrm>
          <a:prstGeom prst="rect">
            <a:avLst/>
          </a:prstGeom>
          <a:solidFill>
            <a:srgbClr val="FFAC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2351608200000"/>
            <a:ext cx="12191695" cy="180594"/>
          </a:xfrm>
          <a:prstGeom prst="rect">
            <a:avLst/>
          </a:prstGeom>
          <a:solidFill>
            <a:srgbClr val="FFAE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2508382080000"/>
            <a:ext cx="12191695" cy="180594"/>
          </a:xfrm>
          <a:prstGeom prst="rect">
            <a:avLst/>
          </a:prstGeom>
          <a:solidFill>
            <a:srgbClr val="FFB0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2665155960000"/>
            <a:ext cx="12191695" cy="180594"/>
          </a:xfrm>
          <a:prstGeom prst="rect">
            <a:avLst/>
          </a:prstGeom>
          <a:solidFill>
            <a:srgbClr val="FFB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821929840000"/>
            <a:ext cx="12191695" cy="180594"/>
          </a:xfrm>
          <a:prstGeom prst="rect">
            <a:avLst/>
          </a:prstGeom>
          <a:solidFill>
            <a:srgbClr val="FFB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2978703720000"/>
            <a:ext cx="12191695" cy="180594"/>
          </a:xfrm>
          <a:prstGeom prst="rect">
            <a:avLst/>
          </a:prstGeom>
          <a:solidFill>
            <a:srgbClr val="FFB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3135477600000"/>
            <a:ext cx="12191695" cy="180594"/>
          </a:xfrm>
          <a:prstGeom prst="rect">
            <a:avLst/>
          </a:prstGeom>
          <a:solidFill>
            <a:srgbClr val="FFB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3292251480000"/>
            <a:ext cx="12191695" cy="180594"/>
          </a:xfrm>
          <a:prstGeom prst="rect">
            <a:avLst/>
          </a:prstGeom>
          <a:solidFill>
            <a:srgbClr val="FFB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3449025360000"/>
            <a:ext cx="12191695" cy="180594"/>
          </a:xfrm>
          <a:prstGeom prst="rect">
            <a:avLst/>
          </a:prstGeom>
          <a:solidFill>
            <a:srgbClr val="FFB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3605799240000"/>
            <a:ext cx="12191695" cy="180594"/>
          </a:xfrm>
          <a:prstGeom prst="rect">
            <a:avLst/>
          </a:prstGeom>
          <a:solidFill>
            <a:srgbClr val="FFC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762573120000"/>
            <a:ext cx="12191695" cy="180594"/>
          </a:xfrm>
          <a:prstGeom prst="rect">
            <a:avLst/>
          </a:prstGeom>
          <a:solidFill>
            <a:srgbClr val="FFC3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919347000000"/>
            <a:ext cx="12191695" cy="180594"/>
          </a:xfrm>
          <a:prstGeom prst="rect">
            <a:avLst/>
          </a:prstGeom>
          <a:solidFill>
            <a:srgbClr val="FFC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076120880000"/>
            <a:ext cx="12191695" cy="180594"/>
          </a:xfrm>
          <a:prstGeom prst="rect">
            <a:avLst/>
          </a:prstGeom>
          <a:solidFill>
            <a:srgbClr val="FFC8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232894760000"/>
            <a:ext cx="12191695" cy="180594"/>
          </a:xfrm>
          <a:prstGeom prst="rect">
            <a:avLst/>
          </a:prstGeom>
          <a:solidFill>
            <a:srgbClr val="FFC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4389668640000"/>
            <a:ext cx="12191695" cy="180594"/>
          </a:xfrm>
          <a:prstGeom prst="rect">
            <a:avLst/>
          </a:prstGeom>
          <a:solidFill>
            <a:srgbClr val="FFCC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4546442520000"/>
            <a:ext cx="12191695" cy="180594"/>
          </a:xfrm>
          <a:prstGeom prst="rect">
            <a:avLst/>
          </a:prstGeom>
          <a:solidFill>
            <a:srgbClr val="FFCE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4703216400000"/>
            <a:ext cx="12191695" cy="180594"/>
          </a:xfrm>
          <a:prstGeom prst="rect">
            <a:avLst/>
          </a:prstGeom>
          <a:solidFill>
            <a:srgbClr val="FFD1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4859990280000"/>
            <a:ext cx="12191695" cy="180594"/>
          </a:xfrm>
          <a:prstGeom prst="rect">
            <a:avLst/>
          </a:prstGeom>
          <a:solidFill>
            <a:srgbClr val="FFD3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016764160000"/>
            <a:ext cx="12191695" cy="180594"/>
          </a:xfrm>
          <a:prstGeom prst="rect">
            <a:avLst/>
          </a:prstGeom>
          <a:solidFill>
            <a:srgbClr val="FFD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5173538040000"/>
            <a:ext cx="12191695" cy="180594"/>
          </a:xfrm>
          <a:prstGeom prst="rect">
            <a:avLst/>
          </a:prstGeom>
          <a:solidFill>
            <a:srgbClr val="FFD8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5330311920000"/>
            <a:ext cx="12191695" cy="180594"/>
          </a:xfrm>
          <a:prstGeom prst="rect">
            <a:avLst/>
          </a:prstGeom>
          <a:solidFill>
            <a:srgbClr val="FFDA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5487085800000"/>
            <a:ext cx="12191695" cy="180594"/>
          </a:xfrm>
          <a:prstGeom prst="rect">
            <a:avLst/>
          </a:prstGeom>
          <a:solidFill>
            <a:srgbClr val="FFDC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5643859680000"/>
            <a:ext cx="12191695" cy="180594"/>
          </a:xfrm>
          <a:prstGeom prst="rect">
            <a:avLst/>
          </a:prstGeom>
          <a:solidFill>
            <a:srgbClr val="FFD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5800633560000"/>
            <a:ext cx="12191695" cy="180594"/>
          </a:xfrm>
          <a:prstGeom prst="rect">
            <a:avLst/>
          </a:prstGeom>
          <a:solidFill>
            <a:srgbClr val="FFE1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5957407440000"/>
            <a:ext cx="12191695" cy="180594"/>
          </a:xfrm>
          <a:prstGeom prst="rect">
            <a:avLst/>
          </a:prstGeom>
          <a:solidFill>
            <a:srgbClr val="FFE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6114181320000"/>
            <a:ext cx="12191695" cy="180594"/>
          </a:xfrm>
          <a:prstGeom prst="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2286000" y="365760"/>
            <a:ext cx="7589520" cy="914400"/>
          </a:xfrm>
          <a:prstGeom prst="round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86000" y="411480"/>
            <a:ext cx="7589520" cy="822960"/>
          </a:xfrm>
          <a:prstGeom prst="rect">
            <a:avLst/>
          </a:prstGeom>
          <a:noFill/>
        </p:spPr>
        <p:txBody>
          <a:bodyPr wrap="none">
            <a:spAutoFit/>
          </a:bodyPr>
          <a:lstStyle/>
          <a:p>
            <a:pPr algn="ctr"/>
            <a:r>
              <a:rPr sz="3000" b="1">
                <a:solidFill>
                  <a:srgbClr val="FFFFFF"/>
                </a:solidFill>
                <a:latin typeface="Microsoft YaHei"/>
                <a:ea typeface="Microsoft YaHei"/>
              </a:rPr>
              <a:t>本章总结与思考</a:t>
            </a:r>
          </a:p>
        </p:txBody>
      </p:sp>
      <p:sp>
        <p:nvSpPr>
          <p:cNvPr id="46" name="Rounded Rectangle 45"/>
          <p:cNvSpPr/>
          <p:nvPr/>
        </p:nvSpPr>
        <p:spPr>
          <a:xfrm>
            <a:off x="1828800" y="146304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97280" y="150876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07007" y="1618488"/>
            <a:ext cx="329184" cy="329184"/>
          </a:xfrm>
          <a:prstGeom prst="rect">
            <a:avLst/>
          </a:prstGeom>
          <a:noFill/>
        </p:spPr>
        <p:txBody>
          <a:bodyPr wrap="square">
            <a:spAutoFit/>
          </a:bodyPr>
          <a:lstStyle/>
          <a:p>
            <a:pPr algn="ctr"/>
            <a:r>
              <a:rPr sz="2400" b="1">
                <a:solidFill>
                  <a:srgbClr val="FFFFFF"/>
                </a:solidFill>
              </a:rPr>
              <a:t>💡</a:t>
            </a:r>
          </a:p>
        </p:txBody>
      </p:sp>
      <p:sp>
        <p:nvSpPr>
          <p:cNvPr id="49" name="TextBox 48"/>
          <p:cNvSpPr txBox="1"/>
          <p:nvPr/>
        </p:nvSpPr>
        <p:spPr>
          <a:xfrm>
            <a:off x="2103120" y="1554480"/>
            <a:ext cx="8046720" cy="640080"/>
          </a:xfrm>
          <a:prstGeom prst="rect">
            <a:avLst/>
          </a:prstGeom>
          <a:noFill/>
        </p:spPr>
        <p:txBody>
          <a:bodyPr wrap="square">
            <a:spAutoFit/>
          </a:bodyPr>
          <a:lstStyle/>
          <a:p>
            <a:pPr algn="l"/>
            <a:r>
              <a:rPr sz="1800" b="0">
                <a:solidFill>
                  <a:srgbClr val="3D2C2C"/>
                </a:solidFill>
                <a:latin typeface="Microsoft YaHei"/>
                <a:ea typeface="Microsoft YaHei"/>
              </a:rPr>
              <a:t>高效排序算法的核心思想是基于分治或堆结构，将时间复杂度从O(n²)提升到O(n log n)。</a:t>
            </a:r>
          </a:p>
        </p:txBody>
      </p:sp>
      <p:sp>
        <p:nvSpPr>
          <p:cNvPr id="50" name="Rounded Rectangle 49"/>
          <p:cNvSpPr/>
          <p:nvPr/>
        </p:nvSpPr>
        <p:spPr>
          <a:xfrm>
            <a:off x="1828800" y="2423160"/>
            <a:ext cx="8503920" cy="822960"/>
          </a:xfrm>
          <a:prstGeom prst="roundRect">
            <a:avLst/>
          </a:prstGeom>
          <a:solidFill>
            <a:srgbClr val="7EF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97280" y="246888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7007" y="2578608"/>
            <a:ext cx="329184" cy="329184"/>
          </a:xfrm>
          <a:prstGeom prst="rect">
            <a:avLst/>
          </a:prstGeom>
          <a:noFill/>
        </p:spPr>
        <p:txBody>
          <a:bodyPr wrap="square">
            <a:spAutoFit/>
          </a:bodyPr>
          <a:lstStyle/>
          <a:p>
            <a:pPr algn="ctr"/>
            <a:r>
              <a:rPr sz="2400" b="1">
                <a:solidFill>
                  <a:srgbClr val="FFFFFF"/>
                </a:solidFill>
              </a:rPr>
              <a:t>✓</a:t>
            </a:r>
          </a:p>
        </p:txBody>
      </p:sp>
      <p:sp>
        <p:nvSpPr>
          <p:cNvPr id="53" name="TextBox 52"/>
          <p:cNvSpPr txBox="1"/>
          <p:nvPr/>
        </p:nvSpPr>
        <p:spPr>
          <a:xfrm>
            <a:off x="2103120" y="2514600"/>
            <a:ext cx="8046720" cy="640080"/>
          </a:xfrm>
          <a:prstGeom prst="rect">
            <a:avLst/>
          </a:prstGeom>
          <a:noFill/>
        </p:spPr>
        <p:txBody>
          <a:bodyPr wrap="square">
            <a:spAutoFit/>
          </a:bodyPr>
          <a:lstStyle/>
          <a:p>
            <a:pPr algn="l"/>
            <a:r>
              <a:rPr sz="1800" b="0">
                <a:solidFill>
                  <a:srgbClr val="3D2C2C"/>
                </a:solidFill>
                <a:latin typeface="Microsoft YaHei"/>
                <a:ea typeface="Microsoft YaHei"/>
              </a:rPr>
              <a:t>快速排序平均最快但最坏情况可能退化；归并排序稳定且无退化但需额外空间；堆排序最坏情况也有保障但常数大；希尔排序实现简单适合中小规模。</a:t>
            </a:r>
          </a:p>
        </p:txBody>
      </p:sp>
      <p:sp>
        <p:nvSpPr>
          <p:cNvPr id="54" name="Rounded Rectangle 53"/>
          <p:cNvSpPr/>
          <p:nvPr/>
        </p:nvSpPr>
        <p:spPr>
          <a:xfrm>
            <a:off x="1828800" y="3383280"/>
            <a:ext cx="8503920" cy="822960"/>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97280" y="342900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07007" y="3538728"/>
            <a:ext cx="329184" cy="329184"/>
          </a:xfrm>
          <a:prstGeom prst="rect">
            <a:avLst/>
          </a:prstGeom>
          <a:noFill/>
        </p:spPr>
        <p:txBody>
          <a:bodyPr wrap="square">
            <a:spAutoFit/>
          </a:bodyPr>
          <a:lstStyle/>
          <a:p>
            <a:pPr algn="ctr"/>
            <a:r>
              <a:rPr sz="2400" b="1">
                <a:solidFill>
                  <a:srgbClr val="FFFFFF"/>
                </a:solidFill>
              </a:rPr>
              <a:t>★</a:t>
            </a:r>
          </a:p>
        </p:txBody>
      </p:sp>
      <p:sp>
        <p:nvSpPr>
          <p:cNvPr id="57" name="TextBox 56"/>
          <p:cNvSpPr txBox="1"/>
          <p:nvPr/>
        </p:nvSpPr>
        <p:spPr>
          <a:xfrm>
            <a:off x="2103120" y="3474720"/>
            <a:ext cx="8046720" cy="640080"/>
          </a:xfrm>
          <a:prstGeom prst="rect">
            <a:avLst/>
          </a:prstGeom>
          <a:noFill/>
        </p:spPr>
        <p:txBody>
          <a:bodyPr wrap="square">
            <a:spAutoFit/>
          </a:bodyPr>
          <a:lstStyle/>
          <a:p>
            <a:pPr algn="l"/>
            <a:r>
              <a:rPr sz="1800" b="0">
                <a:solidFill>
                  <a:srgbClr val="3D2C2C"/>
                </a:solidFill>
                <a:latin typeface="Microsoft YaHei"/>
                <a:ea typeface="Microsoft YaHei"/>
              </a:rPr>
              <a:t>实际工程中应根据数据规模、稳定性需求、内存限制等综合选型，例如Java的Arrays.sort()对基本类型用快排，对对象用归并。</a:t>
            </a:r>
          </a:p>
        </p:txBody>
      </p:sp>
      <p:sp>
        <p:nvSpPr>
          <p:cNvPr id="58" name="Rounded Rectangle 57"/>
          <p:cNvSpPr/>
          <p:nvPr/>
        </p:nvSpPr>
        <p:spPr>
          <a:xfrm>
            <a:off x="1828800" y="4343400"/>
            <a:ext cx="8503920" cy="822960"/>
          </a:xfrm>
          <a:prstGeom prst="roundRect">
            <a:avLst/>
          </a:prstGeom>
          <a:solidFill>
            <a:srgbClr val="FFB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97280" y="4389120"/>
            <a:ext cx="548640" cy="548640"/>
          </a:xfrm>
          <a:prstGeom prst="ellipse">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07007" y="4498848"/>
            <a:ext cx="329184" cy="329184"/>
          </a:xfrm>
          <a:prstGeom prst="rect">
            <a:avLst/>
          </a:prstGeom>
          <a:noFill/>
        </p:spPr>
        <p:txBody>
          <a:bodyPr wrap="square">
            <a:spAutoFit/>
          </a:bodyPr>
          <a:lstStyle/>
          <a:p>
            <a:pPr algn="ctr"/>
            <a:r>
              <a:rPr sz="2400" b="1">
                <a:solidFill>
                  <a:srgbClr val="FFFFFF"/>
                </a:solidFill>
              </a:rPr>
              <a:t>⚙</a:t>
            </a:r>
          </a:p>
        </p:txBody>
      </p:sp>
      <p:sp>
        <p:nvSpPr>
          <p:cNvPr id="61" name="TextBox 60"/>
          <p:cNvSpPr txBox="1"/>
          <p:nvPr/>
        </p:nvSpPr>
        <p:spPr>
          <a:xfrm>
            <a:off x="2103120" y="4434840"/>
            <a:ext cx="8046720" cy="640080"/>
          </a:xfrm>
          <a:prstGeom prst="rect">
            <a:avLst/>
          </a:prstGeom>
          <a:noFill/>
        </p:spPr>
        <p:txBody>
          <a:bodyPr wrap="square">
            <a:spAutoFit/>
          </a:bodyPr>
          <a:lstStyle/>
          <a:p>
            <a:pPr algn="l"/>
            <a:r>
              <a:rPr sz="1800" b="0">
                <a:solidFill>
                  <a:srgbClr val="3D2C2C"/>
                </a:solidFill>
                <a:latin typeface="Microsoft YaHei"/>
                <a:ea typeface="Microsoft YaHei"/>
              </a:rPr>
              <a:t>思考题：当内存只有512MB，待排序数据为50GB时，应该选择哪种排序算法？为什么？</a:t>
            </a:r>
          </a:p>
        </p:txBody>
      </p:sp>
      <p:sp>
        <p:nvSpPr>
          <p:cNvPr id="62" name="Rounded Rectangle 61"/>
          <p:cNvSpPr/>
          <p:nvPr/>
        </p:nvSpPr>
        <p:spPr>
          <a:xfrm>
            <a:off x="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57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914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1371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1828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2286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200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3657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4114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4572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5029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486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5943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ed Rectangle 75"/>
          <p:cNvSpPr/>
          <p:nvPr/>
        </p:nvSpPr>
        <p:spPr>
          <a:xfrm>
            <a:off x="6400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6858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7315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77724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82296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6868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ounded Rectangle 81"/>
          <p:cNvSpPr/>
          <p:nvPr/>
        </p:nvSpPr>
        <p:spPr>
          <a:xfrm>
            <a:off x="91440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96012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100584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105156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109728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11430000" y="6126480"/>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11887200" y="6153912"/>
            <a:ext cx="457200" cy="73152"/>
          </a:xfrm>
          <a:prstGeom prst="roundRect">
            <a:avLst/>
          </a:prstGeom>
          <a:solidFill>
            <a:srgbClr val="FFE6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57200" y="6446520"/>
            <a:ext cx="7315200" cy="320040"/>
          </a:xfrm>
          <a:prstGeom prst="rect">
            <a:avLst/>
          </a:prstGeom>
          <a:noFill/>
        </p:spPr>
        <p:txBody>
          <a:bodyPr wrap="none">
            <a:spAutoFit/>
          </a:bodyPr>
          <a:lstStyle/>
          <a:p>
            <a:pPr algn="l"/>
            <a:r>
              <a:rPr sz="1000" b="0">
                <a:solidFill>
                  <a:srgbClr val="8B7E7E"/>
                </a:solidFill>
                <a:latin typeface="Microsoft YaHei"/>
                <a:ea typeface="Microsoft YaHei"/>
              </a:rPr>
              <a:t>第3章 高效排序算法</a:t>
            </a:r>
          </a:p>
        </p:txBody>
      </p:sp>
      <p:sp>
        <p:nvSpPr>
          <p:cNvPr id="90" name="TextBox 89"/>
          <p:cNvSpPr txBox="1"/>
          <p:nvPr/>
        </p:nvSpPr>
        <p:spPr>
          <a:xfrm>
            <a:off x="9144000" y="6446520"/>
            <a:ext cx="2743200" cy="320040"/>
          </a:xfrm>
          <a:prstGeom prst="rect">
            <a:avLst/>
          </a:prstGeom>
          <a:noFill/>
        </p:spPr>
        <p:txBody>
          <a:bodyPr wrap="none">
            <a:spAutoFit/>
          </a:bodyPr>
          <a:lstStyle/>
          <a:p>
            <a:pPr algn="r"/>
            <a:r>
              <a:rPr sz="1000" b="0">
                <a:solidFill>
                  <a:srgbClr val="8B7E7E"/>
                </a:solidFill>
                <a:latin typeface="Microsoft YaHei"/>
                <a:ea typeface="Microsoft YaHei"/>
              </a:rP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