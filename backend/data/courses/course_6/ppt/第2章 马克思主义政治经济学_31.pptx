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首先我们来认识商品。商品是资本主义社会的经济细胞，它包含两重属性：使用价值和价值。使用价值是商品的自然属性，而价值是商品的社会属性，它由抽象劳动凝结而成。价值量由社会必要劳动时间决定，这是理解后续理论的基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劳动价值论是马克思主义政治经济学的基石。马克思首次揭示了劳动的二重性：具体劳动生产商品的有用性，抽象劳动形成商品的价值。价值规律通过价格围绕价值波动自发调节社会生产和交换，但它也孕育着资本主义经济危机的可能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剩余价值论是马克思经济理论的基。资本家购买劳动力，劳动力在使用中创造的价值大于其自身价值，这个差额就是剩余价值。资本家通过延长劳动日获取绝对剩余价值，或通过提高劳动生产率获取相对剩余价值。剩余价值揭示了资本家剥削工人的秘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本积累是资本主义扩大再生产的源泉。资本家将一部分剩余价值转化为新资本，促使生产规模不断扩张。资本在循环中先后采取货币资本、生产资本、商品资本三种职能形式。随着技术进步，资本有机构成提高，可变资本相对减少，形成产业后备军或相对人口过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本主义的基本矛盾是生产社会化与生产资料私有制之间的矛盾。社会化大生产要求全社会的计划协调，但私有制导致各企业各自为政、盲目扩张，同时劳动者的贫困限制消费能力。这一矛盾贯穿资本主义始终，是产生其他一切经济冲突的根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经济危机是资本主义基本矛盾的集中爆发。危机表面上表现为商品过剩，实质是劳动人民支付能力不足造成的相对过剩。危机周期性爆发，如同经济上的‘地震’，虽然每次危机后通过破坏生产力暂时缓和矛盾，但无法从根本上消除制度缺陷，这预示着资本主义终将被更高社会形态取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章我们沿着商品、价值、剩余价值、资本积累、基本矛盾和经济危机的逻辑主线，理解了马克思主义政治经济学的核心框架。请同学们思考：当前世界经济的波动、金融危机、贫富分化等问题，是否能从这些经典理论中获得新的启发？让我们一起在现实中深化认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F3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12191695" cy="228600"/>
          </a:xfrm>
          <a:prstGeom prst="rect">
            <a:avLst/>
          </a:prstGeom>
          <a:solidFill>
            <a:srgbClr val="0F3B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"/>
            <a:ext cx="12191695" cy="228600"/>
          </a:xfrm>
          <a:prstGeom prst="rect">
            <a:avLst/>
          </a:prstGeom>
          <a:solidFill>
            <a:srgbClr val="0F3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2191695" cy="228600"/>
          </a:xfrm>
          <a:prstGeom prst="rect">
            <a:avLst/>
          </a:prstGeom>
          <a:solidFill>
            <a:srgbClr val="1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228600"/>
          </a:xfrm>
          <a:prstGeom prst="rect">
            <a:avLst/>
          </a:prstGeom>
          <a:solidFill>
            <a:srgbClr val="103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12191695" cy="228600"/>
          </a:xfrm>
          <a:prstGeom prst="rect">
            <a:avLst/>
          </a:prstGeom>
          <a:solidFill>
            <a:srgbClr val="103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371600"/>
            <a:ext cx="12191695" cy="228600"/>
          </a:xfrm>
          <a:prstGeom prst="rect">
            <a:avLst/>
          </a:prstGeom>
          <a:solidFill>
            <a:srgbClr val="114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600200"/>
            <a:ext cx="12191695" cy="228600"/>
          </a:xfrm>
          <a:prstGeom prst="rect">
            <a:avLst/>
          </a:prstGeom>
          <a:solidFill>
            <a:srgbClr val="1141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828800"/>
            <a:ext cx="12191695" cy="228600"/>
          </a:xfrm>
          <a:prstGeom prst="rect">
            <a:avLst/>
          </a:prstGeom>
          <a:solidFill>
            <a:srgbClr val="12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057400"/>
            <a:ext cx="12191695" cy="228600"/>
          </a:xfrm>
          <a:prstGeom prst="rect">
            <a:avLst/>
          </a:prstGeom>
          <a:solidFill>
            <a:srgbClr val="124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286000"/>
            <a:ext cx="12191695" cy="228600"/>
          </a:xfrm>
          <a:prstGeom prst="rect">
            <a:avLst/>
          </a:prstGeom>
          <a:solidFill>
            <a:srgbClr val="12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2514600"/>
            <a:ext cx="12191695" cy="228600"/>
          </a:xfrm>
          <a:prstGeom prst="rect">
            <a:avLst/>
          </a:prstGeom>
          <a:solidFill>
            <a:srgbClr val="134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2743200"/>
            <a:ext cx="12191695" cy="228600"/>
          </a:xfrm>
          <a:prstGeom prst="rect">
            <a:avLst/>
          </a:prstGeom>
          <a:solidFill>
            <a:srgbClr val="134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971800"/>
            <a:ext cx="12191695" cy="228600"/>
          </a:xfrm>
          <a:prstGeom prst="rect">
            <a:avLst/>
          </a:prstGeom>
          <a:solidFill>
            <a:srgbClr val="134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3200400"/>
            <a:ext cx="12191695" cy="228600"/>
          </a:xfrm>
          <a:prstGeom prst="rect">
            <a:avLst/>
          </a:prstGeom>
          <a:solidFill>
            <a:srgbClr val="144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3429000"/>
            <a:ext cx="12191695" cy="228600"/>
          </a:xfrm>
          <a:prstGeom prst="rect">
            <a:avLst/>
          </a:prstGeom>
          <a:solidFill>
            <a:srgbClr val="144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657600"/>
            <a:ext cx="12191695" cy="228600"/>
          </a:xfrm>
          <a:prstGeom prst="rect">
            <a:avLst/>
          </a:prstGeom>
          <a:solidFill>
            <a:srgbClr val="154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886200"/>
            <a:ext cx="12191695" cy="228600"/>
          </a:xfrm>
          <a:prstGeom prst="rect">
            <a:avLst/>
          </a:prstGeom>
          <a:solidFill>
            <a:srgbClr val="154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114800"/>
            <a:ext cx="12191695" cy="228600"/>
          </a:xfrm>
          <a:prstGeom prst="rect">
            <a:avLst/>
          </a:prstGeom>
          <a:solidFill>
            <a:srgbClr val="154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343400"/>
            <a:ext cx="12191695" cy="228600"/>
          </a:xfrm>
          <a:prstGeom prst="rect">
            <a:avLst/>
          </a:prstGeom>
          <a:solidFill>
            <a:srgbClr val="16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12191695" cy="228600"/>
          </a:xfrm>
          <a:prstGeom prst="rect">
            <a:avLst/>
          </a:prstGeom>
          <a:solidFill>
            <a:srgbClr val="164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4800600"/>
            <a:ext cx="12191695" cy="228600"/>
          </a:xfrm>
          <a:prstGeom prst="rect">
            <a:avLst/>
          </a:prstGeom>
          <a:solidFill>
            <a:srgbClr val="164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5029200"/>
            <a:ext cx="12191695" cy="228600"/>
          </a:xfrm>
          <a:prstGeom prst="rect">
            <a:avLst/>
          </a:prstGeom>
          <a:solidFill>
            <a:srgbClr val="17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257800"/>
            <a:ext cx="12191695" cy="228600"/>
          </a:xfrm>
          <a:prstGeom prst="rect">
            <a:avLst/>
          </a:prstGeom>
          <a:solidFill>
            <a:srgbClr val="17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5486400"/>
            <a:ext cx="12191695" cy="228600"/>
          </a:xfrm>
          <a:prstGeom prst="rect">
            <a:avLst/>
          </a:prstGeom>
          <a:solidFill>
            <a:srgbClr val="1851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5715000"/>
            <a:ext cx="12191695" cy="228600"/>
          </a:xfrm>
          <a:prstGeom prst="rect">
            <a:avLst/>
          </a:prstGeom>
          <a:solidFill>
            <a:srgbClr val="1852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5943600"/>
            <a:ext cx="12191695" cy="228600"/>
          </a:xfrm>
          <a:prstGeom prst="rect">
            <a:avLst/>
          </a:prstGeom>
          <a:solidFill>
            <a:srgbClr val="185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172200"/>
            <a:ext cx="12191695" cy="228600"/>
          </a:xfrm>
          <a:prstGeom prst="rect">
            <a:avLst/>
          </a:prstGeom>
          <a:solidFill>
            <a:srgbClr val="195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400800"/>
            <a:ext cx="12191695" cy="228600"/>
          </a:xfrm>
          <a:prstGeom prst="rect">
            <a:avLst/>
          </a:prstGeom>
          <a:solidFill>
            <a:srgbClr val="195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686800" y="-1371600"/>
            <a:ext cx="3657600" cy="36576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-1371600" y="5029200"/>
            <a:ext cx="2743200" cy="27432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201168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第2章 马克思主义政治经济学概述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384048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A8C8FA"/>
                </a:solidFill>
                <a:latin typeface="Microsoft YaHei"/>
                <a:ea typeface="Microsoft YaHei"/>
              </a:rPr>
              <a:t>第2章 马克思主义政治经济学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0" y="5852160"/>
            <a:ext cx="9418320" cy="13716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71600" y="594360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A8C8FA"/>
                </a:solidFill>
                <a:latin typeface="Microsoft YaHei"/>
                <a:ea typeface="Microsoft YaHei"/>
              </a:rPr>
              <a:t>第2章 马克思主义政治经济学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商品与价值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商品：用于交换的劳动产品，具有使用价值和价值二因素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使用价值：商品能满足人们某种需要的属性，构成物质内容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价值：凝结在商品中的无差别人类劳动，体现社会关系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交换价值是价值的表现形式，价值是交换价值的基础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第2章 马克思主义政治经济学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劳动价值论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劳动的二重性：具体劳动创造使用价值，抽象劳动创造价值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社会必要劳动时间决定商品的价值量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劳动生产率与价值量成反比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价值规律：商品交换以价值量为基础，实行等价交换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第2章 马克思主义政治经济学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剩余价值论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劳动力成为商品是剩余价值产生的前提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剩余价值：雇佣工人创造的价值超出劳动力价值的部分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剩余价值率衡量剥削程度：m' = m/v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绝对剩余价值与相对剩余价值的生产方式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第2章 马克思主义政治经济学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资本积累与循环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资本积累：剩余价值转化为资本，扩大再生产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资本循环：货币资本→生产资本→商品资本→货币资本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资本周转快慢影响年剩余价值率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资本有机构成提高导致相对过剩人口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第2章 马克思主义政治经济学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资本主义基本矛盾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生产社会化与生产资料资本主义私有制之间的矛盾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表现为：个别企业有组织性与社会生产无政府状态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生产无限扩大与劳动群众购买力相对缩小之间的矛盾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基本矛盾是资本主义制度一切冲突的根源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第2章 马克思主义政治经济学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经济危机理论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经济危机的实质：生产相对过剩的危机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危机周期性：危机→萧条→复苏→高涨→危机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危机强制缓解矛盾，但无法根本消除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经济危机证明资本主义制度的历史暂时性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第2章 马克思主义政治经济学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本章小结与思考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从商品到货币再到资本，层层揭示资本主义经济本质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剩余价值理论是理解剥削与积累的关键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基本矛盾与危机理论预示资本主义的历史命运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思考：如何运用这些理论分析当代经济现象？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第2章 马克思主义政治经济学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