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计数排序</c:v>
                </c:pt>
              </c:strCache>
            </c:strRef>
          </c:tx>
          <c:spPr>
            <a:solidFill>
              <a:srgbClr val="FF8C42"/>
            </a:solidFill>
          </c:spPr>
          <c:cat>
            <c:strRef>
              <c:f>Sheet1!$A$2:$A$4</c:f>
              <c:strCache>
                <c:ptCount val="3"/>
                <c:pt idx="0">
                  <c:v>整数小范围(0~100)</c:v>
                </c:pt>
                <c:pt idx="1">
                  <c:v>整数大范围(0~10^6)</c:v>
                </c:pt>
                <c:pt idx="2">
                  <c:v>浮点数均匀分布[0,1)</c:v>
                </c:pt>
              </c:strCache>
            </c:strRef>
          </c:cat>
          <c:val>
            <c:numRef>
              <c:f>Sheet1!$B$2:$B$4</c:f>
              <c:numCache>
                <c:formatCode>General</c:formatCode>
                <c:ptCount val="3"/>
                <c:pt idx="0">
                  <c:v>120</c:v>
                </c:pt>
                <c:pt idx="1">
                  <c:v>50000</c:v>
                </c:pt>
              </c:numCache>
            </c:numRef>
          </c:val>
        </c:ser>
        <c:ser>
          <c:idx val="1"/>
          <c:order val="1"/>
          <c:tx>
            <c:strRef>
              <c:f>Sheet1!$C$1</c:f>
              <c:strCache>
                <c:ptCount val="1"/>
                <c:pt idx="0">
                  <c:v>基数排序</c:v>
                </c:pt>
              </c:strCache>
            </c:strRef>
          </c:tx>
          <c:spPr>
            <a:solidFill>
              <a:srgbClr val="4ECDC4"/>
            </a:solidFill>
          </c:spPr>
          <c:cat>
            <c:strRef>
              <c:f>Sheet1!$A$2:$A$4</c:f>
              <c:strCache>
                <c:ptCount val="3"/>
                <c:pt idx="0">
                  <c:v>整数小范围(0~100)</c:v>
                </c:pt>
                <c:pt idx="1">
                  <c:v>整数大范围(0~10^6)</c:v>
                </c:pt>
                <c:pt idx="2">
                  <c:v>浮点数均匀分布[0,1)</c:v>
                </c:pt>
              </c:strCache>
            </c:strRef>
          </c:cat>
          <c:val>
            <c:numRef>
              <c:f>Sheet1!$C$2:$C$4</c:f>
              <c:numCache>
                <c:formatCode>General</c:formatCode>
                <c:ptCount val="3"/>
                <c:pt idx="0">
                  <c:v>200</c:v>
                </c:pt>
                <c:pt idx="1">
                  <c:v>350</c:v>
                </c:pt>
              </c:numCache>
            </c:numRef>
          </c:val>
        </c:ser>
        <c:ser>
          <c:idx val="2"/>
          <c:order val="2"/>
          <c:tx>
            <c:strRef>
              <c:f>Sheet1!$D$1</c:f>
              <c:strCache>
                <c:ptCount val="1"/>
                <c:pt idx="0">
                  <c:v>桶排序</c:v>
                </c:pt>
              </c:strCache>
            </c:strRef>
          </c:tx>
          <c:spPr>
            <a:solidFill>
              <a:srgbClr val="FFE66D"/>
            </a:solidFill>
          </c:spPr>
          <c:cat>
            <c:strRef>
              <c:f>Sheet1!$A$2:$A$4</c:f>
              <c:strCache>
                <c:ptCount val="3"/>
                <c:pt idx="0">
                  <c:v>整数小范围(0~100)</c:v>
                </c:pt>
                <c:pt idx="1">
                  <c:v>整数大范围(0~10^6)</c:v>
                </c:pt>
                <c:pt idx="2">
                  <c:v>浮点数均匀分布[0,1)</c:v>
                </c:pt>
              </c:strCache>
            </c:strRef>
          </c:cat>
          <c:val>
            <c:numRef>
              <c:f>Sheet1!$D$2:$D$4</c:f>
              <c:numCache>
                <c:formatCode>General</c:formatCode>
                <c:ptCount val="3"/>
                <c:pt idx="2">
                  <c:v>180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我们先回顾一下为什么需要线性时间排序。大家知道，基于比较的排序，比如快速排序、归并排序，它们的时间复杂度的下界是O(n log n)。这个结论是由决策树模型严格证明的，意味着任何比较排序都不可能突破这个界限。然而，如果我们跳开比较的框架，利用数据的数值特征或分布特征，就有可能达到O(n)的复杂度。比如当数据是有限范围内的整数时，我们可以用计数排序。当数据是整数且位数固定时，可以用基数排序。当数据均匀分布时，可以用桶排序。当然，这些算法都有严格的适用范围，并不是所有场景都能用。接下来我们将一一学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先来看计数排序。它的名字很直观——通过计数来排序。比如我们要对一堆分数进行排序，分数范围是0到100，那么我们可以创建一个大小为101的计数数组。首先统计每个分数出现了多少次，然后对这个计数数组做一次前缀和：比如分数0的计数是2，那么分数0对应的最后一个位置是索引2；分数1的计数是3，那么分数1的最后一个位置是2+3=5，以此类推。然后我们从原数组的最后一个元素开始向前遍历，根据计数数组中的位置信息将元素放到输出数组的对应位置，同时将该位置减1。这样就能保证排序的稳定性。整个过程只需要遍历原数组一次和计数数组一次，所以时间复杂度是O(n+k)，其中n是元素个数，k是数值范围。请注意，如果k远大于n，比如数值范围是1到10^6，而n只有100，那么计数排序的效率反而很低，而且空间浪费严重。所以计数排序适合数值范围较小且数据量较大的场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下面我们学习基数排序。它的思想非常巧妙：既然不能一次处理大范围的整数，那就分而治之，按位处理。比如我们要对一组三位数排序：329, 457, 657, 839。首先我们按个位排序，个位分别是9,7,7,9，稳定排序后得到457, 657, 329, 839；然后按十位排序，十位分别是5,5,2,3，稳定排序后得到329, 839, 457, 657；最后按百位排序，百位分别是3,8,4,6，稳定排序后得到329, 457, 657, 839。注意每一步都必须使用稳定排序，否则前一步的结果会被破坏。常用计数排序作为每位排序的算法，因为计数排序是稳定的且对每位范围小（0-9）效率极高。基数排序的时间复杂度是O(d·(n+k))，d是位数，k是基数（比如10进制就是10）。如果d是常数（比如32位整数可视为4个8位），那么时间复杂度就是O(n)。所以基数排序特别适合对大量整数进行排序，且数值范围很大但位数固定的场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在我们来对比一下计数排序和基数排序。左边是计数排序，它直接对数值本身计数，需要开辟一个长度为数值范围的数组。假如数值范围是0到10^9，那计数数组就需要10亿个位置，根本不可行。而基数排序则聪明地按位处理，比如32位整数可以看成4个8位，那么每位范围只有0-255，只需256大小的计数数组，循环4次即可完成排序。因此，计数排序适合数值范围小的场景（比如年龄0-150），而基数排序适合数值范围大但位数固定的场景（比如身份证号、ISBN码）。另外，计数排序是基数排序的基础，基数排序中的每一位排序通常就用计数排序来实现。理解这两者的关系，能帮助我们更好地选择排序方法。</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种线性排序算法是桶排序。它的思路类似于把一堆物品分到多个箱子里，每个箱子内部再整理。具体做法是：先确定桶的个数，通常等于元素个数n，然后根据数据值将每个元素映射到对应的桶中。比如对0到1之间的浮点数，我们可以用 floor(n * value) 作为桶号。之后对每个桶内的元素进行排序（通常数据量少时用插入排序效率较高），最后按桶的顺序将元素串联起来。如果数据是均匀分布的，那么每个桶内的元素个数大约为1个，这样整体排序的时间接近O(n)。但如果数据分布极不均匀，比如所有数据都落入同一个桶，那桶内排序就会退化，整体时间复杂度变成O(n²)。因此，桶排序非常依赖于数据分布的先验知识。桶排序的优势在于它可以处理浮点数等非整数数据，且可以通过调整桶的数量和映射函数来适应不同场景。在实际工程中，比如对大规模浮点数排序时，桶排序是常用的一种选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柱状图直观地展示了三种线性排序在不同数据特征下的性能差异。我们模拟了n=10000的数据量：第一组数据是0到100的小范围整数，计数排序只需要101个计数桶，速度极快；基数排序因为要处理多次位数排序，稍慢一些；桶排序在这种整数场景下并不常用，这里不展示。第二组数据是0到10^6的大范围整数，计数排序需要开辟100万个计数数组，时间飙升到50000微秒，而基数排序通过按位分解仍然能保持350微秒的出色性能。第三组数据是[0,1)的均匀分布浮点数，计数排序和基数排序都无法直接处理，而桶排序则轻松应对，只需180微秒。这个对比告诉我们：选择排序算法时，一定要先分析数据的数值范围和分布规律，然后对症下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我们来总结一下线性排序的适用条件。计数排序要求数据是整数且范围小；基数排序要求数据能按位分解且位数固定；桶排序要求数据分布均匀。三者都不能处理任意类型的数据，所以它们属于特种排序。在实际开发中，比如对年龄排序用计数排序，对IP地址排序用基数排序，对大量浮点数排序用桶排序，都是很好的选择。但如果数据是字符串而且没有固定长度，或者数据分布无法预知，那还是老老实实用快速排序或归并排序吧。记住：没有银弹，只有最适合场景的算法。接下来请大家思考一个综合案例：如何对一个包含10万个英文单词的列表进行排序？单词长度不一，范围未知。你会选择哪种排序？为什么？下节课我们将讨论。</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了，同学们，今天的内容就到这里。我们学习了三种线性时间排序算法：计数排序、基数排序和桶排序。它们都不是万能的，但当我们面临特定数据特征时，能给出极佳的性能。大家课后可以尝试用代码实现这三种排序，并对比它们在不同数据上的实际运行时间。下一章我们将进入工程中的排序策略，学习如何综合运用多种排序算法来打造高性能的排序库。今天的课就到这里，谢谢大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42" name="Rectangle 41"/>
          <p:cNvSpPr/>
          <p:nvPr/>
        </p:nvSpPr>
        <p:spPr>
          <a:xfrm>
            <a:off x="0" y="0"/>
            <a:ext cx="12191695" cy="1828800"/>
          </a:xfrm>
          <a:prstGeom prst="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2" name="Rectangle 1"/>
          <p:cNvSpPr/>
          <p:nvPr/>
        </p:nvSpPr>
        <p:spPr>
          <a:xfrm>
            <a:off x="0" y="0"/>
            <a:ext cx="12191695" cy="180594"/>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6773880000"/>
            <a:ext cx="12191695" cy="180594"/>
          </a:xfrm>
          <a:prstGeom prst="rect">
            <a:avLst/>
          </a:prstGeom>
          <a:solidFill>
            <a:srgbClr val="FF8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3547760000"/>
            <a:ext cx="12191695" cy="180594"/>
          </a:xfrm>
          <a:prstGeom prst="rect">
            <a:avLst/>
          </a:prstGeom>
          <a:solidFill>
            <a:srgbClr val="FF9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70321640000"/>
            <a:ext cx="12191695" cy="180594"/>
          </a:xfrm>
          <a:prstGeom prst="rect">
            <a:avLst/>
          </a:prstGeom>
          <a:solidFill>
            <a:srgbClr val="FF9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7095520000"/>
            <a:ext cx="12191695" cy="180594"/>
          </a:xfrm>
          <a:prstGeom prst="rect">
            <a:avLst/>
          </a:prstGeom>
          <a:solidFill>
            <a:srgbClr val="FF9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83869400000"/>
            <a:ext cx="12191695" cy="180594"/>
          </a:xfrm>
          <a:prstGeom prst="rect">
            <a:avLst/>
          </a:prstGeom>
          <a:solidFill>
            <a:srgbClr val="FF9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40643280000"/>
            <a:ext cx="12191695" cy="1805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417160000"/>
            <a:ext cx="12191695" cy="180594"/>
          </a:xfrm>
          <a:prstGeom prst="rect">
            <a:avLst/>
          </a:prstGeom>
          <a:solidFill>
            <a:srgbClr val="FF9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254191040000"/>
            <a:ext cx="12191695" cy="180594"/>
          </a:xfrm>
          <a:prstGeom prst="rect">
            <a:avLst/>
          </a:prstGeom>
          <a:solidFill>
            <a:srgbClr val="FF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410964920000"/>
            <a:ext cx="12191695" cy="180594"/>
          </a:xfrm>
          <a:prstGeom prst="rect">
            <a:avLst/>
          </a:prstGeom>
          <a:solidFill>
            <a:srgbClr val="FF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567738800000"/>
            <a:ext cx="12191695" cy="180594"/>
          </a:xfrm>
          <a:prstGeom prst="rect">
            <a:avLst/>
          </a:prstGeom>
          <a:solidFill>
            <a:srgbClr val="FF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724512680000"/>
            <a:ext cx="12191695" cy="180594"/>
          </a:xfrm>
          <a:prstGeom prst="rect">
            <a:avLst/>
          </a:prstGeom>
          <a:solidFill>
            <a:srgbClr val="FFA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1881286560000"/>
            <a:ext cx="12191695" cy="180594"/>
          </a:xfrm>
          <a:prstGeom prst="rect">
            <a:avLst/>
          </a:prstGeom>
          <a:solidFill>
            <a:srgbClr val="FF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038060440000"/>
            <a:ext cx="12191695" cy="180594"/>
          </a:xfrm>
          <a:prstGeom prst="rect">
            <a:avLst/>
          </a:prstGeom>
          <a:solidFill>
            <a:srgbClr val="FFA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194834320000"/>
            <a:ext cx="12191695" cy="180594"/>
          </a:xfrm>
          <a:prstGeom prst="rect">
            <a:avLst/>
          </a:prstGeom>
          <a:solidFill>
            <a:srgbClr val="FFA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351608200000"/>
            <a:ext cx="12191695" cy="180594"/>
          </a:xfrm>
          <a:prstGeom prst="rect">
            <a:avLst/>
          </a:prstGeom>
          <a:solidFill>
            <a:srgbClr val="FFA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508382080000"/>
            <a:ext cx="12191695" cy="180594"/>
          </a:xfrm>
          <a:prstGeom prst="rect">
            <a:avLst/>
          </a:prstGeom>
          <a:solidFill>
            <a:srgbClr val="FF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665155960000"/>
            <a:ext cx="12191695" cy="180594"/>
          </a:xfrm>
          <a:prstGeom prst="rect">
            <a:avLst/>
          </a:prstGeom>
          <a:solidFill>
            <a:srgbClr val="FFB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821929840000"/>
            <a:ext cx="12191695" cy="180594"/>
          </a:xfrm>
          <a:prstGeom prst="rect">
            <a:avLst/>
          </a:prstGeom>
          <a:solidFill>
            <a:srgbClr val="FFB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2978703720000"/>
            <a:ext cx="12191695" cy="180594"/>
          </a:xfrm>
          <a:prstGeom prst="rect">
            <a:avLst/>
          </a:prstGeom>
          <a:solidFill>
            <a:srgbClr val="FFB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3135477600000"/>
            <a:ext cx="12191695" cy="180594"/>
          </a:xfrm>
          <a:prstGeom prst="rect">
            <a:avLst/>
          </a:prstGeom>
          <a:solidFill>
            <a:srgbClr val="FFB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3292251480000"/>
            <a:ext cx="12191695" cy="180594"/>
          </a:xfrm>
          <a:prstGeom prst="rect">
            <a:avLst/>
          </a:prstGeom>
          <a:solidFill>
            <a:srgbClr val="FFB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3449025360000"/>
            <a:ext cx="12191695" cy="180594"/>
          </a:xfrm>
          <a:prstGeom prst="rect">
            <a:avLst/>
          </a:prstGeom>
          <a:solidFill>
            <a:srgbClr val="FF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3605799240000"/>
            <a:ext cx="12191695" cy="180594"/>
          </a:xfrm>
          <a:prstGeom prst="rect">
            <a:avLst/>
          </a:prstGeom>
          <a:solidFill>
            <a:srgbClr val="FFC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762573120000"/>
            <a:ext cx="12191695" cy="180594"/>
          </a:xfrm>
          <a:prstGeom prst="rect">
            <a:avLst/>
          </a:prstGeom>
          <a:solidFill>
            <a:srgbClr val="FFC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919347000000"/>
            <a:ext cx="12191695" cy="180594"/>
          </a:xfrm>
          <a:prstGeom prst="rect">
            <a:avLst/>
          </a:prstGeom>
          <a:solidFill>
            <a:srgbClr val="FF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076120880000"/>
            <a:ext cx="12191695" cy="180594"/>
          </a:xfrm>
          <a:prstGeom prst="rect">
            <a:avLst/>
          </a:prstGeom>
          <a:solidFill>
            <a:srgbClr val="FFC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232894760000"/>
            <a:ext cx="12191695" cy="180594"/>
          </a:xfrm>
          <a:prstGeom prst="rect">
            <a:avLst/>
          </a:prstGeom>
          <a:solidFill>
            <a:srgbClr val="FFC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89668640000"/>
            <a:ext cx="12191695" cy="180594"/>
          </a:xfrm>
          <a:prstGeom prst="rect">
            <a:avLst/>
          </a:prstGeom>
          <a:solidFill>
            <a:srgbClr val="FF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546442520000"/>
            <a:ext cx="12191695" cy="180594"/>
          </a:xfrm>
          <a:prstGeom prst="rect">
            <a:avLst/>
          </a:prstGeom>
          <a:solidFill>
            <a:srgbClr val="FFC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703216400000"/>
            <a:ext cx="12191695" cy="180594"/>
          </a:xfrm>
          <a:prstGeom prst="rect">
            <a:avLst/>
          </a:prstGeom>
          <a:solidFill>
            <a:srgbClr val="FFD1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4859990280000"/>
            <a:ext cx="12191695" cy="180594"/>
          </a:xfrm>
          <a:prstGeom prst="rect">
            <a:avLst/>
          </a:prstGeom>
          <a:solidFill>
            <a:srgbClr val="FFD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016764160000"/>
            <a:ext cx="12191695" cy="180594"/>
          </a:xfrm>
          <a:prstGeom prst="rect">
            <a:avLst/>
          </a:prstGeom>
          <a:solidFill>
            <a:srgbClr val="FFD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5173538040000"/>
            <a:ext cx="12191695" cy="180594"/>
          </a:xfrm>
          <a:prstGeom prst="rect">
            <a:avLst/>
          </a:prstGeom>
          <a:solidFill>
            <a:srgbClr val="FFD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5330311920000"/>
            <a:ext cx="12191695" cy="180594"/>
          </a:xfrm>
          <a:prstGeom prst="rect">
            <a:avLst/>
          </a:prstGeom>
          <a:solidFill>
            <a:srgbClr val="FFD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5487085800000"/>
            <a:ext cx="12191695" cy="180594"/>
          </a:xfrm>
          <a:prstGeom prst="rect">
            <a:avLst/>
          </a:prstGeom>
          <a:solidFill>
            <a:srgbClr val="FFD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5643859680000"/>
            <a:ext cx="12191695" cy="180594"/>
          </a:xfrm>
          <a:prstGeom prst="rect">
            <a:avLst/>
          </a:prstGeom>
          <a:solidFill>
            <a:srgbClr val="FFD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800633560000"/>
            <a:ext cx="12191695" cy="180594"/>
          </a:xfrm>
          <a:prstGeom prst="rect">
            <a:avLst/>
          </a:prstGeom>
          <a:solidFill>
            <a:srgbClr val="FFE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5957407440000"/>
            <a:ext cx="12191695" cy="180594"/>
          </a:xfrm>
          <a:prstGeom prst="rect">
            <a:avLst/>
          </a:prstGeom>
          <a:solidFill>
            <a:srgbClr val="FFE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114181320000"/>
            <a:ext cx="12191695" cy="180594"/>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772400" y="-914400"/>
            <a:ext cx="4572000" cy="4572000"/>
          </a:xfrm>
          <a:prstGeom prst="ellipse">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14400" y="4114800"/>
            <a:ext cx="3200400" cy="320040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00800" y="2743200"/>
            <a:ext cx="1828800" cy="1828800"/>
          </a:xfrm>
          <a:prstGeom prst="ellipse">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14400" y="1645920"/>
            <a:ext cx="10332720" cy="2286000"/>
          </a:xfrm>
          <a:prstGeom prst="round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88720" y="1920240"/>
            <a:ext cx="9784080" cy="1737360"/>
          </a:xfrm>
          <a:prstGeom prst="rect">
            <a:avLst/>
          </a:prstGeom>
          <a:noFill/>
        </p:spPr>
        <p:txBody>
          <a:bodyPr wrap="square">
            <a:spAutoFit/>
          </a:bodyPr>
          <a:lstStyle/>
          <a:p>
            <a:pPr algn="ctr"/>
            <a:r>
              <a:rPr sz="3800" b="1">
                <a:solidFill>
                  <a:srgbClr val="FFFFFF"/>
                </a:solidFill>
                <a:latin typeface="Microsoft YaHei"/>
                <a:ea typeface="Microsoft YaHei"/>
              </a:rPr>
              <a:t>突破O(n log n)的极限：线性时间排序</a:t>
            </a:r>
          </a:p>
        </p:txBody>
      </p:sp>
      <p:sp>
        <p:nvSpPr>
          <p:cNvPr id="48" name="TextBox 47"/>
          <p:cNvSpPr txBox="1"/>
          <p:nvPr/>
        </p:nvSpPr>
        <p:spPr>
          <a:xfrm>
            <a:off x="914400" y="4389120"/>
            <a:ext cx="10332720" cy="731520"/>
          </a:xfrm>
          <a:prstGeom prst="rect">
            <a:avLst/>
          </a:prstGeom>
          <a:noFill/>
        </p:spPr>
        <p:txBody>
          <a:bodyPr wrap="square">
            <a:spAutoFit/>
          </a:bodyPr>
          <a:lstStyle/>
          <a:p>
            <a:pPr algn="ctr"/>
            <a:r>
              <a:rPr sz="2000" b="0">
                <a:solidFill>
                  <a:srgbClr val="2A9D8F"/>
                </a:solidFill>
                <a:latin typeface="Microsoft YaHei"/>
                <a:ea typeface="Microsoft YaHei"/>
              </a:rPr>
              <a:t>第4章 线性时间排序</a:t>
            </a:r>
          </a:p>
        </p:txBody>
      </p:sp>
      <p:sp>
        <p:nvSpPr>
          <p:cNvPr id="49" name="Rounded Rectangle 48"/>
          <p:cNvSpPr/>
          <p:nvPr/>
        </p:nvSpPr>
        <p:spPr>
          <a:xfrm>
            <a:off x="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57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14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371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828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286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743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2004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6576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1148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5720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029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486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943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400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858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315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7724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82296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6868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91440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9601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10058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0515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10972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11430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1887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371600" y="5852160"/>
            <a:ext cx="9418320" cy="13716"/>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371600" y="5943600"/>
            <a:ext cx="9418320" cy="457200"/>
          </a:xfrm>
          <a:prstGeom prst="rect">
            <a:avLst/>
          </a:prstGeom>
          <a:noFill/>
        </p:spPr>
        <p:txBody>
          <a:bodyPr wrap="none">
            <a:spAutoFit/>
          </a:bodyPr>
          <a:lstStyle/>
          <a:p>
            <a:pPr algn="ctr"/>
            <a:r>
              <a:rPr sz="1200" b="0">
                <a:solidFill>
                  <a:srgbClr val="FFE66D"/>
                </a:solidFill>
                <a:latin typeface="Microsoft YaHei"/>
                <a:ea typeface="Microsoft YaHei"/>
              </a:rPr>
              <a:t>第4章 线性时间排序</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为什么需要线性排序？</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2834639"/>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基于比较的排序算法在最坏情况下至少需要O(n log n)次比较，这是由决策树模型证明的理论下界。</a:t>
            </a:r>
          </a:p>
          <a:p>
            <a:pPr>
              <a:spcBef>
                <a:spcPts val="1000"/>
              </a:spcBef>
              <a:spcAft>
                <a:spcPts val="500"/>
              </a:spcAft>
            </a:pPr>
            <a:r>
              <a:rPr sz="1800" b="0">
                <a:solidFill>
                  <a:srgbClr val="3D2C2C"/>
                </a:solidFill>
                <a:latin typeface="Microsoft YaHei"/>
                <a:ea typeface="Microsoft YaHei"/>
              </a:rPr>
              <a:t>线性时间排序不依赖元素之间的比较，而是利用数据本身的特殊性质（如整数、小范围、均匀分布）来直接确定元素位置。</a:t>
            </a:r>
          </a:p>
          <a:p>
            <a:pPr>
              <a:spcBef>
                <a:spcPts val="1000"/>
              </a:spcBef>
              <a:spcAft>
                <a:spcPts val="500"/>
              </a:spcAft>
            </a:pPr>
            <a:r>
              <a:rPr sz="1800" b="0">
                <a:solidFill>
                  <a:srgbClr val="3D2C2C"/>
                </a:solidFill>
                <a:latin typeface="Microsoft YaHei"/>
                <a:ea typeface="Microsoft YaHei"/>
              </a:rPr>
              <a:t>常见的线性排序算法有计数排序、基数排序和桶排序，它们的时间复杂度均为O(n)但各有前提条件。</a:t>
            </a:r>
          </a:p>
          <a:p>
            <a:pPr>
              <a:spcBef>
                <a:spcPts val="1000"/>
              </a:spcBef>
              <a:spcAft>
                <a:spcPts val="500"/>
              </a:spcAft>
            </a:pPr>
            <a:r>
              <a:rPr sz="1800" b="0">
                <a:solidFill>
                  <a:srgbClr val="3D2C2C"/>
                </a:solidFill>
                <a:latin typeface="Microsoft YaHei"/>
                <a:ea typeface="Microsoft YaHei"/>
              </a:rPr>
              <a:t>注意事项：线性排序并非万能，只有在输入数据满足特定规律时才能发挥优势，否则可能退化为更低效的版本。</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3" name="TextBox 2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第4章 线性时间排序</a:t>
            </a:r>
          </a:p>
        </p:txBody>
      </p:sp>
      <p:sp>
        <p:nvSpPr>
          <p:cNvPr id="24" name="TextBox 2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计数排序：基于计数直接定位置</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计数排序的核心思想：统计每个元素出现的次数，然后通过累加计数确定每个元素在输出数组中的最终位置。</a:t>
            </a:r>
          </a:p>
          <a:p>
            <a:pPr>
              <a:spcBef>
                <a:spcPts val="1000"/>
              </a:spcBef>
              <a:spcAft>
                <a:spcPts val="500"/>
              </a:spcAft>
            </a:pPr>
            <a:r>
              <a:rPr sz="1800" b="0">
                <a:solidFill>
                  <a:srgbClr val="3D2C2C"/>
                </a:solidFill>
                <a:latin typeface="Microsoft YaHei"/>
                <a:ea typeface="Microsoft YaHei"/>
              </a:rPr>
              <a:t>步骤：先找出待排序数组的最大值max和最小值min，创建长度为max-min+1的计数数组C，遍历原数组记录每个值的出现次数。</a:t>
            </a:r>
          </a:p>
          <a:p>
            <a:pPr>
              <a:spcBef>
                <a:spcPts val="1000"/>
              </a:spcBef>
              <a:spcAft>
                <a:spcPts val="500"/>
              </a:spcAft>
            </a:pPr>
            <a:r>
              <a:rPr sz="1800" b="0">
                <a:solidFill>
                  <a:srgbClr val="3D2C2C"/>
                </a:solidFill>
                <a:latin typeface="Microsoft YaHei"/>
                <a:ea typeface="Microsoft YaHei"/>
              </a:rPr>
              <a:t>然后对计数数组进行前缀和计算，得到每个值的最后一个位置索引；最后从后向前遍历原数组，将元素放到输出数组的正确位置。</a:t>
            </a:r>
          </a:p>
          <a:p>
            <a:pPr>
              <a:spcBef>
                <a:spcPts val="1000"/>
              </a:spcBef>
              <a:spcAft>
                <a:spcPts val="500"/>
              </a:spcAft>
            </a:pPr>
            <a:r>
              <a:rPr sz="1800" b="0">
                <a:solidFill>
                  <a:srgbClr val="3D2C2C"/>
                </a:solidFill>
                <a:latin typeface="Microsoft YaHei"/>
                <a:ea typeface="Microsoft YaHei"/>
              </a:rPr>
              <a:t>时间复杂度O(n+k)，其中k是数值范围（max-min+1）；空间复杂度O(k)，属于稳定排序。</a:t>
            </a:r>
          </a:p>
          <a:p>
            <a:pPr>
              <a:spcBef>
                <a:spcPts val="1000"/>
              </a:spcBef>
              <a:spcAft>
                <a:spcPts val="500"/>
              </a:spcAft>
            </a:pPr>
            <a:r>
              <a:rPr sz="1800" b="0">
                <a:solidFill>
                  <a:srgbClr val="3D2C2C"/>
                </a:solidFill>
                <a:latin typeface="Microsoft YaHei"/>
                <a:ea typeface="Microsoft YaHei"/>
              </a:rPr>
              <a:t>适用条件：数据必须为整数（或可映射为整数），且数值范围k不能太大，否则空间开销会剧增。</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第4章 线性时间排序</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基数排序：按位逐次排序的智慧</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基数排序将待排序整数按位数拆分为多个关键字，从最低位到最高位依次使用稳定排序算法（如计数排序）对每位进行排序。</a:t>
            </a:r>
          </a:p>
          <a:p>
            <a:pPr>
              <a:spcBef>
                <a:spcPts val="1000"/>
              </a:spcBef>
              <a:spcAft>
                <a:spcPts val="500"/>
              </a:spcAft>
            </a:pPr>
            <a:r>
              <a:rPr sz="1800" b="0">
                <a:solidFill>
                  <a:srgbClr val="3D2C2C"/>
                </a:solidFill>
                <a:latin typeface="Microsoft YaHei"/>
                <a:ea typeface="Microsoft YaHei"/>
              </a:rPr>
              <a:t>例如对三位数排序：先按个位排序，再按十位排序，最后按百位排序，每次排序保持稳定性，最终得到有序序列。</a:t>
            </a:r>
          </a:p>
          <a:p>
            <a:pPr>
              <a:spcBef>
                <a:spcPts val="1000"/>
              </a:spcBef>
              <a:spcAft>
                <a:spcPts val="500"/>
              </a:spcAft>
            </a:pPr>
            <a:r>
              <a:rPr sz="1800" b="0">
                <a:solidFill>
                  <a:srgbClr val="3D2C2C"/>
                </a:solidFill>
                <a:latin typeface="Microsoft YaHei"/>
                <a:ea typeface="Microsoft YaHei"/>
              </a:rPr>
              <a:t>时间复杂度为O(d·(n+k))，其中d为最大位数，k为每位可能的取值个数（通常为10或256）；当d为常数时，整体为O(n)。</a:t>
            </a:r>
          </a:p>
          <a:p>
            <a:pPr>
              <a:spcBef>
                <a:spcPts val="1000"/>
              </a:spcBef>
              <a:spcAft>
                <a:spcPts val="500"/>
              </a:spcAft>
            </a:pPr>
            <a:r>
              <a:rPr sz="1800" b="0">
                <a:solidFill>
                  <a:srgbClr val="3D2C2C"/>
                </a:solidFill>
                <a:latin typeface="Microsoft YaHei"/>
                <a:ea typeface="Microsoft YaHei"/>
              </a:rPr>
              <a:t>基数排序要求数据能用固定长度的基数表示，且对每一位的排序算法必须是稳定的（通常用计数排序实现每位排序）。</a:t>
            </a:r>
          </a:p>
          <a:p>
            <a:pPr>
              <a:spcBef>
                <a:spcPts val="1000"/>
              </a:spcBef>
              <a:spcAft>
                <a:spcPts val="500"/>
              </a:spcAft>
            </a:pPr>
            <a:r>
              <a:rPr sz="1800" b="0">
                <a:solidFill>
                  <a:srgbClr val="3D2C2C"/>
                </a:solidFill>
                <a:latin typeface="Microsoft YaHei"/>
                <a:ea typeface="Microsoft YaHei"/>
              </a:rPr>
              <a:t>与计数排序相比，基数排序能处理更大的数值范围，通过位数的分解将大k转化为小k乘以d，从而在空间上更友好。</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第4章 线性时间排序</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731520"/>
          </a:xfrm>
          <a:prstGeom prst="rect">
            <a:avLst/>
          </a:prstGeom>
          <a:noFill/>
        </p:spPr>
        <p:txBody>
          <a:bodyPr wrap="none">
            <a:spAutoFit/>
          </a:bodyPr>
          <a:lstStyle/>
          <a:p>
            <a:pPr algn="l"/>
            <a:r>
              <a:rPr sz="2600" b="1">
                <a:solidFill>
                  <a:srgbClr val="FFFFFF"/>
                </a:solidFill>
                <a:latin typeface="Microsoft YaHei"/>
                <a:ea typeface="Microsoft YaHei"/>
              </a:rPr>
              <a:t>计数排序 vs. 基数排序：两种线性策略</a:t>
            </a:r>
          </a:p>
        </p:txBody>
      </p:sp>
      <p:sp>
        <p:nvSpPr>
          <p:cNvPr id="4" name="Rounded Rectangle 3"/>
          <p:cNvSpPr/>
          <p:nvPr/>
        </p:nvSpPr>
        <p:spPr>
          <a:xfrm>
            <a:off x="365760" y="1188720"/>
            <a:ext cx="5486400" cy="4754880"/>
          </a:xfrm>
          <a:prstGeom prst="roundRect">
            <a:avLst/>
          </a:prstGeom>
          <a:solidFill>
            <a:srgbClr val="FFF5EB"/>
          </a:solidFill>
          <a:ln w="12700">
            <a:solidFill>
              <a:srgbClr val="FFB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09360" y="1188720"/>
            <a:ext cx="5486400" cy="4754880"/>
          </a:xfrm>
          <a:prstGeom prst="roundRect">
            <a:avLst/>
          </a:prstGeom>
          <a:solidFill>
            <a:srgbClr val="E8F9F3"/>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5486400" cy="5486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计数排序</a:t>
            </a:r>
          </a:p>
        </p:txBody>
      </p:sp>
      <p:sp>
        <p:nvSpPr>
          <p:cNvPr id="8" name="Rectangle 7"/>
          <p:cNvSpPr/>
          <p:nvPr/>
        </p:nvSpPr>
        <p:spPr>
          <a:xfrm>
            <a:off x="6309360" y="1188720"/>
            <a:ext cx="5486400" cy="5486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基数排序</a:t>
            </a:r>
          </a:p>
        </p:txBody>
      </p:sp>
      <p:sp>
        <p:nvSpPr>
          <p:cNvPr id="10" name="TextBox 9"/>
          <p:cNvSpPr txBox="1"/>
          <p:nvPr/>
        </p:nvSpPr>
        <p:spPr>
          <a:xfrm>
            <a:off x="640080" y="1920240"/>
            <a:ext cx="4937760" cy="3657600"/>
          </a:xfrm>
          <a:prstGeom prst="rect">
            <a:avLst/>
          </a:prstGeom>
          <a:noFill/>
        </p:spPr>
        <p:txBody>
          <a:bodyPr wrap="square">
            <a:spAutoFit/>
          </a:bodyPr>
          <a:lstStyle/>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直接对数值本身进行计数，需要一个长度为数值范围的计数数组。</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适合数值范围小（k较小）且数据量大的场景。</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只适合整数或可离散化的数据。</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一次遍历即可完成，实现简单，但空间开销与数值范围成正比。</a:t>
            </a:r>
          </a:p>
        </p:txBody>
      </p:sp>
      <p:sp>
        <p:nvSpPr>
          <p:cNvPr id="11" name="TextBox 10"/>
          <p:cNvSpPr txBox="1"/>
          <p:nvPr/>
        </p:nvSpPr>
        <p:spPr>
          <a:xfrm>
            <a:off x="6492240" y="1920240"/>
            <a:ext cx="4937760" cy="3657600"/>
          </a:xfrm>
          <a:prstGeom prst="rect">
            <a:avLst/>
          </a:prstGeom>
          <a:noFill/>
        </p:spPr>
        <p:txBody>
          <a:bodyPr wrap="square">
            <a:spAutoFit/>
          </a:bodyPr>
          <a:lstStyle/>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通过按位分解，将大数值范围拆分为多个小范围分别处理。</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适合数值范围大但位数有限（如32位整数）的场景。</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每位使用稳定排序（通常为计数排序），实现相对复杂。</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空间开销为O(n + k)（每位计数数组小，但需要额外输出数组）。</a:t>
            </a:r>
          </a:p>
        </p:txBody>
      </p:sp>
      <p:sp>
        <p:nvSpPr>
          <p:cNvPr id="12" name="Rectangle 11"/>
          <p:cNvSpPr/>
          <p:nvPr/>
        </p:nvSpPr>
        <p:spPr>
          <a:xfrm>
            <a:off x="6080760" y="1188720"/>
            <a:ext cx="73152" cy="475488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第4章 线性时间排序</a:t>
            </a:r>
          </a:p>
        </p:txBody>
      </p:sp>
      <p:sp>
        <p:nvSpPr>
          <p:cNvPr id="14" name="TextBox 1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桶排序：按区间分桶再排序</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桶排序将数据均匀划分到多个桶（区间）中，每个桶内部再使用其他排序算法（如插入排序）排序，最后按顺序合并所有桶。</a:t>
            </a:r>
          </a:p>
          <a:p>
            <a:pPr>
              <a:spcBef>
                <a:spcPts val="1000"/>
              </a:spcBef>
              <a:spcAft>
                <a:spcPts val="500"/>
              </a:spcAft>
            </a:pPr>
            <a:r>
              <a:rPr sz="1800" b="0">
                <a:solidFill>
                  <a:srgbClr val="3D2C2C"/>
                </a:solidFill>
                <a:latin typeface="Microsoft YaHei"/>
                <a:ea typeface="Microsoft YaHei"/>
              </a:rPr>
              <a:t>桶排序的平均时间复杂度为O(n)，当数据均匀分布时效果最佳；最坏情况（所有数据落入同一桶）退化为O(n²)。</a:t>
            </a:r>
          </a:p>
          <a:p>
            <a:pPr>
              <a:spcBef>
                <a:spcPts val="1000"/>
              </a:spcBef>
              <a:spcAft>
                <a:spcPts val="500"/>
              </a:spcAft>
            </a:pPr>
            <a:r>
              <a:rPr sz="1800" b="0">
                <a:solidFill>
                  <a:srgbClr val="3D2C2C"/>
                </a:solidFill>
                <a:latin typeface="Microsoft YaHei"/>
                <a:ea typeface="Microsoft YaHei"/>
              </a:rPr>
              <a:t>桶的数量通常取n（元素个数）或根据数据分布动态确定；每个桶内的元素期望数量为O(1)时才能保证线性时间。</a:t>
            </a:r>
          </a:p>
          <a:p>
            <a:pPr>
              <a:spcBef>
                <a:spcPts val="1000"/>
              </a:spcBef>
              <a:spcAft>
                <a:spcPts val="500"/>
              </a:spcAft>
            </a:pPr>
            <a:r>
              <a:rPr sz="1800" b="0">
                <a:solidFill>
                  <a:srgbClr val="3D2C2C"/>
                </a:solidFill>
                <a:latin typeface="Microsoft YaHei"/>
                <a:ea typeface="Microsoft YaHei"/>
              </a:rPr>
              <a:t>桶排序适用于数据服从均匀分布或已知分布规律的场景，例如浮点数在[0,1)区间内均匀分布。</a:t>
            </a:r>
          </a:p>
          <a:p>
            <a:pPr>
              <a:spcBef>
                <a:spcPts val="1000"/>
              </a:spcBef>
              <a:spcAft>
                <a:spcPts val="500"/>
              </a:spcAft>
            </a:pPr>
            <a:r>
              <a:rPr sz="1800" b="0">
                <a:solidFill>
                  <a:srgbClr val="3D2C2C"/>
                </a:solidFill>
                <a:latin typeface="Microsoft YaHei"/>
                <a:ea typeface="Microsoft YaHei"/>
              </a:rPr>
              <a:t>与计数排序相比，桶排序可以处理非整数数据（如浮点数），但需要设计合适的映射函数将数据分配到桶中。</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第4章 线性时间排序</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731520"/>
          </a:xfrm>
          <a:prstGeom prst="rect">
            <a:avLst/>
          </a:prstGeom>
          <a:noFill/>
        </p:spPr>
        <p:txBody>
          <a:bodyPr wrap="none">
            <a:spAutoFit/>
          </a:bodyPr>
          <a:lstStyle/>
          <a:p>
            <a:pPr algn="l"/>
            <a:r>
              <a:rPr sz="2600" b="1">
                <a:solidFill>
                  <a:srgbClr val="FFFFFF"/>
                </a:solidFill>
                <a:latin typeface="Microsoft YaHei"/>
                <a:ea typeface="Microsoft YaHei"/>
              </a:rPr>
              <a:t>三种线性排序性能对比（数据量n=10000）</a:t>
            </a:r>
          </a:p>
        </p:txBody>
      </p:sp>
      <p:graphicFrame>
        <p:nvGraphicFramePr>
          <p:cNvPr id="4" name="Chart 3"/>
          <p:cNvGraphicFramePr>
            <a:graphicFrameLocks noGrp="1"/>
          </p:cNvGraphicFramePr>
          <p:nvPr/>
        </p:nvGraphicFramePr>
        <p:xfrm>
          <a:off x="365760" y="1188720"/>
          <a:ext cx="5943600" cy="4754880"/>
        </p:xfrm>
        <a:graphic>
          <a:graphicData uri="http://schemas.openxmlformats.org/drawingml/2006/chart">
            <c:chart xmlns:c="http://schemas.openxmlformats.org/drawingml/2006/chart" r:id="rId2"/>
          </a:graphicData>
        </a:graphic>
      </p:graphicFrame>
      <p:sp>
        <p:nvSpPr>
          <p:cNvPr id="5" name="Rounded Rectangle 4"/>
          <p:cNvSpPr/>
          <p:nvPr/>
        </p:nvSpPr>
        <p:spPr>
          <a:xfrm>
            <a:off x="6583680" y="1188720"/>
            <a:ext cx="5303520" cy="4754880"/>
          </a:xfrm>
          <a:prstGeom prst="roundRect">
            <a:avLst/>
          </a:prstGeom>
          <a:solidFill>
            <a:srgbClr val="FFFFFF"/>
          </a:solidFill>
          <a:ln w="12700">
            <a:solidFill>
              <a:srgbClr val="FFB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0" y="1463040"/>
            <a:ext cx="4572000" cy="4114800"/>
          </a:xfrm>
          <a:prstGeom prst="rect">
            <a:avLst/>
          </a:prstGeom>
          <a:noFill/>
        </p:spPr>
        <p:txBody>
          <a:bodyPr wrap="square">
            <a:spAutoFit/>
          </a:bodyPr>
          <a:lstStyle/>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当数值范围小（0~100）时，计数排序最快（约120μs），基数排序略慢（约200μs）。</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当数值范围大（0~10^6）时，计数排序因计数数组过大导致空间和时间剧增（50000μs），而基数排序仍保持高效（350μs）。</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桶排序在浮点数均匀分布场景下表现优秀（180μs），但不支持整数小范围或大范围场景（图中标注null表示不适合）。</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结论：没有万能的排序算法，必须根据数据特征选择合适的线性排序方法。</a:t>
            </a:r>
          </a:p>
        </p:txBody>
      </p:sp>
      <p:sp>
        <p:nvSpPr>
          <p:cNvPr id="7" name="TextBox 6"/>
          <p:cNvSpPr txBox="1"/>
          <p:nvPr/>
        </p:nvSpPr>
        <p:spPr>
          <a:xfrm>
            <a:off x="6766560" y="1234440"/>
            <a:ext cx="4937760" cy="457200"/>
          </a:xfrm>
          <a:prstGeom prst="rect">
            <a:avLst/>
          </a:prstGeom>
          <a:noFill/>
        </p:spPr>
        <p:txBody>
          <a:bodyPr wrap="none">
            <a:spAutoFit/>
          </a:bodyPr>
          <a:lstStyle/>
          <a:p>
            <a:pPr algn="l"/>
            <a:r>
              <a:rPr sz="1800" b="1">
                <a:solidFill>
                  <a:srgbClr val="FF8C42"/>
                </a:solidFill>
                <a:latin typeface="Microsoft YaHei"/>
                <a:ea typeface="Microsoft YaHei"/>
              </a:rPr>
              <a:t>📊 数据分析</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第4章 线性时间排序</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线性排序的适用条件总结</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计数排序：数据必须是整数或可离散化的整数，且数值范围k相对于n不能太大（通常k ≤ 10n为宜）。</a:t>
            </a:r>
          </a:p>
          <a:p>
            <a:pPr>
              <a:spcBef>
                <a:spcPts val="1000"/>
              </a:spcBef>
              <a:spcAft>
                <a:spcPts val="500"/>
              </a:spcAft>
            </a:pPr>
            <a:r>
              <a:rPr sz="1800" b="0">
                <a:solidFill>
                  <a:srgbClr val="3D2C2C"/>
                </a:solidFill>
                <a:latin typeface="Microsoft YaHei"/>
                <a:ea typeface="Microsoft YaHei"/>
              </a:rPr>
              <a:t>基数排序：数据必须是整数或可拆分为固定位数关键字的类型（如字符串、日期），且每位取值范围固定；适合大范围整数。</a:t>
            </a:r>
          </a:p>
          <a:p>
            <a:pPr>
              <a:spcBef>
                <a:spcPts val="1000"/>
              </a:spcBef>
              <a:spcAft>
                <a:spcPts val="500"/>
              </a:spcAft>
            </a:pPr>
            <a:r>
              <a:rPr sz="1800" b="0">
                <a:solidFill>
                  <a:srgbClr val="3D2C2C"/>
                </a:solidFill>
                <a:latin typeface="Microsoft YaHei"/>
                <a:ea typeface="Microsoft YaHei"/>
              </a:rPr>
              <a:t>桶排序：数据分布已知且近似均匀（或可以设计合适的映射函数使数据均匀落入桶中），桶内元素平均数量为O(1)。</a:t>
            </a:r>
          </a:p>
          <a:p>
            <a:pPr>
              <a:spcBef>
                <a:spcPts val="1000"/>
              </a:spcBef>
              <a:spcAft>
                <a:spcPts val="500"/>
              </a:spcAft>
            </a:pPr>
            <a:r>
              <a:rPr sz="1800" b="0">
                <a:solidFill>
                  <a:srgbClr val="3D2C2C"/>
                </a:solidFill>
                <a:latin typeface="Microsoft YaHei"/>
                <a:ea typeface="Microsoft YaHei"/>
              </a:rPr>
              <a:t>以上三种排序均要求额外空间，且都是非比较排序；它们打破了比较排序的O(n log n)下界，但牺牲了通用性。</a:t>
            </a:r>
          </a:p>
          <a:p>
            <a:pPr>
              <a:spcBef>
                <a:spcPts val="1000"/>
              </a:spcBef>
              <a:spcAft>
                <a:spcPts val="500"/>
              </a:spcAft>
            </a:pPr>
            <a:r>
              <a:rPr sz="1800" b="0">
                <a:solidFill>
                  <a:srgbClr val="3D2C2C"/>
                </a:solidFill>
                <a:latin typeface="Microsoft YaHei"/>
                <a:ea typeface="Microsoft YaHei"/>
              </a:rPr>
              <a:t>工程实践中，应优先评估数据特征是否满足线性排序条件，若不满足则退而使用O(n log n)的比较排序。</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第4章 线性时间排序</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43" name="Rectangle 42"/>
          <p:cNvSpPr/>
          <p:nvPr/>
        </p:nvSpPr>
        <p:spPr>
          <a:xfrm>
            <a:off x="0" y="0"/>
            <a:ext cx="12191695" cy="6858000"/>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0"/>
            <a:ext cx="12191695" cy="1828800"/>
          </a:xfrm>
          <a:prstGeom prst="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2" name="Rectangle 1"/>
          <p:cNvSpPr/>
          <p:nvPr/>
        </p:nvSpPr>
        <p:spPr>
          <a:xfrm>
            <a:off x="0" y="0"/>
            <a:ext cx="12191695" cy="180594"/>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6773880000"/>
            <a:ext cx="12191695" cy="180594"/>
          </a:xfrm>
          <a:prstGeom prst="rect">
            <a:avLst/>
          </a:prstGeom>
          <a:solidFill>
            <a:srgbClr val="FF8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3547760000"/>
            <a:ext cx="12191695" cy="180594"/>
          </a:xfrm>
          <a:prstGeom prst="rect">
            <a:avLst/>
          </a:prstGeom>
          <a:solidFill>
            <a:srgbClr val="FF9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70321640000"/>
            <a:ext cx="12191695" cy="180594"/>
          </a:xfrm>
          <a:prstGeom prst="rect">
            <a:avLst/>
          </a:prstGeom>
          <a:solidFill>
            <a:srgbClr val="FF9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7095520000"/>
            <a:ext cx="12191695" cy="180594"/>
          </a:xfrm>
          <a:prstGeom prst="rect">
            <a:avLst/>
          </a:prstGeom>
          <a:solidFill>
            <a:srgbClr val="FF9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83869400000"/>
            <a:ext cx="12191695" cy="180594"/>
          </a:xfrm>
          <a:prstGeom prst="rect">
            <a:avLst/>
          </a:prstGeom>
          <a:solidFill>
            <a:srgbClr val="FF9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40643280000"/>
            <a:ext cx="12191695" cy="1805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417160000"/>
            <a:ext cx="12191695" cy="180594"/>
          </a:xfrm>
          <a:prstGeom prst="rect">
            <a:avLst/>
          </a:prstGeom>
          <a:solidFill>
            <a:srgbClr val="FF9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254191040000"/>
            <a:ext cx="12191695" cy="180594"/>
          </a:xfrm>
          <a:prstGeom prst="rect">
            <a:avLst/>
          </a:prstGeom>
          <a:solidFill>
            <a:srgbClr val="FF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410964920000"/>
            <a:ext cx="12191695" cy="180594"/>
          </a:xfrm>
          <a:prstGeom prst="rect">
            <a:avLst/>
          </a:prstGeom>
          <a:solidFill>
            <a:srgbClr val="FF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567738800000"/>
            <a:ext cx="12191695" cy="180594"/>
          </a:xfrm>
          <a:prstGeom prst="rect">
            <a:avLst/>
          </a:prstGeom>
          <a:solidFill>
            <a:srgbClr val="FF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724512680000"/>
            <a:ext cx="12191695" cy="180594"/>
          </a:xfrm>
          <a:prstGeom prst="rect">
            <a:avLst/>
          </a:prstGeom>
          <a:solidFill>
            <a:srgbClr val="FFA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1881286560000"/>
            <a:ext cx="12191695" cy="180594"/>
          </a:xfrm>
          <a:prstGeom prst="rect">
            <a:avLst/>
          </a:prstGeom>
          <a:solidFill>
            <a:srgbClr val="FF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038060440000"/>
            <a:ext cx="12191695" cy="180594"/>
          </a:xfrm>
          <a:prstGeom prst="rect">
            <a:avLst/>
          </a:prstGeom>
          <a:solidFill>
            <a:srgbClr val="FFA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194834320000"/>
            <a:ext cx="12191695" cy="180594"/>
          </a:xfrm>
          <a:prstGeom prst="rect">
            <a:avLst/>
          </a:prstGeom>
          <a:solidFill>
            <a:srgbClr val="FFA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351608200000"/>
            <a:ext cx="12191695" cy="180594"/>
          </a:xfrm>
          <a:prstGeom prst="rect">
            <a:avLst/>
          </a:prstGeom>
          <a:solidFill>
            <a:srgbClr val="FFA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508382080000"/>
            <a:ext cx="12191695" cy="180594"/>
          </a:xfrm>
          <a:prstGeom prst="rect">
            <a:avLst/>
          </a:prstGeom>
          <a:solidFill>
            <a:srgbClr val="FF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665155960000"/>
            <a:ext cx="12191695" cy="180594"/>
          </a:xfrm>
          <a:prstGeom prst="rect">
            <a:avLst/>
          </a:prstGeom>
          <a:solidFill>
            <a:srgbClr val="FFB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821929840000"/>
            <a:ext cx="12191695" cy="180594"/>
          </a:xfrm>
          <a:prstGeom prst="rect">
            <a:avLst/>
          </a:prstGeom>
          <a:solidFill>
            <a:srgbClr val="FFB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2978703720000"/>
            <a:ext cx="12191695" cy="180594"/>
          </a:xfrm>
          <a:prstGeom prst="rect">
            <a:avLst/>
          </a:prstGeom>
          <a:solidFill>
            <a:srgbClr val="FFB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3135477600000"/>
            <a:ext cx="12191695" cy="180594"/>
          </a:xfrm>
          <a:prstGeom prst="rect">
            <a:avLst/>
          </a:prstGeom>
          <a:solidFill>
            <a:srgbClr val="FFB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3292251480000"/>
            <a:ext cx="12191695" cy="180594"/>
          </a:xfrm>
          <a:prstGeom prst="rect">
            <a:avLst/>
          </a:prstGeom>
          <a:solidFill>
            <a:srgbClr val="FFB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3449025360000"/>
            <a:ext cx="12191695" cy="180594"/>
          </a:xfrm>
          <a:prstGeom prst="rect">
            <a:avLst/>
          </a:prstGeom>
          <a:solidFill>
            <a:srgbClr val="FF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3605799240000"/>
            <a:ext cx="12191695" cy="180594"/>
          </a:xfrm>
          <a:prstGeom prst="rect">
            <a:avLst/>
          </a:prstGeom>
          <a:solidFill>
            <a:srgbClr val="FFC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762573120000"/>
            <a:ext cx="12191695" cy="180594"/>
          </a:xfrm>
          <a:prstGeom prst="rect">
            <a:avLst/>
          </a:prstGeom>
          <a:solidFill>
            <a:srgbClr val="FFC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919347000000"/>
            <a:ext cx="12191695" cy="180594"/>
          </a:xfrm>
          <a:prstGeom prst="rect">
            <a:avLst/>
          </a:prstGeom>
          <a:solidFill>
            <a:srgbClr val="FF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076120880000"/>
            <a:ext cx="12191695" cy="180594"/>
          </a:xfrm>
          <a:prstGeom prst="rect">
            <a:avLst/>
          </a:prstGeom>
          <a:solidFill>
            <a:srgbClr val="FFC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232894760000"/>
            <a:ext cx="12191695" cy="180594"/>
          </a:xfrm>
          <a:prstGeom prst="rect">
            <a:avLst/>
          </a:prstGeom>
          <a:solidFill>
            <a:srgbClr val="FFC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89668640000"/>
            <a:ext cx="12191695" cy="180594"/>
          </a:xfrm>
          <a:prstGeom prst="rect">
            <a:avLst/>
          </a:prstGeom>
          <a:solidFill>
            <a:srgbClr val="FF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546442520000"/>
            <a:ext cx="12191695" cy="180594"/>
          </a:xfrm>
          <a:prstGeom prst="rect">
            <a:avLst/>
          </a:prstGeom>
          <a:solidFill>
            <a:srgbClr val="FFC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703216400000"/>
            <a:ext cx="12191695" cy="180594"/>
          </a:xfrm>
          <a:prstGeom prst="rect">
            <a:avLst/>
          </a:prstGeom>
          <a:solidFill>
            <a:srgbClr val="FFD1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4859990280000"/>
            <a:ext cx="12191695" cy="180594"/>
          </a:xfrm>
          <a:prstGeom prst="rect">
            <a:avLst/>
          </a:prstGeom>
          <a:solidFill>
            <a:srgbClr val="FFD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016764160000"/>
            <a:ext cx="12191695" cy="180594"/>
          </a:xfrm>
          <a:prstGeom prst="rect">
            <a:avLst/>
          </a:prstGeom>
          <a:solidFill>
            <a:srgbClr val="FFD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5173538040000"/>
            <a:ext cx="12191695" cy="180594"/>
          </a:xfrm>
          <a:prstGeom prst="rect">
            <a:avLst/>
          </a:prstGeom>
          <a:solidFill>
            <a:srgbClr val="FFD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5330311920000"/>
            <a:ext cx="12191695" cy="180594"/>
          </a:xfrm>
          <a:prstGeom prst="rect">
            <a:avLst/>
          </a:prstGeom>
          <a:solidFill>
            <a:srgbClr val="FFD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5487085800000"/>
            <a:ext cx="12191695" cy="180594"/>
          </a:xfrm>
          <a:prstGeom prst="rect">
            <a:avLst/>
          </a:prstGeom>
          <a:solidFill>
            <a:srgbClr val="FFD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5643859680000"/>
            <a:ext cx="12191695" cy="180594"/>
          </a:xfrm>
          <a:prstGeom prst="rect">
            <a:avLst/>
          </a:prstGeom>
          <a:solidFill>
            <a:srgbClr val="FFD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800633560000"/>
            <a:ext cx="12191695" cy="180594"/>
          </a:xfrm>
          <a:prstGeom prst="rect">
            <a:avLst/>
          </a:prstGeom>
          <a:solidFill>
            <a:srgbClr val="FFE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5957407440000"/>
            <a:ext cx="12191695" cy="180594"/>
          </a:xfrm>
          <a:prstGeom prst="rect">
            <a:avLst/>
          </a:prstGeom>
          <a:solidFill>
            <a:srgbClr val="FFE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114181320000"/>
            <a:ext cx="12191695" cy="180594"/>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2286000" y="365760"/>
            <a:ext cx="7589520" cy="914400"/>
          </a:xfrm>
          <a:prstGeom prst="round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86000" y="411480"/>
            <a:ext cx="7589520" cy="822960"/>
          </a:xfrm>
          <a:prstGeom prst="rect">
            <a:avLst/>
          </a:prstGeom>
          <a:noFill/>
        </p:spPr>
        <p:txBody>
          <a:bodyPr wrap="none">
            <a:spAutoFit/>
          </a:bodyPr>
          <a:lstStyle/>
          <a:p>
            <a:pPr algn="ctr"/>
            <a:r>
              <a:rPr sz="3000" b="1">
                <a:solidFill>
                  <a:srgbClr val="FFFFFF"/>
                </a:solidFill>
                <a:latin typeface="Microsoft YaHei"/>
                <a:ea typeface="Microsoft YaHei"/>
              </a:rPr>
              <a:t>本章回顾：线性时间排序的核心要点</a:t>
            </a:r>
          </a:p>
        </p:txBody>
      </p:sp>
      <p:sp>
        <p:nvSpPr>
          <p:cNvPr id="46" name="Rounded Rectangle 45"/>
          <p:cNvSpPr/>
          <p:nvPr/>
        </p:nvSpPr>
        <p:spPr>
          <a:xfrm>
            <a:off x="1828800" y="1463040"/>
            <a:ext cx="8503920" cy="822960"/>
          </a:xfrm>
          <a:prstGeom prst="round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97280" y="150876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07007" y="1618488"/>
            <a:ext cx="329184" cy="329184"/>
          </a:xfrm>
          <a:prstGeom prst="rect">
            <a:avLst/>
          </a:prstGeom>
          <a:noFill/>
        </p:spPr>
        <p:txBody>
          <a:bodyPr wrap="square">
            <a:spAutoFit/>
          </a:bodyPr>
          <a:lstStyle/>
          <a:p>
            <a:pPr algn="ctr"/>
            <a:r>
              <a:rPr sz="2400" b="1">
                <a:solidFill>
                  <a:srgbClr val="FFFFFF"/>
                </a:solidFill>
              </a:rPr>
              <a:t>💡</a:t>
            </a:r>
          </a:p>
        </p:txBody>
      </p:sp>
      <p:sp>
        <p:nvSpPr>
          <p:cNvPr id="49" name="TextBox 48"/>
          <p:cNvSpPr txBox="1"/>
          <p:nvPr/>
        </p:nvSpPr>
        <p:spPr>
          <a:xfrm>
            <a:off x="2103120" y="1554480"/>
            <a:ext cx="8046720" cy="640080"/>
          </a:xfrm>
          <a:prstGeom prst="rect">
            <a:avLst/>
          </a:prstGeom>
          <a:noFill/>
        </p:spPr>
        <p:txBody>
          <a:bodyPr wrap="square">
            <a:spAutoFit/>
          </a:bodyPr>
          <a:lstStyle/>
          <a:p>
            <a:pPr algn="l"/>
            <a:r>
              <a:rPr sz="1800" b="0">
                <a:solidFill>
                  <a:srgbClr val="3D2C2C"/>
                </a:solidFill>
                <a:latin typeface="Microsoft YaHei"/>
                <a:ea typeface="Microsoft YaHei"/>
              </a:rPr>
              <a:t>线性时间排序利用数据特性（整数、范围小、均匀分布）实现O(n)复杂度，突破了比较排序的下界。</a:t>
            </a:r>
          </a:p>
        </p:txBody>
      </p:sp>
      <p:sp>
        <p:nvSpPr>
          <p:cNvPr id="50" name="Rounded Rectangle 49"/>
          <p:cNvSpPr/>
          <p:nvPr/>
        </p:nvSpPr>
        <p:spPr>
          <a:xfrm>
            <a:off x="1828800" y="2423160"/>
            <a:ext cx="8503920" cy="822960"/>
          </a:xfrm>
          <a:prstGeom prst="roundRect">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97280" y="246888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07007" y="2578608"/>
            <a:ext cx="329184" cy="329184"/>
          </a:xfrm>
          <a:prstGeom prst="rect">
            <a:avLst/>
          </a:prstGeom>
          <a:noFill/>
        </p:spPr>
        <p:txBody>
          <a:bodyPr wrap="square">
            <a:spAutoFit/>
          </a:bodyPr>
          <a:lstStyle/>
          <a:p>
            <a:pPr algn="ctr"/>
            <a:r>
              <a:rPr sz="2400" b="1">
                <a:solidFill>
                  <a:srgbClr val="FFFFFF"/>
                </a:solidFill>
              </a:rPr>
              <a:t>✓</a:t>
            </a:r>
          </a:p>
        </p:txBody>
      </p:sp>
      <p:sp>
        <p:nvSpPr>
          <p:cNvPr id="53" name="TextBox 52"/>
          <p:cNvSpPr txBox="1"/>
          <p:nvPr/>
        </p:nvSpPr>
        <p:spPr>
          <a:xfrm>
            <a:off x="2103120" y="2514600"/>
            <a:ext cx="8046720" cy="640080"/>
          </a:xfrm>
          <a:prstGeom prst="rect">
            <a:avLst/>
          </a:prstGeom>
          <a:noFill/>
        </p:spPr>
        <p:txBody>
          <a:bodyPr wrap="square">
            <a:spAutoFit/>
          </a:bodyPr>
          <a:lstStyle/>
          <a:p>
            <a:pPr algn="l"/>
            <a:r>
              <a:rPr sz="1800" b="0">
                <a:solidFill>
                  <a:srgbClr val="3D2C2C"/>
                </a:solidFill>
                <a:latin typeface="Microsoft YaHei"/>
                <a:ea typeface="Microsoft YaHei"/>
              </a:rPr>
              <a:t>计数排序：统计频次+前缀和，适用于整数且范围小的场景，稳定排序。</a:t>
            </a:r>
          </a:p>
        </p:txBody>
      </p:sp>
      <p:sp>
        <p:nvSpPr>
          <p:cNvPr id="54" name="Rounded Rectangle 53"/>
          <p:cNvSpPr/>
          <p:nvPr/>
        </p:nvSpPr>
        <p:spPr>
          <a:xfrm>
            <a:off x="1828800" y="3383280"/>
            <a:ext cx="8503920" cy="822960"/>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97280" y="342900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07007" y="3538728"/>
            <a:ext cx="329184" cy="329184"/>
          </a:xfrm>
          <a:prstGeom prst="rect">
            <a:avLst/>
          </a:prstGeom>
          <a:noFill/>
        </p:spPr>
        <p:txBody>
          <a:bodyPr wrap="square">
            <a:spAutoFit/>
          </a:bodyPr>
          <a:lstStyle/>
          <a:p>
            <a:pPr algn="ctr"/>
            <a:r>
              <a:rPr sz="2400" b="1">
                <a:solidFill>
                  <a:srgbClr val="FFFFFF"/>
                </a:solidFill>
              </a:rPr>
              <a:t>★</a:t>
            </a:r>
          </a:p>
        </p:txBody>
      </p:sp>
      <p:sp>
        <p:nvSpPr>
          <p:cNvPr id="57" name="TextBox 56"/>
          <p:cNvSpPr txBox="1"/>
          <p:nvPr/>
        </p:nvSpPr>
        <p:spPr>
          <a:xfrm>
            <a:off x="2103120" y="3474720"/>
            <a:ext cx="8046720" cy="640080"/>
          </a:xfrm>
          <a:prstGeom prst="rect">
            <a:avLst/>
          </a:prstGeom>
          <a:noFill/>
        </p:spPr>
        <p:txBody>
          <a:bodyPr wrap="square">
            <a:spAutoFit/>
          </a:bodyPr>
          <a:lstStyle/>
          <a:p>
            <a:pPr algn="l"/>
            <a:r>
              <a:rPr sz="1800" b="0">
                <a:solidFill>
                  <a:srgbClr val="3D2C2C"/>
                </a:solidFill>
                <a:latin typeface="Microsoft YaHei"/>
                <a:ea typeface="Microsoft YaHei"/>
              </a:rPr>
              <a:t>基数排序：按位多次稳定排序，适用于整数且位数固定的场景，时间复杂度O(d(n+k))。</a:t>
            </a:r>
          </a:p>
        </p:txBody>
      </p:sp>
      <p:sp>
        <p:nvSpPr>
          <p:cNvPr id="58" name="Rounded Rectangle 57"/>
          <p:cNvSpPr/>
          <p:nvPr/>
        </p:nvSpPr>
        <p:spPr>
          <a:xfrm>
            <a:off x="1828800" y="4343400"/>
            <a:ext cx="8503920" cy="822960"/>
          </a:xfrm>
          <a:prstGeom prst="round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97280" y="438912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07007" y="4498848"/>
            <a:ext cx="329184" cy="329184"/>
          </a:xfrm>
          <a:prstGeom prst="rect">
            <a:avLst/>
          </a:prstGeom>
          <a:noFill/>
        </p:spPr>
        <p:txBody>
          <a:bodyPr wrap="square">
            <a:spAutoFit/>
          </a:bodyPr>
          <a:lstStyle/>
          <a:p>
            <a:pPr algn="ctr"/>
            <a:r>
              <a:rPr sz="2400" b="1">
                <a:solidFill>
                  <a:srgbClr val="FFFFFF"/>
                </a:solidFill>
              </a:rPr>
              <a:t>⚙</a:t>
            </a:r>
          </a:p>
        </p:txBody>
      </p:sp>
      <p:sp>
        <p:nvSpPr>
          <p:cNvPr id="61" name="TextBox 60"/>
          <p:cNvSpPr txBox="1"/>
          <p:nvPr/>
        </p:nvSpPr>
        <p:spPr>
          <a:xfrm>
            <a:off x="2103120" y="4434840"/>
            <a:ext cx="8046720" cy="640080"/>
          </a:xfrm>
          <a:prstGeom prst="rect">
            <a:avLst/>
          </a:prstGeom>
          <a:noFill/>
        </p:spPr>
        <p:txBody>
          <a:bodyPr wrap="square">
            <a:spAutoFit/>
          </a:bodyPr>
          <a:lstStyle/>
          <a:p>
            <a:pPr algn="l"/>
            <a:r>
              <a:rPr sz="1800" b="0">
                <a:solidFill>
                  <a:srgbClr val="3D2C2C"/>
                </a:solidFill>
                <a:latin typeface="Microsoft YaHei"/>
                <a:ea typeface="Microsoft YaHei"/>
              </a:rPr>
              <a:t>桶排序：分桶后内部排序，适用于数据均匀分布的场景，平均O(n)。</a:t>
            </a:r>
          </a:p>
        </p:txBody>
      </p:sp>
      <p:sp>
        <p:nvSpPr>
          <p:cNvPr id="62" name="Rounded Rectangle 61"/>
          <p:cNvSpPr/>
          <p:nvPr/>
        </p:nvSpPr>
        <p:spPr>
          <a:xfrm>
            <a:off x="1828800" y="5303520"/>
            <a:ext cx="8503920" cy="822960"/>
          </a:xfrm>
          <a:prstGeom prst="roundRect">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97280" y="534924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07007" y="5458968"/>
            <a:ext cx="329184" cy="329184"/>
          </a:xfrm>
          <a:prstGeom prst="rect">
            <a:avLst/>
          </a:prstGeom>
          <a:noFill/>
        </p:spPr>
        <p:txBody>
          <a:bodyPr wrap="square">
            <a:spAutoFit/>
          </a:bodyPr>
          <a:lstStyle/>
          <a:p>
            <a:pPr algn="ctr"/>
            <a:r>
              <a:rPr sz="2400" b="1">
                <a:solidFill>
                  <a:srgbClr val="FFFFFF"/>
                </a:solidFill>
              </a:rPr>
              <a:t>♥</a:t>
            </a:r>
          </a:p>
        </p:txBody>
      </p:sp>
      <p:sp>
        <p:nvSpPr>
          <p:cNvPr id="65" name="TextBox 64"/>
          <p:cNvSpPr txBox="1"/>
          <p:nvPr/>
        </p:nvSpPr>
        <p:spPr>
          <a:xfrm>
            <a:off x="2103120" y="5394960"/>
            <a:ext cx="8046720" cy="640080"/>
          </a:xfrm>
          <a:prstGeom prst="rect">
            <a:avLst/>
          </a:prstGeom>
          <a:noFill/>
        </p:spPr>
        <p:txBody>
          <a:bodyPr wrap="square">
            <a:spAutoFit/>
          </a:bodyPr>
          <a:lstStyle/>
          <a:p>
            <a:pPr algn="l"/>
            <a:r>
              <a:rPr sz="1800" b="0">
                <a:solidFill>
                  <a:srgbClr val="3D2C2C"/>
                </a:solidFill>
                <a:latin typeface="Microsoft YaHei"/>
                <a:ea typeface="Microsoft YaHei"/>
              </a:rPr>
              <a:t>选择线性排序前必须分析数据特征：整数？范围多大？分布是否均匀？不能盲目使用。</a:t>
            </a:r>
          </a:p>
        </p:txBody>
      </p:sp>
      <p:sp>
        <p:nvSpPr>
          <p:cNvPr id="66" name="Rounded Rectangle 65"/>
          <p:cNvSpPr/>
          <p:nvPr/>
        </p:nvSpPr>
        <p:spPr>
          <a:xfrm>
            <a:off x="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457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914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371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828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2286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2743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32004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36576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1148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5720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029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5486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5943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6400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6858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315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77724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82296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6868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91440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9601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10058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10515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10972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11430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11887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第4章 线性时间排序</a:t>
            </a:r>
          </a:p>
        </p:txBody>
      </p:sp>
      <p:sp>
        <p:nvSpPr>
          <p:cNvPr id="94" name="TextBox 9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