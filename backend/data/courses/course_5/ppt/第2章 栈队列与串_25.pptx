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栈是一种操作受限的线性表，所有操作仅在栈顶进行。顺序实现时，我们通常用数组加一个整型变量top来模拟。入栈时top加1，出栈时top减1，注意边界条件。顺序栈的优点是访问速度快，缺点是大小固定，需提前分配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链栈相当于只在链表头部进行操作的单链表。入栈就是头插，出栈就是删除头结点。与顺序栈相比，链栈不会因为空间不足而溢出，但每个结点需要额外存储指针，空间开销稍大。选择哪种实现取决于实际需求中栈的最大深度是否可预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括号匹配是最直观的栈应用：从左到右扫描，左括号压栈，右括号与栈顶匹配则弹出，否则报错。表达式求值则更复杂，需要两个栈（操作数栈与操作符栈）配合，或者先转为后缀表达式再计算。这两个例子充分体现了栈“后进先出”的特性如何解决嵌套与回溯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普通顺序队列中，出队后前面的空间无法再利用，造成“假溢出”。循环队列通过取模运算将数组首尾相连，有效利用空间。注意为了区分队空与队满，通常牺牲一个存储单元：队满时rear+1等于front。循环队列是操作系统、网络缓冲等场景的基础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链队列实现简单，入队出队都是O(1)。但需要注意，如果链队列为空时，front和rear都指向头结点。出队时要判断队列是否只剩一个结点，如果是，出队后rear也要指向头结点。链队列常用于任务调度、消息队列等需要动态规模的场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串是特殊的线性表，每个数据元素是一个字符。实际应用中大多采用顺序存储，包括定长与动态两种。定长适合长度固定的场景，动态存储（如C语言中malloc）更灵活。链式存储因为存储密度低且操作不便，较少用于串，但在某些特殊场合（如文本编辑）仍有应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MP算法是串模式匹配的经典算法，由Knuth、Morris和Pratt共同提出。关键在于预处理模式串得到next数组，使得匹配过程中主串索引永不后退，从而保证线性时间。例如，模式串“ABABAC”的next数组有助于在失配时直接跳到正确位置。虽然实现稍复杂，但理解其“跳过”思想对算法设计很有启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3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91695" cy="228600"/>
          </a:xfrm>
          <a:prstGeom prst="rect">
            <a:avLst/>
          </a:prstGeom>
          <a:solidFill>
            <a:srgbClr val="0F3B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12191695" cy="228600"/>
          </a:xfrm>
          <a:prstGeom prst="rect">
            <a:avLst/>
          </a:prstGeom>
          <a:solidFill>
            <a:srgbClr val="0F3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228600"/>
          </a:xfrm>
          <a:prstGeom prst="rect">
            <a:avLst/>
          </a:prstGeom>
          <a:solidFill>
            <a:srgbClr val="1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0"/>
          </a:xfrm>
          <a:prstGeom prst="rect">
            <a:avLst/>
          </a:prstGeom>
          <a:solidFill>
            <a:srgbClr val="10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91695" cy="228600"/>
          </a:xfrm>
          <a:prstGeom prst="rect">
            <a:avLst/>
          </a:prstGeom>
          <a:solidFill>
            <a:srgbClr val="103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71600"/>
            <a:ext cx="12191695" cy="228600"/>
          </a:xfrm>
          <a:prstGeom prst="rect">
            <a:avLst/>
          </a:prstGeom>
          <a:solidFill>
            <a:srgbClr val="114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00200"/>
            <a:ext cx="12191695" cy="228600"/>
          </a:xfrm>
          <a:prstGeom prst="rect">
            <a:avLst/>
          </a:prstGeom>
          <a:solidFill>
            <a:srgbClr val="114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828800"/>
            <a:ext cx="12191695" cy="228600"/>
          </a:xfrm>
          <a:prstGeom prst="rect">
            <a:avLst/>
          </a:prstGeom>
          <a:solidFill>
            <a:srgbClr val="12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57400"/>
            <a:ext cx="12191695" cy="228600"/>
          </a:xfrm>
          <a:prstGeom prst="rect">
            <a:avLst/>
          </a:prstGeom>
          <a:solidFill>
            <a:srgbClr val="124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286000"/>
            <a:ext cx="12191695" cy="228600"/>
          </a:xfrm>
          <a:prstGeom prst="rect">
            <a:avLst/>
          </a:prstGeom>
          <a:solidFill>
            <a:srgbClr val="12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14600"/>
            <a:ext cx="12191695" cy="228600"/>
          </a:xfrm>
          <a:prstGeom prst="rect">
            <a:avLst/>
          </a:prstGeom>
          <a:solidFill>
            <a:srgbClr val="134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743200"/>
            <a:ext cx="12191695" cy="228600"/>
          </a:xfrm>
          <a:prstGeom prst="rect">
            <a:avLst/>
          </a:prstGeom>
          <a:solidFill>
            <a:srgbClr val="134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971800"/>
            <a:ext cx="12191695" cy="228600"/>
          </a:xfrm>
          <a:prstGeom prst="rect">
            <a:avLst/>
          </a:prstGeom>
          <a:solidFill>
            <a:srgbClr val="1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200400"/>
            <a:ext cx="12191695" cy="228600"/>
          </a:xfrm>
          <a:prstGeom prst="rect">
            <a:avLst/>
          </a:prstGeom>
          <a:solidFill>
            <a:srgbClr val="144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429000"/>
            <a:ext cx="12191695" cy="228600"/>
          </a:xfrm>
          <a:prstGeom prst="rect">
            <a:avLst/>
          </a:prstGeom>
          <a:solidFill>
            <a:srgbClr val="14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228600"/>
          </a:xfrm>
          <a:prstGeom prst="rect">
            <a:avLst/>
          </a:prstGeom>
          <a:solidFill>
            <a:srgbClr val="154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886200"/>
            <a:ext cx="12191695" cy="228600"/>
          </a:xfrm>
          <a:prstGeom prst="rect">
            <a:avLst/>
          </a:prstGeom>
          <a:solidFill>
            <a:srgbClr val="154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114800"/>
            <a:ext cx="12191695" cy="228600"/>
          </a:xfrm>
          <a:prstGeom prst="rect">
            <a:avLst/>
          </a:prstGeom>
          <a:solidFill>
            <a:srgbClr val="154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343400"/>
            <a:ext cx="12191695" cy="228600"/>
          </a:xfrm>
          <a:prstGeom prst="rect">
            <a:avLst/>
          </a:prstGeom>
          <a:solidFill>
            <a:srgbClr val="16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228600"/>
          </a:xfrm>
          <a:prstGeom prst="rect">
            <a:avLst/>
          </a:prstGeom>
          <a:solidFill>
            <a:srgbClr val="16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800600"/>
            <a:ext cx="12191695" cy="228600"/>
          </a:xfrm>
          <a:prstGeom prst="rect">
            <a:avLst/>
          </a:prstGeom>
          <a:solidFill>
            <a:srgbClr val="16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29200"/>
            <a:ext cx="12191695" cy="228600"/>
          </a:xfrm>
          <a:prstGeom prst="rect">
            <a:avLst/>
          </a:prstGeom>
          <a:solidFill>
            <a:srgbClr val="17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257800"/>
            <a:ext cx="12191695" cy="228600"/>
          </a:xfrm>
          <a:prstGeom prst="rect">
            <a:avLst/>
          </a:prstGeom>
          <a:solidFill>
            <a:srgbClr val="17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486400"/>
            <a:ext cx="12191695" cy="228600"/>
          </a:xfrm>
          <a:prstGeom prst="rect">
            <a:avLst/>
          </a:prstGeom>
          <a:solidFill>
            <a:srgbClr val="185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715000"/>
            <a:ext cx="12191695" cy="228600"/>
          </a:xfrm>
          <a:prstGeom prst="rect">
            <a:avLst/>
          </a:prstGeom>
          <a:solidFill>
            <a:srgbClr val="185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943600"/>
            <a:ext cx="12191695" cy="228600"/>
          </a:xfrm>
          <a:prstGeom prst="rect">
            <a:avLst/>
          </a:prstGeom>
          <a:solidFill>
            <a:srgbClr val="18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172200"/>
            <a:ext cx="12191695" cy="228600"/>
          </a:xfrm>
          <a:prstGeom prst="rect">
            <a:avLst/>
          </a:prstGeom>
          <a:solidFill>
            <a:srgbClr val="195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19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800" y="-1371600"/>
            <a:ext cx="3657600" cy="36576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-1371600" y="5029200"/>
            <a:ext cx="2743200" cy="27432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2011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第2章 栈、队列与串 · 概述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8404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8C8FA"/>
                </a:solidFill>
                <a:latin typeface="Microsoft YaHei"/>
                <a:ea typeface="Microsoft YaHei"/>
              </a:rPr>
              <a:t>第2章 栈、队列与串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8C8FA"/>
                </a:solidFill>
                <a:latin typeface="Microsoft YaHei"/>
                <a:ea typeface="Microsoft YaHei"/>
              </a:rPr>
              <a:t>第2章 栈、队列与串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栈的定义与顺序实现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定义：只允许在一端进行插入和删除的线性表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栈顶（Top）与栈底（Bottom）的概念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顺序栈：用静态数组存储，top指针标记栈顶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基本操作：入栈（push）、出栈（pop）、读栈顶（peek）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注意：栈满（数组越界）与栈空（top == -1）的判断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第2章 栈、队列与串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栈的链式实现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链栈：以单链表为基础，栈顶即为链头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入栈：头插法插入新结点，时间复杂度O(1)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出栈：删除头结点，时间复杂度O(1)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优点：动态扩展，无栈满限制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与顺序栈对比：空间效率与操作性能权衡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第2章 栈、队列与串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栈的应用：括号匹配与表达式求值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括号匹配：遇左括号入栈，遇右括号弹出并检查匹配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表达式求值：中缀转后缀（逆波兰式）利用栈操作符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后缀表达式求值：数字入栈，遇运算符弹出两个数计算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典型示例：((3+5)*2) → 后缀：3 5 + 2 * → 结果16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栈在编译原理、函数调用等场景的核心作用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第2章 栈、队列与串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队列的定义与顺序实现（循环队列）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定义：只允许在一端插入（队尾），另一端删除（队头）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顺序队列：数组+front/rear指针，存在“假溢出”问题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循环队列：通过取模运算将数组视为环形空间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关键操作：入队 (rear+1)%MaxSize，出队 (front+1)%MaxSize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队空条件：front == rear；队满条件：(rear+1)%MaxSize == front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第2章 栈、队列与串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队列的链式实现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链队列：带头结点的单链表，front指向头结点，rear指向尾结点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入队：在rear后插入新结点，更新rear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出队：删除front的下一个结点（注意空队列处理）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优点：无固定长度限制，适合数据量不确定的场景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与循环队列对比：空间动态性 vs 时间常数因子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第2章 栈、队列与串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串的基本概念与存储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串：由零个或多个字符组成的有限序列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子串、主串、模式串、位置等基本术语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顺序存储：定长顺序串（静态数组）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堆分配存储：动态分配字符数组，长度可变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链式存储：每个结点存储多个字符（块链），效率较低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第2章 栈、队列与串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KMP算法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目标：在主串中高效查找模式串，避免重复回溯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核心思想：利用已匹配部分的信息，跳过无谓的字符比较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next数组：记录模式串中每个位置的最长相等前后缀长度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匹配过程：主串指针i不回溯，模式串指针j依据next跳转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时间复杂度：O(n+m)，比朴素算法的O(n*m)大幅提升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第2章 栈、队列与串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