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首先，我们需要学会区分不同的物质和变化。纯净物只有一种成分，而混合物有多种。物理变化只是形态改变，化学变化则产生了新物质。记住一个口诀：物变无形变，化变生新质。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原子是化学世界的'砖块'，元素则是原子的'家族'。比如氢元素包括所有质子数为1的原子。记住：元素是宏观概念，原子是微观粒子。你身体里就有几十种元素在协同工作。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原子就像一个微缩的太阳系：原子核是'太阳'，电子是'行星'。质子带正电，中子不带电，它们紧紧抱在一起；电子带负电，在核外高速运动。正是这种结构决定了元素的化学性质。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记住：原子序数是元素的'身份证号'，只要质子数相同就是同一种元素。但中子数可以不同，这就是同位素。比如氘和氚是氢的同位素，它们化学性质相似但质量不同，氘常用于核反应。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电子不是随意乱跑的，它们按能量高低分层排布：第一层最多2个，第二层最多8个……最外层电子特别关键，它决定了原子是否容易与其他原子结合。比如钠最外层只有1个电子，很容易失去，所以化学性质活泼。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我们建立了一个从宏观物质到微观原子的认知链条。请同学们课后绘制一张'原子结构思维导图'，将质子、中子、电子、原子序数、同位素这些概念串联起来。下一章我们将用这些知识理解元素周期表的神奇规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3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91695" cy="228600"/>
          </a:xfrm>
          <a:prstGeom prst="rect">
            <a:avLst/>
          </a:prstGeom>
          <a:solidFill>
            <a:srgbClr val="0F3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91695" cy="228600"/>
          </a:xfrm>
          <a:prstGeom prst="rect">
            <a:avLst/>
          </a:prstGeom>
          <a:solidFill>
            <a:srgbClr val="0F3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228600"/>
          </a:xfrm>
          <a:prstGeom prst="rect">
            <a:avLst/>
          </a:prstGeom>
          <a:solidFill>
            <a:srgbClr val="1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0"/>
          </a:xfrm>
          <a:prstGeom prst="rect">
            <a:avLst/>
          </a:prstGeom>
          <a:solidFill>
            <a:srgbClr val="10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91695" cy="228600"/>
          </a:xfrm>
          <a:prstGeom prst="rect">
            <a:avLst/>
          </a:prstGeom>
          <a:solidFill>
            <a:srgbClr val="1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71600"/>
            <a:ext cx="12191695" cy="228600"/>
          </a:xfrm>
          <a:prstGeom prst="rect">
            <a:avLst/>
          </a:prstGeom>
          <a:solidFill>
            <a:srgbClr val="11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00200"/>
            <a:ext cx="12191695" cy="228600"/>
          </a:xfrm>
          <a:prstGeom prst="rect">
            <a:avLst/>
          </a:prstGeom>
          <a:solidFill>
            <a:srgbClr val="114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228600"/>
          </a:xfrm>
          <a:prstGeom prst="rect">
            <a:avLst/>
          </a:prstGeom>
          <a:solidFill>
            <a:srgbClr val="12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57400"/>
            <a:ext cx="12191695" cy="228600"/>
          </a:xfrm>
          <a:prstGeom prst="rect">
            <a:avLst/>
          </a:prstGeom>
          <a:solidFill>
            <a:srgbClr val="124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286000"/>
            <a:ext cx="12191695" cy="228600"/>
          </a:xfrm>
          <a:prstGeom prst="rect">
            <a:avLst/>
          </a:prstGeom>
          <a:solidFill>
            <a:srgbClr val="12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14600"/>
            <a:ext cx="12191695" cy="228600"/>
          </a:xfrm>
          <a:prstGeom prst="rect">
            <a:avLst/>
          </a:prstGeom>
          <a:solidFill>
            <a:srgbClr val="13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743200"/>
            <a:ext cx="12191695" cy="228600"/>
          </a:xfrm>
          <a:prstGeom prst="rect">
            <a:avLst/>
          </a:prstGeom>
          <a:solidFill>
            <a:srgbClr val="13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971800"/>
            <a:ext cx="12191695" cy="228600"/>
          </a:xfrm>
          <a:prstGeom prst="rect">
            <a:avLst/>
          </a:prstGeom>
          <a:solidFill>
            <a:srgbClr val="1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200400"/>
            <a:ext cx="12191695" cy="228600"/>
          </a:xfrm>
          <a:prstGeom prst="rect">
            <a:avLst/>
          </a:prstGeom>
          <a:solidFill>
            <a:srgbClr val="144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429000"/>
            <a:ext cx="12191695" cy="228600"/>
          </a:xfrm>
          <a:prstGeom prst="rect">
            <a:avLst/>
          </a:prstGeom>
          <a:solidFill>
            <a:srgbClr val="14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228600"/>
          </a:xfrm>
          <a:prstGeom prst="rect">
            <a:avLst/>
          </a:prstGeom>
          <a:solidFill>
            <a:srgbClr val="154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886200"/>
            <a:ext cx="12191695" cy="228600"/>
          </a:xfrm>
          <a:prstGeom prst="rect">
            <a:avLst/>
          </a:prstGeom>
          <a:solidFill>
            <a:srgbClr val="154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114800"/>
            <a:ext cx="12191695" cy="228600"/>
          </a:xfrm>
          <a:prstGeom prst="rect">
            <a:avLst/>
          </a:prstGeom>
          <a:solidFill>
            <a:srgbClr val="154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343400"/>
            <a:ext cx="12191695" cy="228600"/>
          </a:xfrm>
          <a:prstGeom prst="rect">
            <a:avLst/>
          </a:prstGeom>
          <a:solidFill>
            <a:srgbClr val="16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228600"/>
          </a:xfrm>
          <a:prstGeom prst="rect">
            <a:avLst/>
          </a:prstGeom>
          <a:solidFill>
            <a:srgbClr val="16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12191695" cy="228600"/>
          </a:xfrm>
          <a:prstGeom prst="rect">
            <a:avLst/>
          </a:prstGeom>
          <a:solidFill>
            <a:srgbClr val="16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2191695" cy="228600"/>
          </a:xfrm>
          <a:prstGeom prst="rect">
            <a:avLst/>
          </a:prstGeom>
          <a:solidFill>
            <a:srgbClr val="17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257800"/>
            <a:ext cx="12191695" cy="228600"/>
          </a:xfrm>
          <a:prstGeom prst="rect">
            <a:avLst/>
          </a:prstGeom>
          <a:solidFill>
            <a:srgbClr val="17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00"/>
            <a:ext cx="12191695" cy="228600"/>
          </a:xfrm>
          <a:prstGeom prst="rect">
            <a:avLst/>
          </a:prstGeom>
          <a:solidFill>
            <a:srgbClr val="185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715000"/>
            <a:ext cx="12191695" cy="228600"/>
          </a:xfrm>
          <a:prstGeom prst="rect">
            <a:avLst/>
          </a:prstGeom>
          <a:solidFill>
            <a:srgbClr val="185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43600"/>
            <a:ext cx="12191695" cy="228600"/>
          </a:xfrm>
          <a:prstGeom prst="rect">
            <a:avLst/>
          </a:prstGeom>
          <a:solidFill>
            <a:srgbClr val="18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172200"/>
            <a:ext cx="12191695" cy="228600"/>
          </a:xfrm>
          <a:prstGeom prst="rect">
            <a:avLst/>
          </a:prstGeom>
          <a:solidFill>
            <a:srgbClr val="195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19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课程导入：化学是什么？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8C8FA"/>
                </a:solidFill>
                <a:latin typeface="Microsoft YaHei"/>
                <a:ea typeface="Microsoft YaHei"/>
              </a:rPr>
              <a:t>第1章 化学基础概念与原子结构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8C8FA"/>
                </a:solidFill>
                <a:latin typeface="Microsoft YaHei"/>
                <a:ea typeface="Microsoft YaHei"/>
              </a:rPr>
              <a:t>第1章 化学基础概念与原子结构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物质与变化的分类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物质分类：纯净物（单质、化合物）与混合物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物理变化：没有新物质生成（如冰融化成水）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化学变化：有新物质生成（如铁生锈）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判断依据：是否有新分子或新原子组合产生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第1章 化学基础概念与原子结构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原子与元素：物质的基本单元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原子：化学变化中的最小微粒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元素：具有相同核电荷数（质子数）的一类原子的总称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目前已知118种元素，组成千万种物质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元素符号：H、O、C、N等（国际统一）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第1章 化学基础概念与原子结构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原子结构：质子、中子与电子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原子核：质子（正电荷）+ 中子（不带电）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核外电子（负电荷）绕核运动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质子和中子质量相近，电子质量极小（约1/1836）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原子整体呈电中性（质子数 = 电子数）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第1章 化学基础概念与原子结构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原子序数、质量数与同位素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原子序数 = 质子数（决定元素种类）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质量数 = 质子数 + 中子数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同位素：同一元素中，中子数不同的原子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例：氢有三种同位素：氕（¹H）、氘（²H）、氚（³H）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第1章 化学基础概念与原子结构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电子排布与能级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电子在原子核外分层排布（K、L、M、N层）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每层最多容纳电子数：2n²（n为层数）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最外层电子数决定元素的化学性质（价电子）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稀有气体最外层为8电子（稳定结构）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第1章 化学基础概念与原子结构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本章小结：从宏观到微观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物质→ 分子/原子 → 原子核+电子 → 质子+中子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元素由质子数定义，同位素由中子数区分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电子排布决定元素周期律与化学键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后章预告：元素周期表与化学键入门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第1章 化学基础概念与原子结构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