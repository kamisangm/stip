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最好情况</c:v>
                </c:pt>
              </c:strCache>
            </c:strRef>
          </c:tx>
          <c:spPr>
            <a:solidFill>
              <a:srgbClr val="FF8C42"/>
            </a:solidFill>
          </c:spPr>
          <c:cat>
            <c:strRef>
              <c:f>Sheet1!$A$2:$A$6</c:f>
              <c:strCache>
                <c:ptCount val="5"/>
                <c:pt idx="0">
                  <c:v>冒泡排序</c:v>
                </c:pt>
                <c:pt idx="1">
                  <c:v>选择排序</c:v>
                </c:pt>
                <c:pt idx="2">
                  <c:v>插入排序</c:v>
                </c:pt>
                <c:pt idx="3">
                  <c:v>归并排序</c:v>
                </c:pt>
                <c:pt idx="4">
                  <c:v>快速排序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1000000</c:v>
                </c:pt>
                <c:pt idx="2">
                  <c:v>1000</c:v>
                </c:pt>
                <c:pt idx="3">
                  <c:v>10000</c:v>
                </c:pt>
                <c:pt idx="4">
                  <c:v>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最坏情况</c:v>
                </c:pt>
              </c:strCache>
            </c:strRef>
          </c:tx>
          <c:spPr>
            <a:solidFill>
              <a:srgbClr val="4ECDC4"/>
            </a:solidFill>
          </c:spPr>
          <c:cat>
            <c:strRef>
              <c:f>Sheet1!$A$2:$A$6</c:f>
              <c:strCache>
                <c:ptCount val="5"/>
                <c:pt idx="0">
                  <c:v>冒泡排序</c:v>
                </c:pt>
                <c:pt idx="1">
                  <c:v>选择排序</c:v>
                </c:pt>
                <c:pt idx="2">
                  <c:v>插入排序</c:v>
                </c:pt>
                <c:pt idx="3">
                  <c:v>归并排序</c:v>
                </c:pt>
                <c:pt idx="4">
                  <c:v>快速排序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1000000</c:v>
                </c:pt>
                <c:pt idx="1">
                  <c:v>1000000</c:v>
                </c:pt>
                <c:pt idx="2">
                  <c:v>1000000</c:v>
                </c:pt>
                <c:pt idx="3">
                  <c:v>10000</c:v>
                </c:pt>
                <c:pt idx="4">
                  <c:v>1000000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认识排序本身。什么是排序？简单说，就是把一堆杂乱的东西按某个规则排好队。比如按身高排队、按成绩排名。在计算机里，排序就是将一个数据集合按关键字重新排列。这里有一个关键概念叫稳定性。大家想想，如果两个同学考了相同的分数，在按分数排序后，他们原来的先后顺序是否保持不变？如果保持不变，这个排序算法就是稳定的。稳定性在现实数据处理中很有价值，比如我们先把学生按班级排序（稳定），然后按成绩排序，这样同分的学生仍然按班级顺序排列。下面这个例子大家感受一下：序列里有3a和3b，稳定排序后3a一定在3b前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一个排序算法好不好，我们主要看两个指标：时间和空间。时间复杂度告诉我们当数据量变大时，程序运行时间会怎么变。比如冒泡排序的时间复杂度是O(n²)，意思是当数据量翻倍，时间大约变成4倍。而快速排序是O(n log n)，增长慢得多。大O符号是计算机科学中描述算法渐近行为的标准方式。大家要记住：大O只关心增长趋势，不关心具体常数。比如两个算法都是O(n²)，但一个常数小，实际性能更好。空间复杂度则看算法需要额外多少内存。原地排序（如插入排序）只需要常数个额外变量，空间复杂度为O(1)；而归并排序需要额外数组，空间复杂度为O(n)。另外，算法在不同输入下表现可能不同，我们要关注最坏情况以保证性能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柱状图对比了五种常见排序算法在输入规模n=1000时的操作次数估计值。大家可以看到，冒泡排序在最坏情况下需要约100万次操作，而快速排序最坏情况下也是100万次（当输入已经有序且选轴不佳时），但平均情况快速排序只有约1万次。归并排序的最坏和最好情况都非常稳定，都是约1万次。这个图告诉我们，虽然都是排序，但不同算法的时间开销差别巨大。实际开发中，我们通常避免使用O(n²)的算法，除非数据量很小。注意，纵轴采用了对数尺度，所以看起来差距不大，但实际数值相差成百上千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如何客观地衡量一个排序算法的好坏？主要有两种方法。第一种是理论分析，也就是用数学推导出复杂度函数，这让我们脱离具体硬件和编程语言看本质。第二种是实验评估，就是写代码跑一跑，统计时间。两种方法各有优势：理论分析给出增长趋势，实验评估给出实际常数。除了时间，我们还可以细化到比较次数和交换次数，因为有些操作非常耗时（比如移动大对象）。比如插入排序，在数据基本有序时比较次数很少；而选择排序无论数据如何，比较次数都是固定的n²/2。这些细节在工程中很有用，比如对链表排序时，移动代价可能比比较代价大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排序问题可以从多个维度进行分类。首先看是否基于比较：比较排序是最通用的一类，只要实现比较器就能排序任何可比较对象。但它的时间复杂度下限是n log n。而非比较排序利用数据本身的数值范围，比如计数排序，可以做到线性时间，但只适用于非负整数且范围不大的情况。其次，按数据能否全放入内存分为内部排序和外部排序。内部排序就是我们通常学习的那些算法。外部排序处理海量数据，比如对1TB的日志文件排序，必须使用外部排序策略，通常采用归并排序的思想，分块读入内存排序后再写回磁盘，最后多路归并。理解这些分类，有助于我们在实际应用中选择合适的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了这么多排序算法，到底在实际项目中该用哪个呢？这里有一些经验法则。如果数据量很小，比如不到100个元素，插入排序往往是最快的，因为它的常数极小，而且代码简单。如果数据量大且要求稳定，归并排序是稳妥的选择。Java语言对对象排序默认就是用归并（稳定）。如果不需要稳定，快速排序是工业界最常用的，因为它平均性能极好，但要注意避免最坏情况，常用的办法是随机选取基准。另外，如果数据本身有特点，比如整数范围小，计数排序可以快到O(n)。还有，如果数据已经基本有序，插入排序几乎就是线性时间。总之，没有万能的排序算法，要根据场景灵活选择。这也是我们将要深入学习各种排序算法的意义所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，我们来检验一下大家是否真的理解了本章内容。请看这四个思考题，我们先给大家一分钟思考，然后我会进行解析。第一个问题，如果一个算法最坏O(n²)，最好O(n)，那很可能是插入排序，因为插入排序在输入已经有序时只需要n-1次比较，所以最好O(n)；但最坏时完全逆序，需要约n²/2次比较，所以O(n²)。第二个问题，512MB文件，内存只有256MB，无法一次性装入，所以必须使用外部排序。第三个问题，当然是稳定排序，比如归并排序。第四个问题，不矛盾，因为渐近分析忽略常数和低阶项，当n很小时，O(n²)算法的常数可能远小于O(n log n)算法的常数，所以插入排序反而快。这告诉我们理论分析要结合实际场景。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我们回顾一下本章的重点。首先，我们理解了排序的定义和稳定性，稳定排序在现实数据处理中非常重要。其次，我们学会了用时间复杂度和空间复杂度来理论评价算法，大O符号是基本工具。第三，我们了解了度量算法的两种方法——理论分析和实验评估，并知道了比较次数、交换次数等细节指标。最后，我们学习了排序问题的两种主要分类方式——比较/非比较和内部/外部排序，这为我们后续学习具体算法做好了铺垫。下一章我们将正式进入几种经典简单排序算法的学习，包括冒泡、选择、插入排序。请大家思考一下，它们的时间复杂度分别是多少？各有什么优缺点？我们下节课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排序算法：从无序到有序的智慧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一、排序的定义与稳定性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排序是指将一组数据元素按照某个关键字（如数值大小、字母顺序）重新排列为递增或递减序列的过程。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稳定的排序算法能够保持相等元素在排序前后的相对顺序不变，例如按成绩排序时，同分的学生保持原来的学号顺序。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稳定性在实际应用中非常重要，比如数据库多字段排序时，需要先按主键稳定排序，再按次键稳定排序才能得到正确结果。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一个简单例子：序列[3a, 1, 3b, 2]稳定排序后为[1, 2, 3a, 3b]；不稳定排序可能变成[1, 2, 3b, 3a]。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二、时间复杂度与空间复杂度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时间复杂度衡量算法运行所需的计算步骤随输入规模n的增长趋势，常用大O记号表示，如O(n²)、O(n log n)。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空间复杂度衡量算法执行过程中额外占用的内存空间，同样用大O表示，例如原地排序的空间复杂度为O(1)。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最坏时间复杂度、平均时间复杂度和最好时间复杂度分别对应不同输入情况下的表现，例如快速排序最坏O(n²)，平均O(n log n)。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注意：大O忽略常数和低阶项，只关注增长趋势，因此O(2n+100)实际记为O(n)。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三、常见排序算法时间复杂度对比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0" y="11887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柱状图直观展示了不同算法在最好和最坏情况下的操作次数差异，n=1000时最坏情况下冒泡、选择、插入需百万级操作。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归并排序和快速排序在最坏和最好情况下的操作次数相对接近，体现了更稳定的性能。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注意：图中纵轴为对数尺度，实际数值差异巨大，工程中应优先选择O(n log n)级别算法。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Microsoft YaHei"/>
                <a:ea typeface="Microsoft YaHei"/>
              </a:rPr>
              <a:t>📊 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四、算法度量方法——如何评判排序算法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理论分析：通过数学模型推导出时间复杂度和空间复杂度，不依赖具体机器和编程语言，具有普适性。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实验评估：在真实计算机上运行算法，统计实际运行时间和内存占用，需注意测试数据规模和多样性。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比较指标：包括比较次数、交换次数、移动次数等，这些操作与具体实现紧密相关，也影响实际性能。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例如，插入排序的比较次数约为n²/4，而交换次数与逆序对有关；归并排序的比较次数稳定为n log n级别的。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五、排序问题的分类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按是否基于比较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按数据存储位置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比较排序：通过比较元素大小确定顺序，如冒泡、快速、归并等；任何比较排序在最坏情况下至少需要Ω(n log n)次比较。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非比较排序：不依赖比较操作，利用数据本身的特性，如计数排序、基数排序、桶排序，时间复杂度可达到O(n)。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适用场景：非比较排序通常要求数据范围有限且可映射为整数，通用性不如比较排序。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内部排序：所有数据均可装入内存，排序过程在内存中完成，如快速排序、堆排序。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外部排序：数据量大无法一次装入内存，需要借助外部存储（磁盘）进行多路归并，常见于数据库和大数据处理。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外部排序的核心技术是归并排序的变种，通过多趟归并和缓冲区管理减少磁盘IO。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六、排序算法的工程选型原则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数据规模小（n &lt; 100）时，简单算法如插入排序、选择排序代码简洁且常数小，实际性能可能优于复杂算法。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数据规模大且需要稳定排序时，优先考虑归并排序或C++中stable_sort（归并变种）。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数据规模大且不需要稳定排序时，快速排序是默认首选（平均性能最优），但需注意最坏情况优化（如随机选轴）。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若数据有特殊规律（如数值范围小、已接近有序），可选用计数排序或插入排序等针对性算法。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实际系统如Java的Arrays.sort()对基本类型使用双轴快速排序，对对象使用归并排序（稳定）。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七、互动检验：你掌握了吗？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思考题1：一个排序算法在最坏情况下时间复杂度为O(n²)，最好情况下为O(n)。它可能是哪种排序？为什么？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思考题2：现有一个包含1000万个随机整数的文件（512MB），你的电脑内存只有256MB，应选用内部排序还是外部排序？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思考题3：若要求排序后相等元素的原始顺序保持不变，应该选择稳定排序还是不稳定排序？请举例说明。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思考题4：插入排序在数据量n=10时实测比快速排序还快，这一现象是否矛盾？请从常数和渐近分析角度解释。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本章总结：排序基础核心要点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排序是将数据按关键字有序排列的操作，稳定性是保持相等元素相对顺序的重要属性。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时间复杂度和空间复杂度是评价排序算法的两大理论指标，大O表示法描述了渐近增长趋势。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算法度量方法包括理论分析和实验评估，需考虑比较次数、交换次数等具体操作。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排序问题可按是否基于比较（比较/非比较）和数据存储位置（内部/外部）分类，不同分类对应不同应用场景。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排序基础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