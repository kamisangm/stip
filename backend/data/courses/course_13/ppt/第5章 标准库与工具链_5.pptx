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学们，我们先来看fmt包。这个包可以说是Go语言中使用频率最高的包之一，甚至可以说没有之一。它的主要作用就是做格式化的输入和输出。比如咱们之前反复用过的Printf，就是通过一个格式化字符串加上可变参数，来精确控制输出的样子。这里的格式化动词非常灵活，比如%d输出整数，%s输出字符串，而%v会智能地输出任意变量的默认格式，很多时候省去了我们手动拼字符串的麻烦。另外，Sprintf这个函数特别实用——它不会直接打印到屏幕，而是将结果作为字符串返回，这样我们就可以把它拼接到日志消息里，或者存入变量中。更强大的是Fprintf，它可以将格式化的内容写入任何实现了io.Writer接口的地方，比如文件或者网络连接。最后，如果想让自己的结构体有漂亮的默认输出，只需要实现一个String()方法，fmt包就会自动调用它。这部分内容非常重要，大家要仔细体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我们看io包。如果说fmt包是格式化输出的门面，那io包就是底层数据流动的骨架。io包定义了非常简洁但极其强大的两个接口：Reader和Writer。为什么说它们重要？因为几乎所有与输入输出相关的操作——读文件、写网络、压缩数据、甚至加密——最终都通过这两个接口来互动。Reader接口的Read方法，每次尝试从数据源读取字节并填入给定的字节切片，返回值告诉你读了多少字节以及是否有错误。Writer则相反，把字节切片里的数据写到目标地方去。这种高度抽象的接口设计，使得我们可以灵活地组合不同的读写行为。比如，用bufio包包装一个Reader，就能实现带缓冲的读取，大幅提升IO效率。此外，io.Copy这个函数也很神奇，它可以直接把一个Reader的内容全部复制到一个Writer中，无需你自己写循环。理解这些接口，你就掌握了Go中处理任何IO操作的钥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在我们来谈谈最常用的文件操作。在Go中，文件IO主要由os包来负责。最基础的打开文件函数是os.Open，它返回一个文件对象指针，我们可以用这个对象调用Read方法读取数据。如果你要创建新文件或者覆盖旧文件，可以用os.Create。对于小文件，比如配置文件，Go提供了两个非常方便的函数：os.ReadFile可以一次性把整个文件读进内存；os.WriteFile可以直接把字节切片写入文件，省去了打开和关闭的步骤。但如果是大型日志文件，这种一次性读取的方式就不太合适了，因为它会占用大量内存。这时我们就需要用bufio.Scanner，它可以按行读取文件，每次只处理一行数据，既节省内存又简单易用。此外，千万不要忘记在操作完文件后调用Close方法，或者使用defer语句确保文件正确关闭。文件操作是开发中的高频场景，大家一定要动手练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当我们需要处理日期和时间，就得请出time包。Go语言的时间处理思路非常独特，尤其是那个让很多新手困惑的格式化方式：Go不是用常见的YYYY-MM-DD，而是用一个固定的时间点——2006年1月2日15点04分05秒——作为模板。所以，如果你要格式化当前时间为"2025-04-01"，就得写time.Now().Format("2006-01-02")。虽然一开始可能不习惯，但只要记住了这个魔数，就永远不会出错。Duration是time包中另一个核心类型，代表一段时间间隔，最小单位是纳秒。你可以给一个Time对象加上某个Duration，得到新的时间点。另外，time.Sleep可以让程序暂停一段时间，这在制作计时器或者限制请求速率时非常有用。更高级的，还有time.Ticker可以实现周期性任务。学会time包，你的程序就能跟现实世界的时间精确同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学们，我们写代码最重要的就是确保它是正确的。Go语言在标准库中就内置了测试工具，这一点非常方便。你只需要创建一个以_test.go结尾的文件，比如myfunc_test.go，然后导入testing包，再写一个函数名以Test开头，参数是*testing.T，就可以开始编写测试了。在这个测试函数里，你可以调用你要测试的函数，然后把结果跟期望值做比较，如果不一致，就用t.Errorf来报告错误。其实，写测试一点也不神秘，它可以看作是一种自动化的、可重复执行的代码验证过程。另外，Go社区特别推崇一种叫“表格驱动测试”的模式，就是将一个测试函数拆分成多个测试用例，每个用例有独立的输入和期望输出，然后循环执行。这样不但代码简洁，而且覆盖全面。最后记得，只要在命令行项目根目录下运行go test，所有测试就会自动执行，加上-v会显示每个测试的详细名字和结果。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除了单元测试，Go还提供了强大的基准测试功能，用于评估代码的执行速度和内存分配。它的形式跟单元测试很像，只不过函数名以Benchmark开头，参数是*testing.B。在基准测试函数内部，你要使用b.N来控制循环次数，测试框架会自动选择合适的N值，让每次测试运行足够长的时间来得到稳定可靠的结果。运行基准测试要加上-bench参数，比如go test -bench=.就会运行当前包下所有基准测试。如果我们想比较两种写法谁更快，比如用fmt.Sprintf拼接字符串和使用加号直接拼接，写两个基准测试函数然后运行，结果一目了然。更进一步，结合-cpuprofile和-memprofile参数，可以生成CPU和内存的性能分析文件，然后使用go tool pprof工具进行可视化分析，从而精确定位性能瓶颈。掌握基准测试，能让你的代码不仅正确，而且高效。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了，同学们，我们这节课的主要内容就到这里。我们快速回顾一下：首先，我们学习了fmt和io包，学会了如何精确控制输入输出以及理解数据流的抽象；接着，我们掌握了文件操作的多种方式，从一次性读写到逐行扫描；然后，我们深入到time包，掌握了时间点、时长和格式化的独特用法；最后，我们不仅是学会了怎么写测试，还学到了如何通过基准测试来优化代码性能。这些工具和知识，都是将来你做项目时每天都要用到的核心技能。标准库的官方文档是go.dev/pkg，写得非常清楚，每个包都有详尽的示例。希望大家课后能够把课堂上的例子自己敲一遍，最好还能试着用类似的方法处理一些更复杂的需求。比如实现一个简单的日志库、一个文件复制工具，或者给之前的算法题写齐全的测试。多做练习，才能真正把标准库变成你自己的武器库。好了，谢谢大家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F3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91695" cy="228600"/>
          </a:xfrm>
          <a:prstGeom prst="rect">
            <a:avLst/>
          </a:prstGeom>
          <a:solidFill>
            <a:srgbClr val="0F3B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12191695" cy="228600"/>
          </a:xfrm>
          <a:prstGeom prst="rect">
            <a:avLst/>
          </a:prstGeom>
          <a:solidFill>
            <a:srgbClr val="0F3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228600"/>
          </a:xfrm>
          <a:prstGeom prst="rect">
            <a:avLst/>
          </a:prstGeom>
          <a:solidFill>
            <a:srgbClr val="1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28600"/>
          </a:xfrm>
          <a:prstGeom prst="rect">
            <a:avLst/>
          </a:prstGeom>
          <a:solidFill>
            <a:srgbClr val="10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12191695" cy="228600"/>
          </a:xfrm>
          <a:prstGeom prst="rect">
            <a:avLst/>
          </a:prstGeom>
          <a:solidFill>
            <a:srgbClr val="103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71600"/>
            <a:ext cx="12191695" cy="228600"/>
          </a:xfrm>
          <a:prstGeom prst="rect">
            <a:avLst/>
          </a:prstGeom>
          <a:solidFill>
            <a:srgbClr val="114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00200"/>
            <a:ext cx="12191695" cy="228600"/>
          </a:xfrm>
          <a:prstGeom prst="rect">
            <a:avLst/>
          </a:prstGeom>
          <a:solidFill>
            <a:srgbClr val="1141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828800"/>
            <a:ext cx="12191695" cy="228600"/>
          </a:xfrm>
          <a:prstGeom prst="rect">
            <a:avLst/>
          </a:prstGeom>
          <a:solidFill>
            <a:srgbClr val="12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057400"/>
            <a:ext cx="12191695" cy="228600"/>
          </a:xfrm>
          <a:prstGeom prst="rect">
            <a:avLst/>
          </a:prstGeom>
          <a:solidFill>
            <a:srgbClr val="124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286000"/>
            <a:ext cx="12191695" cy="228600"/>
          </a:xfrm>
          <a:prstGeom prst="rect">
            <a:avLst/>
          </a:prstGeom>
          <a:solidFill>
            <a:srgbClr val="12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514600"/>
            <a:ext cx="12191695" cy="228600"/>
          </a:xfrm>
          <a:prstGeom prst="rect">
            <a:avLst/>
          </a:prstGeom>
          <a:solidFill>
            <a:srgbClr val="134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2743200"/>
            <a:ext cx="12191695" cy="228600"/>
          </a:xfrm>
          <a:prstGeom prst="rect">
            <a:avLst/>
          </a:prstGeom>
          <a:solidFill>
            <a:srgbClr val="134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971800"/>
            <a:ext cx="12191695" cy="228600"/>
          </a:xfrm>
          <a:prstGeom prst="rect">
            <a:avLst/>
          </a:prstGeom>
          <a:solidFill>
            <a:srgbClr val="1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3200400"/>
            <a:ext cx="12191695" cy="228600"/>
          </a:xfrm>
          <a:prstGeom prst="rect">
            <a:avLst/>
          </a:prstGeom>
          <a:solidFill>
            <a:srgbClr val="144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429000"/>
            <a:ext cx="12191695" cy="228600"/>
          </a:xfrm>
          <a:prstGeom prst="rect">
            <a:avLst/>
          </a:prstGeom>
          <a:solidFill>
            <a:srgbClr val="144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228600"/>
          </a:xfrm>
          <a:prstGeom prst="rect">
            <a:avLst/>
          </a:prstGeom>
          <a:solidFill>
            <a:srgbClr val="154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886200"/>
            <a:ext cx="12191695" cy="228600"/>
          </a:xfrm>
          <a:prstGeom prst="rect">
            <a:avLst/>
          </a:prstGeom>
          <a:solidFill>
            <a:srgbClr val="154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114800"/>
            <a:ext cx="12191695" cy="228600"/>
          </a:xfrm>
          <a:prstGeom prst="rect">
            <a:avLst/>
          </a:prstGeom>
          <a:solidFill>
            <a:srgbClr val="154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343400"/>
            <a:ext cx="12191695" cy="228600"/>
          </a:xfrm>
          <a:prstGeom prst="rect">
            <a:avLst/>
          </a:prstGeom>
          <a:solidFill>
            <a:srgbClr val="16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91695" cy="228600"/>
          </a:xfrm>
          <a:prstGeom prst="rect">
            <a:avLst/>
          </a:prstGeom>
          <a:solidFill>
            <a:srgbClr val="16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800600"/>
            <a:ext cx="12191695" cy="228600"/>
          </a:xfrm>
          <a:prstGeom prst="rect">
            <a:avLst/>
          </a:prstGeom>
          <a:solidFill>
            <a:srgbClr val="164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029200"/>
            <a:ext cx="12191695" cy="228600"/>
          </a:xfrm>
          <a:prstGeom prst="rect">
            <a:avLst/>
          </a:prstGeom>
          <a:solidFill>
            <a:srgbClr val="17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257800"/>
            <a:ext cx="12191695" cy="228600"/>
          </a:xfrm>
          <a:prstGeom prst="rect">
            <a:avLst/>
          </a:prstGeom>
          <a:solidFill>
            <a:srgbClr val="17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486400"/>
            <a:ext cx="12191695" cy="228600"/>
          </a:xfrm>
          <a:prstGeom prst="rect">
            <a:avLst/>
          </a:prstGeom>
          <a:solidFill>
            <a:srgbClr val="185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715000"/>
            <a:ext cx="12191695" cy="228600"/>
          </a:xfrm>
          <a:prstGeom prst="rect">
            <a:avLst/>
          </a:prstGeom>
          <a:solidFill>
            <a:srgbClr val="185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943600"/>
            <a:ext cx="12191695" cy="228600"/>
          </a:xfrm>
          <a:prstGeom prst="rect">
            <a:avLst/>
          </a:prstGeom>
          <a:solidFill>
            <a:srgbClr val="18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172200"/>
            <a:ext cx="12191695" cy="228600"/>
          </a:xfrm>
          <a:prstGeom prst="rect">
            <a:avLst/>
          </a:prstGeom>
          <a:solidFill>
            <a:srgbClr val="195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19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86800" y="-1371600"/>
            <a:ext cx="3657600" cy="36576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-1371600" y="5029200"/>
            <a:ext cx="2743200" cy="27432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2011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引入热身：为什么标准库至关重要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8404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8C8FA"/>
                </a:solidFill>
                <a:latin typeface="Microsoft YaHei"/>
                <a:ea typeface="Microsoft YaHei"/>
              </a:rPr>
              <a:t>第5章 标准库与工具链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8C8FA"/>
                </a:solidFill>
                <a:latin typeface="Microsoft YaHei"/>
                <a:ea typeface="Microsoft YaHei"/>
              </a:rPr>
              <a:t>第5章 标准库与工具链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深入理解fmt包：格式化与输出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fmt包的核心功能是格式化的输入和输出，最常用函数包括Printf、Sprintf、Fprintf等。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Printf通过格式化动词控制输出格式，例如%d表示整数、%s表示字符串、%v表示任意类型。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Sprintf将格式化后的内容返回为一个字符串，而非打印到标准输出，非常适合构建日志信息。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Fprintf允许将格式化输出写入任何实现了io.Writer接口的对象，如文件或网络连接。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fmt包还支持自定义类型的格式化，通过实现Stringer接口的String方法实现。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第5章 标准库与工具链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io包与流式数据处理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io包定义了两个基础接口：Reader（读取）和Writer（写入），是Go中数据流的抽象核心。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Reader接口的核心方法是Read(p []byte) (n int, err error)，从数据源读取数据到切片p。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Writer接口的核心方法是Write(p []byte) (n int, err error)，将数据从切片p写入目标。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利用接口组合，可以方便地实现数据流的过滤、缓冲和转换，比如bufio包提供了带缓冲的读写。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io包还提供了多个辅助函数，如io.Copy用于将Reader的数据直接复制到Writer。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第5章 标准库与工具链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文件操作：打开、读取与写入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文件操作主要通过os包实现，核心函数有os.Open、os.Create、os.ReadFile和os.WriteFile。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os.Open以只读方式打开文件，返回*os.File对象；os.Create用于创建或覆盖写入新文件。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os.ReadFile一次性读取整个文件内容到一个字节切片中，适用于小文件场景。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os.WriteFile直接将数据写入指定文件，如果文件不存在会自动创建，使用非常简洁。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对于大文件或需要逐行处理的场景，推荐使用bufio.Scanner进行高效读取。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第5章 标准库与工具链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时间与日期处理：time包详解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time包提供了时间的表示（Time）、时长（Duration）、定时器（Ticker/Timer）等功能。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创建时间对象常用time.Now()获取当前时间，或用time.Date()指定年、月、日、时、分、秒。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时间格式化使用time.Format方法，但注意Go使用魔数"2006-01-02 15:04:05"作为布局模板。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Duration表示纳秒级的时间间隔，可直接进行加减运算，如time.Second表示一秒钟的时长。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time.Sleep用于阻塞当前goroutine指定时长，常用于定时任务或延迟操作。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第5章 标准库与工具链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测试入门：编写Go单元测试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Go内置测试框架，只需创建以_test.go结尾的测试文件，并导入testing包。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测试函数以Test开头，参数为*testing.T，通过t.Error或t.Fatalf报告失败。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表格驱动测试是Go社区推荐的测试模式，通过测试用例列表一次性覆盖多种输入。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使用go test命令即可运行所有测试，-v参数可查看每个测试函数的详细输出。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测试代码位于包内时，可以访问包内非导出成员，实现白盒测试。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第5章 标准库与工具链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深入测试：基准测试与性能调优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基准测试函数以Benchmark开头，参数为*testing.B，用于测量代码的执行性能。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在基准测试函数中需使用b.N进行循环，框架会自动调整N以获取稳定耗时。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运行基准测试使用go test -bench=.，可以指定正则表达式来匹配测试函数名。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通过基准测试可以对比不同实现方案的性能差异，例如比较fmt.Sprintf与字符串拼接的效率。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还可以结合-cpuprofile和-memprofile生成性能分析文件，用pprof工具可视化分析。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第5章 标准库与工具链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总结回顾：标准库赋能实战开发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本堂课学习了fmt与io包，掌握了格式化输出和流式数据处理的核心接口。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文件操作部分，我们熟练运用os.ReadFile/WriteFile和bufio.Scanner应对不同场景。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时间处理上，理解了time包的模板格式化以及Duration的灵活运用。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测试部分，我们既能编写单元测试和表格驱动测试，也能进行基准测试和性能分析。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标准库是Go语言社区的集体智慧结晶，建议大家平时多翻阅官方文档，持续积累。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第5章 标准库与工具链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